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3"/>
  </p:notesMasterIdLst>
  <p:sldIdLst>
    <p:sldId id="274" r:id="rId2"/>
    <p:sldId id="275" r:id="rId3"/>
    <p:sldId id="276" r:id="rId4"/>
    <p:sldId id="277" r:id="rId5"/>
    <p:sldId id="278" r:id="rId6"/>
    <p:sldId id="279" r:id="rId7"/>
    <p:sldId id="282" r:id="rId8"/>
    <p:sldId id="281" r:id="rId9"/>
    <p:sldId id="280" r:id="rId10"/>
    <p:sldId id="283" r:id="rId11"/>
    <p:sldId id="284" r:id="rId12"/>
    <p:sldId id="285" r:id="rId13"/>
    <p:sldId id="286" r:id="rId14"/>
    <p:sldId id="287" r:id="rId15"/>
    <p:sldId id="288" r:id="rId16"/>
    <p:sldId id="289" r:id="rId17"/>
    <p:sldId id="290" r:id="rId18"/>
    <p:sldId id="291" r:id="rId19"/>
    <p:sldId id="294" r:id="rId20"/>
    <p:sldId id="295" r:id="rId21"/>
    <p:sldId id="296" r:id="rId22"/>
    <p:sldId id="297" r:id="rId23"/>
    <p:sldId id="299" r:id="rId24"/>
    <p:sldId id="300" r:id="rId25"/>
    <p:sldId id="301" r:id="rId26"/>
    <p:sldId id="302" r:id="rId27"/>
    <p:sldId id="304" r:id="rId28"/>
    <p:sldId id="312" r:id="rId29"/>
    <p:sldId id="305" r:id="rId30"/>
    <p:sldId id="306" r:id="rId31"/>
    <p:sldId id="311" r:id="rId32"/>
  </p:sldIdLst>
  <p:sldSz cx="9144000" cy="5143500" type="screen16x9"/>
  <p:notesSz cx="6858000" cy="9144000"/>
  <p:embeddedFontLst>
    <p:embeddedFont>
      <p:font typeface="Lato" panose="020F0502020204030203" pitchFamily="34" charset="0"/>
      <p:regular r:id="rId34"/>
      <p:bold r:id="rId35"/>
      <p:italic r:id="rId36"/>
      <p:boldItalic r:id="rId37"/>
    </p:embeddedFont>
    <p:embeddedFont>
      <p:font typeface="Montserrat" pitchFamily="2" charset="77"/>
      <p:regular r:id="rId38"/>
      <p:bold r:id="rId39"/>
      <p:italic r:id="rId40"/>
      <p:boldItalic r:id="rId41"/>
    </p:embeddedFont>
    <p:embeddedFont>
      <p:font typeface="Montserrat Black" panose="00000A00000000000000" pitchFamily="2" charset="77"/>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4077"/>
    <a:srgbClr val="2F5D8B"/>
    <a:srgbClr val="F2F8FC"/>
    <a:srgbClr val="FF00FF"/>
    <a:srgbClr val="29091B"/>
    <a:srgbClr val="FFFFFF"/>
    <a:srgbClr val="D1E2ED"/>
    <a:srgbClr val="CEDCFE"/>
    <a:srgbClr val="0112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69"/>
    <p:restoredTop sz="56155"/>
  </p:normalViewPr>
  <p:slideViewPr>
    <p:cSldViewPr snapToGrid="0">
      <p:cViewPr varScale="1">
        <p:scale>
          <a:sx n="90" d="100"/>
          <a:sy n="90" d="100"/>
        </p:scale>
        <p:origin x="2632" y="1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37F4D-D120-CB79-DE36-75EEC925BF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18C064-0F95-D44B-FEEA-DC8A2AE0E3C9}"/>
              </a:ext>
            </a:extLst>
          </p:cNvPr>
          <p:cNvSpPr>
            <a:spLocks noGrp="1" noRot="1" noChangeAspect="1"/>
          </p:cNvSpPr>
          <p:nvPr>
            <p:ph type="sldImg" idx="2"/>
          </p:nvPr>
        </p:nvSpPr>
        <p:spPr>
          <a:xfrm>
            <a:off x="381000" y="685800"/>
            <a:ext cx="6096000" cy="3429000"/>
          </a:xfrm>
        </p:spPr>
      </p:sp>
      <p:sp>
        <p:nvSpPr>
          <p:cNvPr id="3" name="Notes Placeholder 2">
            <a:extLst>
              <a:ext uri="{FF2B5EF4-FFF2-40B4-BE49-F238E27FC236}">
                <a16:creationId xmlns:a16="http://schemas.microsoft.com/office/drawing/2014/main" id="{CF388437-B4D8-2E63-91DA-AF3C43BEAC46}"/>
              </a:ext>
            </a:extLst>
          </p:cNvPr>
          <p:cNvSpPr>
            <a:spLocks noGrp="1"/>
          </p:cNvSpPr>
          <p:nvPr>
            <p:ph type="body" idx="1"/>
          </p:nvPr>
        </p:nvSpPr>
        <p:spPr/>
        <p:txBody>
          <a:bodyPr/>
          <a:lstStyle/>
          <a:p>
            <a:endParaRPr dirty="0"/>
          </a:p>
        </p:txBody>
      </p:sp>
    </p:spTree>
    <p:extLst>
      <p:ext uri="{BB962C8B-B14F-4D97-AF65-F5344CB8AC3E}">
        <p14:creationId xmlns:p14="http://schemas.microsoft.com/office/powerpoint/2010/main" val="14500983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s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s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s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s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s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s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s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s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s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s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s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s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9000" r="-29000"/>
          </a:stretch>
        </a:blipFill>
        <a:effectLst/>
      </p:bgPr>
    </p:bg>
    <p:spTree>
      <p:nvGrpSpPr>
        <p:cNvPr id="1" name=""/>
        <p:cNvGrpSpPr/>
        <p:nvPr/>
      </p:nvGrpSpPr>
      <p:grpSpPr>
        <a:xfrm>
          <a:off x="0" y="0"/>
          <a:ext cx="0" cy="0"/>
          <a:chOff x="0" y="0"/>
          <a:chExt cx="0" cy="0"/>
        </a:xfrm>
      </p:grpSpPr>
      <p:sp>
        <p:nvSpPr>
          <p:cNvPr id="57" name="Text Box 1"/>
          <p:cNvSpPr txBox="1"/>
          <p:nvPr/>
        </p:nvSpPr>
        <p:spPr>
          <a:xfrm>
            <a:off x="1841700" y="3402964"/>
            <a:ext cx="5460600" cy="492412"/>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sr" sz="2000" dirty="0">
                <a:solidFill>
                  <a:schemeClr val="lt1"/>
                </a:solidFill>
                <a:latin typeface="Lato"/>
                <a:ea typeface="Lato"/>
                <a:cs typeface="Lato"/>
                <a:sym typeface="Lato"/>
              </a:rPr>
              <a:t>Srpska IT Asocijacija</a:t>
            </a:r>
            <a:endParaRPr sz="2000" dirty="0">
              <a:solidFill>
                <a:schemeClr val="lt1"/>
              </a:solidFill>
              <a:latin typeface="Lato"/>
              <a:ea typeface="Lato"/>
              <a:cs typeface="Lato"/>
              <a:sym typeface="Lato"/>
            </a:endParaRPr>
          </a:p>
        </p:txBody>
      </p:sp>
      <p:sp>
        <p:nvSpPr>
          <p:cNvPr id="5" name="Graphic 4">
            <a:extLst>
              <a:ext uri="{FF2B5EF4-FFF2-40B4-BE49-F238E27FC236}">
                <a16:creationId xmlns:a16="http://schemas.microsoft.com/office/drawing/2014/main" id="{46A9B3D4-C472-399A-63CF-4260BA208E09}"/>
              </a:ext>
            </a:extLst>
          </p:cNvPr>
          <p:cNvSpPr/>
          <p:nvPr/>
        </p:nvSpPr>
        <p:spPr>
          <a:xfrm>
            <a:off x="3372894" y="783673"/>
            <a:ext cx="2398212" cy="2398202"/>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alpha val="90000"/>
            </a:srgbClr>
          </a:solidFill>
          <a:ln w="9525" cap="flat">
            <a:noFill/>
            <a:prstDash val="solid"/>
            <a:miter/>
          </a:ln>
        </p:spPr>
        <p:txBody>
          <a:bodyPr/>
          <a:lstStyle/>
          <a:p>
            <a:endParaRPr lang="en-GB"/>
          </a:p>
        </p:txBody>
      </p:sp>
      <p:pic>
        <p:nvPicPr>
          <p:cNvPr id="58" name="_img_company_logo" descr="EPAM"/>
          <p:cNvPicPr>
            <a:picLocks noChangeAspect="1"/>
          </p:cNvPicPr>
          <p:nvPr/>
        </p:nvPicPr>
        <p:blipFill>
          <a:blip r:embed="rId4"/>
          <a:stretch>
            <a:fillRect/>
          </a:stretch>
        </p:blipFill>
        <p:spPr>
          <a:xfrm>
            <a:off x="4247406" y="4171429"/>
            <a:ext cx="649187" cy="2285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9000" r="-29000"/>
          </a:stretch>
        </a:blip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868EFC1-572D-4156-151C-C3525AFF44F2}"/>
              </a:ext>
            </a:extLst>
          </p:cNvPr>
          <p:cNvSpPr/>
          <p:nvPr/>
        </p:nvSpPr>
        <p:spPr>
          <a:xfrm>
            <a:off x="2717800" y="0"/>
            <a:ext cx="6426201" cy="5143500"/>
          </a:xfrm>
          <a:custGeom>
            <a:avLst/>
            <a:gdLst>
              <a:gd name="csX0" fmla="*/ 905383 w 6426201"/>
              <a:gd name="csY0" fmla="*/ 0 h 5143500"/>
              <a:gd name="csX1" fmla="*/ 2497177 w 6426201"/>
              <a:gd name="csY1" fmla="*/ 0 h 5143500"/>
              <a:gd name="csX2" fmla="*/ 2467862 w 6426201"/>
              <a:gd name="csY2" fmla="*/ 35902 h 5143500"/>
              <a:gd name="csX3" fmla="*/ 2503842 w 6426201"/>
              <a:gd name="csY3" fmla="*/ 389331 h 5143500"/>
              <a:gd name="csX4" fmla="*/ 2901337 w 6426201"/>
              <a:gd name="csY4" fmla="*/ 389331 h 5143500"/>
              <a:gd name="csX5" fmla="*/ 3290630 w 6426201"/>
              <a:gd name="csY5" fmla="*/ 0 h 5143500"/>
              <a:gd name="csX6" fmla="*/ 4880482 w 6426201"/>
              <a:gd name="csY6" fmla="*/ 0 h 5143500"/>
              <a:gd name="csX7" fmla="*/ 1758651 w 6426201"/>
              <a:gd name="csY7" fmla="*/ 3121695 h 5143500"/>
              <a:gd name="csX8" fmla="*/ 1758651 w 6426201"/>
              <a:gd name="csY8" fmla="*/ 3519191 h 5143500"/>
              <a:gd name="csX9" fmla="*/ 2156147 w 6426201"/>
              <a:gd name="csY9" fmla="*/ 3519191 h 5143500"/>
              <a:gd name="csX10" fmla="*/ 5675617 w 6426201"/>
              <a:gd name="csY10" fmla="*/ 0 h 5143500"/>
              <a:gd name="csX11" fmla="*/ 6426201 w 6426201"/>
              <a:gd name="csY11" fmla="*/ 0 h 5143500"/>
              <a:gd name="csX12" fmla="*/ 6426201 w 6426201"/>
              <a:gd name="csY12" fmla="*/ 841724 h 5143500"/>
              <a:gd name="csX13" fmla="*/ 6399107 w 6426201"/>
              <a:gd name="csY13" fmla="*/ 874906 h 5143500"/>
              <a:gd name="csX14" fmla="*/ 6399107 w 6426201"/>
              <a:gd name="csY14" fmla="*/ 1184271 h 5143500"/>
              <a:gd name="csX15" fmla="*/ 6426201 w 6426201"/>
              <a:gd name="csY15" fmla="*/ 1217454 h 5143500"/>
              <a:gd name="csX16" fmla="*/ 6426201 w 6426201"/>
              <a:gd name="csY16" fmla="*/ 3224795 h 5143500"/>
              <a:gd name="csX17" fmla="*/ 5698729 w 6426201"/>
              <a:gd name="csY17" fmla="*/ 3952325 h 5143500"/>
              <a:gd name="csX18" fmla="*/ 5698729 w 6426201"/>
              <a:gd name="csY18" fmla="*/ 4349820 h 5143500"/>
              <a:gd name="csX19" fmla="*/ 6096226 w 6426201"/>
              <a:gd name="csY19" fmla="*/ 4349820 h 5143500"/>
              <a:gd name="csX20" fmla="*/ 6426201 w 6426201"/>
              <a:gd name="csY20" fmla="*/ 4019844 h 5143500"/>
              <a:gd name="csX21" fmla="*/ 6426201 w 6426201"/>
              <a:gd name="csY21" fmla="*/ 5143500 h 5143500"/>
              <a:gd name="csX22" fmla="*/ 5302181 w 6426201"/>
              <a:gd name="csY22" fmla="*/ 5143500 h 5143500"/>
              <a:gd name="csX23" fmla="*/ 5337216 w 6426201"/>
              <a:gd name="csY23" fmla="*/ 5100594 h 5143500"/>
              <a:gd name="csX24" fmla="*/ 5301235 w 6426201"/>
              <a:gd name="csY24" fmla="*/ 4747164 h 5143500"/>
              <a:gd name="csX25" fmla="*/ 4903739 w 6426201"/>
              <a:gd name="csY25" fmla="*/ 4747164 h 5143500"/>
              <a:gd name="csX26" fmla="*/ 4507404 w 6426201"/>
              <a:gd name="csY26" fmla="*/ 5143500 h 5143500"/>
              <a:gd name="csX27" fmla="*/ 2917405 w 6426201"/>
              <a:gd name="csY27" fmla="*/ 5143500 h 5143500"/>
              <a:gd name="csX28" fmla="*/ 6037591 w 6426201"/>
              <a:gd name="csY28" fmla="*/ 2023176 h 5143500"/>
              <a:gd name="csX29" fmla="*/ 6037591 w 6426201"/>
              <a:gd name="csY29" fmla="*/ 1625681 h 5143500"/>
              <a:gd name="csX30" fmla="*/ 5640096 w 6426201"/>
              <a:gd name="csY30" fmla="*/ 1625681 h 5143500"/>
              <a:gd name="csX31" fmla="*/ 2121855 w 6426201"/>
              <a:gd name="csY31" fmla="*/ 5143500 h 5143500"/>
              <a:gd name="csX32" fmla="*/ 896983 w 6426201"/>
              <a:gd name="csY32" fmla="*/ 5143500 h 5143500"/>
              <a:gd name="csX33" fmla="*/ 893618 w 6426201"/>
              <a:gd name="csY33" fmla="*/ 5132153 h 5143500"/>
              <a:gd name="csX34" fmla="*/ 1048034 w 6426201"/>
              <a:gd name="csY34" fmla="*/ 4627306 h 5143500"/>
              <a:gd name="csX35" fmla="*/ 1361157 w 6426201"/>
              <a:gd name="csY35" fmla="*/ 4314183 h 5143500"/>
              <a:gd name="csX36" fmla="*/ 1361157 w 6426201"/>
              <a:gd name="csY36" fmla="*/ 3916686 h 5143500"/>
              <a:gd name="csX37" fmla="*/ 963661 w 6426201"/>
              <a:gd name="csY37" fmla="*/ 3916686 h 5143500"/>
              <a:gd name="csX38" fmla="*/ 959702 w 6426201"/>
              <a:gd name="csY38" fmla="*/ 3920647 h 5143500"/>
              <a:gd name="csX39" fmla="*/ 164711 w 6426201"/>
              <a:gd name="csY39" fmla="*/ 3920647 h 5143500"/>
              <a:gd name="csX40" fmla="*/ 164711 w 6426201"/>
              <a:gd name="csY40" fmla="*/ 3125656 h 5143500"/>
              <a:gd name="csX41" fmla="*/ 2106042 w 6426201"/>
              <a:gd name="csY41" fmla="*/ 1184171 h 5143500"/>
              <a:gd name="csX42" fmla="*/ 2106042 w 6426201"/>
              <a:gd name="csY42" fmla="*/ 786674 h 5143500"/>
              <a:gd name="csX43" fmla="*/ 1708546 w 6426201"/>
              <a:gd name="csY43" fmla="*/ 786674 h 5143500"/>
              <a:gd name="csX44" fmla="*/ 1326585 w 6426201"/>
              <a:gd name="csY44" fmla="*/ 1168636 h 5143500"/>
              <a:gd name="csX45" fmla="*/ 531594 w 6426201"/>
              <a:gd name="csY45" fmla="*/ 1168636 h 5143500"/>
              <a:gd name="csX46" fmla="*/ 531594 w 6426201"/>
              <a:gd name="csY46" fmla="*/ 373644 h 514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426201" h="5143500">
                <a:moveTo>
                  <a:pt x="905383" y="0"/>
                </a:moveTo>
                <a:lnTo>
                  <a:pt x="2497177" y="0"/>
                </a:lnTo>
                <a:lnTo>
                  <a:pt x="2467862" y="35902"/>
                </a:lnTo>
                <a:cubicBezTo>
                  <a:pt x="2395902" y="144966"/>
                  <a:pt x="2407895" y="293384"/>
                  <a:pt x="2503842" y="389331"/>
                </a:cubicBezTo>
                <a:cubicBezTo>
                  <a:pt x="2613496" y="498985"/>
                  <a:pt x="2791683" y="498985"/>
                  <a:pt x="2901337" y="389331"/>
                </a:cubicBezTo>
                <a:lnTo>
                  <a:pt x="3290630" y="0"/>
                </a:lnTo>
                <a:lnTo>
                  <a:pt x="4880482" y="0"/>
                </a:lnTo>
                <a:lnTo>
                  <a:pt x="1758651" y="3121695"/>
                </a:lnTo>
                <a:cubicBezTo>
                  <a:pt x="1648997" y="3231349"/>
                  <a:pt x="1648997" y="3409537"/>
                  <a:pt x="1758651" y="3519191"/>
                </a:cubicBezTo>
                <a:cubicBezTo>
                  <a:pt x="1868305" y="3628845"/>
                  <a:pt x="2046494" y="3628845"/>
                  <a:pt x="2156147" y="3519191"/>
                </a:cubicBezTo>
                <a:lnTo>
                  <a:pt x="5675617" y="0"/>
                </a:lnTo>
                <a:lnTo>
                  <a:pt x="6426201" y="0"/>
                </a:lnTo>
                <a:lnTo>
                  <a:pt x="6426201" y="841724"/>
                </a:lnTo>
                <a:lnTo>
                  <a:pt x="6399107" y="874906"/>
                </a:lnTo>
                <a:cubicBezTo>
                  <a:pt x="6337426" y="968391"/>
                  <a:pt x="6337426" y="1090787"/>
                  <a:pt x="6399107" y="1184271"/>
                </a:cubicBezTo>
                <a:lnTo>
                  <a:pt x="6426201" y="1217454"/>
                </a:lnTo>
                <a:lnTo>
                  <a:pt x="6426201" y="3224795"/>
                </a:lnTo>
                <a:lnTo>
                  <a:pt x="5698729" y="3952325"/>
                </a:lnTo>
                <a:cubicBezTo>
                  <a:pt x="5589076" y="4061979"/>
                  <a:pt x="5589076" y="4240166"/>
                  <a:pt x="5698729" y="4349820"/>
                </a:cubicBezTo>
                <a:cubicBezTo>
                  <a:pt x="5808383" y="4459475"/>
                  <a:pt x="5986572" y="4459475"/>
                  <a:pt x="6096226" y="4349820"/>
                </a:cubicBezTo>
                <a:lnTo>
                  <a:pt x="6426201" y="4019844"/>
                </a:lnTo>
                <a:lnTo>
                  <a:pt x="6426201" y="5143500"/>
                </a:lnTo>
                <a:lnTo>
                  <a:pt x="5302181" y="5143500"/>
                </a:lnTo>
                <a:lnTo>
                  <a:pt x="5337216" y="5100594"/>
                </a:lnTo>
                <a:cubicBezTo>
                  <a:pt x="5409176" y="4991529"/>
                  <a:pt x="5397183" y="4843112"/>
                  <a:pt x="5301235" y="4747164"/>
                </a:cubicBezTo>
                <a:cubicBezTo>
                  <a:pt x="5191581" y="4637510"/>
                  <a:pt x="5013393" y="4637510"/>
                  <a:pt x="4903739" y="4747164"/>
                </a:cubicBezTo>
                <a:lnTo>
                  <a:pt x="4507404" y="5143500"/>
                </a:lnTo>
                <a:lnTo>
                  <a:pt x="2917405" y="5143500"/>
                </a:lnTo>
                <a:lnTo>
                  <a:pt x="6037591" y="2023176"/>
                </a:lnTo>
                <a:cubicBezTo>
                  <a:pt x="6147246" y="1913522"/>
                  <a:pt x="6147246" y="1735335"/>
                  <a:pt x="6037591" y="1625681"/>
                </a:cubicBezTo>
                <a:cubicBezTo>
                  <a:pt x="5927938" y="1516027"/>
                  <a:pt x="5749749" y="1516027"/>
                  <a:pt x="5640096" y="1625681"/>
                </a:cubicBezTo>
                <a:lnTo>
                  <a:pt x="2121855" y="5143500"/>
                </a:lnTo>
                <a:lnTo>
                  <a:pt x="896983" y="5143500"/>
                </a:lnTo>
                <a:lnTo>
                  <a:pt x="893618" y="5132153"/>
                </a:lnTo>
                <a:cubicBezTo>
                  <a:pt x="859304" y="4955007"/>
                  <a:pt x="910776" y="4764564"/>
                  <a:pt x="1048034" y="4627306"/>
                </a:cubicBezTo>
                <a:lnTo>
                  <a:pt x="1361157" y="4314183"/>
                </a:lnTo>
                <a:cubicBezTo>
                  <a:pt x="1470811" y="4204529"/>
                  <a:pt x="1470811" y="4026342"/>
                  <a:pt x="1361157" y="3916686"/>
                </a:cubicBezTo>
                <a:cubicBezTo>
                  <a:pt x="1251503" y="3807032"/>
                  <a:pt x="1073314" y="3807032"/>
                  <a:pt x="963661" y="3916686"/>
                </a:cubicBezTo>
                <a:lnTo>
                  <a:pt x="959702" y="3920647"/>
                </a:lnTo>
                <a:cubicBezTo>
                  <a:pt x="740088" y="4140107"/>
                  <a:pt x="384322" y="4140107"/>
                  <a:pt x="164711" y="3920647"/>
                </a:cubicBezTo>
                <a:cubicBezTo>
                  <a:pt x="-54903" y="3701034"/>
                  <a:pt x="-54903" y="3345115"/>
                  <a:pt x="164711" y="3125656"/>
                </a:cubicBezTo>
                <a:lnTo>
                  <a:pt x="2106042" y="1184171"/>
                </a:lnTo>
                <a:cubicBezTo>
                  <a:pt x="2215696" y="1074517"/>
                  <a:pt x="2215696" y="896328"/>
                  <a:pt x="2106042" y="786674"/>
                </a:cubicBezTo>
                <a:cubicBezTo>
                  <a:pt x="1996388" y="677020"/>
                  <a:pt x="1818200" y="677020"/>
                  <a:pt x="1708546" y="786674"/>
                </a:cubicBezTo>
                <a:lnTo>
                  <a:pt x="1326585" y="1168636"/>
                </a:lnTo>
                <a:cubicBezTo>
                  <a:pt x="1106973" y="1388249"/>
                  <a:pt x="751207" y="1388249"/>
                  <a:pt x="531594" y="1168636"/>
                </a:cubicBezTo>
                <a:cubicBezTo>
                  <a:pt x="311983" y="949024"/>
                  <a:pt x="311983" y="593258"/>
                  <a:pt x="531594" y="373644"/>
                </a:cubicBezTo>
                <a:close/>
              </a:path>
            </a:pathLst>
          </a:custGeom>
          <a:solidFill>
            <a:srgbClr val="FFFF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64" name="_text_presentation_title"/>
          <p:cNvSpPr txBox="1">
            <a:spLocks noGrp="1"/>
          </p:cNvSpPr>
          <p:nvPr>
            <p:ph type="ctrTitle"/>
          </p:nvPr>
        </p:nvSpPr>
        <p:spPr>
          <a:xfrm>
            <a:off x="499533" y="1337985"/>
            <a:ext cx="8144934" cy="1600438"/>
          </a:xfrm>
          <a:prstGeom prst="rect">
            <a:avLst/>
          </a:prstGeom>
        </p:spPr>
        <p:txBody>
          <a:bodyPr spcFirstLastPara="1" wrap="square" lIns="91425" tIns="0" rIns="91425" bIns="0" anchor="b" anchorCtr="0">
            <a:spAutoFit/>
          </a:bodyPr>
          <a:lstStyle/>
          <a:p>
            <a:pPr marL="0" lvl="0" indent="0" algn="ctr" rtl="0">
              <a:spcBef>
                <a:spcPts val="0"/>
              </a:spcBef>
              <a:spcAft>
                <a:spcPts val="0"/>
              </a:spcAft>
              <a:buNone/>
            </a:pPr>
            <a:r>
              <a:rPr lang="sr" spc="-150" dirty="0">
                <a:solidFill>
                  <a:schemeClr val="lt1">
                    <a:alpha val="90000"/>
                  </a:schemeClr>
                </a:solidFill>
                <a:latin typeface="Montserrat Black" panose="00000A00000000000000" pitchFamily="2" charset="0"/>
                <a:ea typeface="Montserrat"/>
                <a:cs typeface="Montserrat"/>
                <a:sym typeface="Montserrat"/>
              </a:rPr>
              <a:t>Kvalitet RAG-a</a:t>
            </a:r>
            <a:br>
              <a:rPr lang="sr" spc="-150" dirty="0">
                <a:solidFill>
                  <a:schemeClr val="lt1">
                    <a:alpha val="90000"/>
                  </a:schemeClr>
                </a:solidFill>
                <a:latin typeface="Montserrat Black" panose="00000A00000000000000" pitchFamily="2" charset="0"/>
                <a:ea typeface="Montserrat"/>
                <a:cs typeface="Montserrat"/>
                <a:sym typeface="Montserrat"/>
              </a:rPr>
            </a:br>
            <a:endParaRPr spc="-150" dirty="0">
              <a:solidFill>
                <a:schemeClr val="lt1">
                  <a:alpha val="90000"/>
                </a:schemeClr>
              </a:solidFill>
              <a:latin typeface="Montserrat Black" panose="00000A00000000000000" pitchFamily="2" charset="0"/>
              <a:ea typeface="Montserrat"/>
              <a:cs typeface="Montserrat"/>
              <a:sym typeface="Montserrat"/>
            </a:endParaRPr>
          </a:p>
        </p:txBody>
      </p:sp>
      <p:sp>
        <p:nvSpPr>
          <p:cNvPr id="65" name="_text_presentation_subtitle"/>
          <p:cNvSpPr txBox="1">
            <a:spLocks noGrp="1"/>
          </p:cNvSpPr>
          <p:nvPr>
            <p:ph type="subTitle" idx="1"/>
          </p:nvPr>
        </p:nvSpPr>
        <p:spPr>
          <a:xfrm>
            <a:off x="499533" y="2938423"/>
            <a:ext cx="8144934" cy="489534"/>
          </a:xfrm>
          <a:prstGeom prst="rect">
            <a:avLst/>
          </a:prstGeom>
        </p:spPr>
        <p:txBody>
          <a:bodyPr spcFirstLastPara="1" wrap="square" lIns="91425" tIns="180000" rIns="91425" bIns="0" anchor="t" anchorCtr="0">
            <a:spAutoFit/>
          </a:bodyPr>
          <a:lstStyle/>
          <a:p>
            <a:pPr marL="0" lvl="0" indent="0" algn="ctr" rtl="0">
              <a:spcBef>
                <a:spcPts val="0"/>
              </a:spcBef>
              <a:spcAft>
                <a:spcPts val="0"/>
              </a:spcAft>
              <a:buNone/>
            </a:pPr>
            <a:r>
              <a:rPr lang="sr" sz="2000" dirty="0">
                <a:solidFill>
                  <a:schemeClr val="lt1"/>
                </a:solidFill>
                <a:latin typeface="Montserrat" panose="00000500000000000000" pitchFamily="2" charset="0"/>
                <a:ea typeface="Lato"/>
                <a:cs typeface="Lato"/>
                <a:sym typeface="Lato"/>
              </a:rPr>
              <a:t>Nedelja 7: od izgradnje ka kontrolisanom poboljšanju</a:t>
            </a:r>
            <a:endParaRPr sz="2000" dirty="0">
              <a:solidFill>
                <a:schemeClr val="lt1"/>
              </a:solidFill>
              <a:latin typeface="Montserrat" panose="00000500000000000000" pitchFamily="2" charset="0"/>
              <a:ea typeface="Lato"/>
              <a:cs typeface="Lato"/>
              <a:sym typeface="Lato"/>
            </a:endParaRPr>
          </a:p>
        </p:txBody>
      </p:sp>
      <p:pic>
        <p:nvPicPr>
          <p:cNvPr id="66" name="_img_company_logo" descr="EPAM"/>
          <p:cNvPicPr>
            <a:picLocks noChangeAspect="1"/>
          </p:cNvPicPr>
          <p:nvPr/>
        </p:nvPicPr>
        <p:blipFill>
          <a:blip r:embed="rId4"/>
          <a:stretch>
            <a:fillRect/>
          </a:stretch>
        </p:blipFill>
        <p:spPr>
          <a:xfrm>
            <a:off x="4247406" y="4171429"/>
            <a:ext cx="649187" cy="22859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8FC"/>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565319A1-35A8-8810-D42C-082BEDF04D30}"/>
              </a:ext>
            </a:extLst>
          </p:cNvPr>
          <p:cNvSpPr/>
          <p:nvPr/>
        </p:nvSpPr>
        <p:spPr>
          <a:xfrm>
            <a:off x="2717800" y="0"/>
            <a:ext cx="6426201" cy="5143500"/>
          </a:xfrm>
          <a:custGeom>
            <a:avLst/>
            <a:gdLst>
              <a:gd name="csX0" fmla="*/ 905383 w 6426201"/>
              <a:gd name="csY0" fmla="*/ 0 h 5143500"/>
              <a:gd name="csX1" fmla="*/ 2497177 w 6426201"/>
              <a:gd name="csY1" fmla="*/ 0 h 5143500"/>
              <a:gd name="csX2" fmla="*/ 2467862 w 6426201"/>
              <a:gd name="csY2" fmla="*/ 35902 h 5143500"/>
              <a:gd name="csX3" fmla="*/ 2503842 w 6426201"/>
              <a:gd name="csY3" fmla="*/ 389331 h 5143500"/>
              <a:gd name="csX4" fmla="*/ 2901337 w 6426201"/>
              <a:gd name="csY4" fmla="*/ 389331 h 5143500"/>
              <a:gd name="csX5" fmla="*/ 3290630 w 6426201"/>
              <a:gd name="csY5" fmla="*/ 0 h 5143500"/>
              <a:gd name="csX6" fmla="*/ 4880482 w 6426201"/>
              <a:gd name="csY6" fmla="*/ 0 h 5143500"/>
              <a:gd name="csX7" fmla="*/ 1758651 w 6426201"/>
              <a:gd name="csY7" fmla="*/ 3121695 h 5143500"/>
              <a:gd name="csX8" fmla="*/ 1758651 w 6426201"/>
              <a:gd name="csY8" fmla="*/ 3519191 h 5143500"/>
              <a:gd name="csX9" fmla="*/ 2156147 w 6426201"/>
              <a:gd name="csY9" fmla="*/ 3519191 h 5143500"/>
              <a:gd name="csX10" fmla="*/ 5675617 w 6426201"/>
              <a:gd name="csY10" fmla="*/ 0 h 5143500"/>
              <a:gd name="csX11" fmla="*/ 6426201 w 6426201"/>
              <a:gd name="csY11" fmla="*/ 0 h 5143500"/>
              <a:gd name="csX12" fmla="*/ 6426201 w 6426201"/>
              <a:gd name="csY12" fmla="*/ 841724 h 5143500"/>
              <a:gd name="csX13" fmla="*/ 6399107 w 6426201"/>
              <a:gd name="csY13" fmla="*/ 874906 h 5143500"/>
              <a:gd name="csX14" fmla="*/ 6399107 w 6426201"/>
              <a:gd name="csY14" fmla="*/ 1184271 h 5143500"/>
              <a:gd name="csX15" fmla="*/ 6426201 w 6426201"/>
              <a:gd name="csY15" fmla="*/ 1217454 h 5143500"/>
              <a:gd name="csX16" fmla="*/ 6426201 w 6426201"/>
              <a:gd name="csY16" fmla="*/ 3224795 h 5143500"/>
              <a:gd name="csX17" fmla="*/ 5698729 w 6426201"/>
              <a:gd name="csY17" fmla="*/ 3952325 h 5143500"/>
              <a:gd name="csX18" fmla="*/ 5698729 w 6426201"/>
              <a:gd name="csY18" fmla="*/ 4349820 h 5143500"/>
              <a:gd name="csX19" fmla="*/ 6096226 w 6426201"/>
              <a:gd name="csY19" fmla="*/ 4349820 h 5143500"/>
              <a:gd name="csX20" fmla="*/ 6426201 w 6426201"/>
              <a:gd name="csY20" fmla="*/ 4019844 h 5143500"/>
              <a:gd name="csX21" fmla="*/ 6426201 w 6426201"/>
              <a:gd name="csY21" fmla="*/ 5143500 h 5143500"/>
              <a:gd name="csX22" fmla="*/ 5302181 w 6426201"/>
              <a:gd name="csY22" fmla="*/ 5143500 h 5143500"/>
              <a:gd name="csX23" fmla="*/ 5337216 w 6426201"/>
              <a:gd name="csY23" fmla="*/ 5100594 h 5143500"/>
              <a:gd name="csX24" fmla="*/ 5301235 w 6426201"/>
              <a:gd name="csY24" fmla="*/ 4747164 h 5143500"/>
              <a:gd name="csX25" fmla="*/ 4903739 w 6426201"/>
              <a:gd name="csY25" fmla="*/ 4747164 h 5143500"/>
              <a:gd name="csX26" fmla="*/ 4507404 w 6426201"/>
              <a:gd name="csY26" fmla="*/ 5143500 h 5143500"/>
              <a:gd name="csX27" fmla="*/ 2917405 w 6426201"/>
              <a:gd name="csY27" fmla="*/ 5143500 h 5143500"/>
              <a:gd name="csX28" fmla="*/ 6037591 w 6426201"/>
              <a:gd name="csY28" fmla="*/ 2023176 h 5143500"/>
              <a:gd name="csX29" fmla="*/ 6037591 w 6426201"/>
              <a:gd name="csY29" fmla="*/ 1625681 h 5143500"/>
              <a:gd name="csX30" fmla="*/ 5640096 w 6426201"/>
              <a:gd name="csY30" fmla="*/ 1625681 h 5143500"/>
              <a:gd name="csX31" fmla="*/ 2121855 w 6426201"/>
              <a:gd name="csY31" fmla="*/ 5143500 h 5143500"/>
              <a:gd name="csX32" fmla="*/ 896983 w 6426201"/>
              <a:gd name="csY32" fmla="*/ 5143500 h 5143500"/>
              <a:gd name="csX33" fmla="*/ 893618 w 6426201"/>
              <a:gd name="csY33" fmla="*/ 5132153 h 5143500"/>
              <a:gd name="csX34" fmla="*/ 1048034 w 6426201"/>
              <a:gd name="csY34" fmla="*/ 4627306 h 5143500"/>
              <a:gd name="csX35" fmla="*/ 1361157 w 6426201"/>
              <a:gd name="csY35" fmla="*/ 4314183 h 5143500"/>
              <a:gd name="csX36" fmla="*/ 1361157 w 6426201"/>
              <a:gd name="csY36" fmla="*/ 3916686 h 5143500"/>
              <a:gd name="csX37" fmla="*/ 963661 w 6426201"/>
              <a:gd name="csY37" fmla="*/ 3916686 h 5143500"/>
              <a:gd name="csX38" fmla="*/ 959702 w 6426201"/>
              <a:gd name="csY38" fmla="*/ 3920647 h 5143500"/>
              <a:gd name="csX39" fmla="*/ 164711 w 6426201"/>
              <a:gd name="csY39" fmla="*/ 3920647 h 5143500"/>
              <a:gd name="csX40" fmla="*/ 164711 w 6426201"/>
              <a:gd name="csY40" fmla="*/ 3125656 h 5143500"/>
              <a:gd name="csX41" fmla="*/ 2106042 w 6426201"/>
              <a:gd name="csY41" fmla="*/ 1184171 h 5143500"/>
              <a:gd name="csX42" fmla="*/ 2106042 w 6426201"/>
              <a:gd name="csY42" fmla="*/ 786674 h 5143500"/>
              <a:gd name="csX43" fmla="*/ 1708546 w 6426201"/>
              <a:gd name="csY43" fmla="*/ 786674 h 5143500"/>
              <a:gd name="csX44" fmla="*/ 1326585 w 6426201"/>
              <a:gd name="csY44" fmla="*/ 1168636 h 5143500"/>
              <a:gd name="csX45" fmla="*/ 531594 w 6426201"/>
              <a:gd name="csY45" fmla="*/ 1168636 h 5143500"/>
              <a:gd name="csX46" fmla="*/ 531594 w 6426201"/>
              <a:gd name="csY46" fmla="*/ 373644 h 514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426201" h="5143500">
                <a:moveTo>
                  <a:pt x="905383" y="0"/>
                </a:moveTo>
                <a:lnTo>
                  <a:pt x="2497177" y="0"/>
                </a:lnTo>
                <a:lnTo>
                  <a:pt x="2467862" y="35902"/>
                </a:lnTo>
                <a:cubicBezTo>
                  <a:pt x="2395902" y="144966"/>
                  <a:pt x="2407895" y="293384"/>
                  <a:pt x="2503842" y="389331"/>
                </a:cubicBezTo>
                <a:cubicBezTo>
                  <a:pt x="2613496" y="498985"/>
                  <a:pt x="2791683" y="498985"/>
                  <a:pt x="2901337" y="389331"/>
                </a:cubicBezTo>
                <a:lnTo>
                  <a:pt x="3290630" y="0"/>
                </a:lnTo>
                <a:lnTo>
                  <a:pt x="4880482" y="0"/>
                </a:lnTo>
                <a:lnTo>
                  <a:pt x="1758651" y="3121695"/>
                </a:lnTo>
                <a:cubicBezTo>
                  <a:pt x="1648997" y="3231349"/>
                  <a:pt x="1648997" y="3409537"/>
                  <a:pt x="1758651" y="3519191"/>
                </a:cubicBezTo>
                <a:cubicBezTo>
                  <a:pt x="1868305" y="3628845"/>
                  <a:pt x="2046494" y="3628845"/>
                  <a:pt x="2156147" y="3519191"/>
                </a:cubicBezTo>
                <a:lnTo>
                  <a:pt x="5675617" y="0"/>
                </a:lnTo>
                <a:lnTo>
                  <a:pt x="6426201" y="0"/>
                </a:lnTo>
                <a:lnTo>
                  <a:pt x="6426201" y="841724"/>
                </a:lnTo>
                <a:lnTo>
                  <a:pt x="6399107" y="874906"/>
                </a:lnTo>
                <a:cubicBezTo>
                  <a:pt x="6337426" y="968391"/>
                  <a:pt x="6337426" y="1090787"/>
                  <a:pt x="6399107" y="1184271"/>
                </a:cubicBezTo>
                <a:lnTo>
                  <a:pt x="6426201" y="1217454"/>
                </a:lnTo>
                <a:lnTo>
                  <a:pt x="6426201" y="3224795"/>
                </a:lnTo>
                <a:lnTo>
                  <a:pt x="5698729" y="3952325"/>
                </a:lnTo>
                <a:cubicBezTo>
                  <a:pt x="5589076" y="4061979"/>
                  <a:pt x="5589076" y="4240166"/>
                  <a:pt x="5698729" y="4349820"/>
                </a:cubicBezTo>
                <a:cubicBezTo>
                  <a:pt x="5808383" y="4459475"/>
                  <a:pt x="5986572" y="4459475"/>
                  <a:pt x="6096226" y="4349820"/>
                </a:cubicBezTo>
                <a:lnTo>
                  <a:pt x="6426201" y="4019844"/>
                </a:lnTo>
                <a:lnTo>
                  <a:pt x="6426201" y="5143500"/>
                </a:lnTo>
                <a:lnTo>
                  <a:pt x="5302181" y="5143500"/>
                </a:lnTo>
                <a:lnTo>
                  <a:pt x="5337216" y="5100594"/>
                </a:lnTo>
                <a:cubicBezTo>
                  <a:pt x="5409176" y="4991529"/>
                  <a:pt x="5397183" y="4843112"/>
                  <a:pt x="5301235" y="4747164"/>
                </a:cubicBezTo>
                <a:cubicBezTo>
                  <a:pt x="5191581" y="4637510"/>
                  <a:pt x="5013393" y="4637510"/>
                  <a:pt x="4903739" y="4747164"/>
                </a:cubicBezTo>
                <a:lnTo>
                  <a:pt x="4507404" y="5143500"/>
                </a:lnTo>
                <a:lnTo>
                  <a:pt x="2917405" y="5143500"/>
                </a:lnTo>
                <a:lnTo>
                  <a:pt x="6037591" y="2023176"/>
                </a:lnTo>
                <a:cubicBezTo>
                  <a:pt x="6147246" y="1913522"/>
                  <a:pt x="6147246" y="1735335"/>
                  <a:pt x="6037591" y="1625681"/>
                </a:cubicBezTo>
                <a:cubicBezTo>
                  <a:pt x="5927938" y="1516027"/>
                  <a:pt x="5749749" y="1516027"/>
                  <a:pt x="5640096" y="1625681"/>
                </a:cubicBezTo>
                <a:lnTo>
                  <a:pt x="2121855" y="5143500"/>
                </a:lnTo>
                <a:lnTo>
                  <a:pt x="896983" y="5143500"/>
                </a:lnTo>
                <a:lnTo>
                  <a:pt x="893618" y="5132153"/>
                </a:lnTo>
                <a:cubicBezTo>
                  <a:pt x="859304" y="4955007"/>
                  <a:pt x="910776" y="4764564"/>
                  <a:pt x="1048034" y="4627306"/>
                </a:cubicBezTo>
                <a:lnTo>
                  <a:pt x="1361157" y="4314183"/>
                </a:lnTo>
                <a:cubicBezTo>
                  <a:pt x="1470811" y="4204529"/>
                  <a:pt x="1470811" y="4026342"/>
                  <a:pt x="1361157" y="3916686"/>
                </a:cubicBezTo>
                <a:cubicBezTo>
                  <a:pt x="1251503" y="3807032"/>
                  <a:pt x="1073314" y="3807032"/>
                  <a:pt x="963661" y="3916686"/>
                </a:cubicBezTo>
                <a:lnTo>
                  <a:pt x="959702" y="3920647"/>
                </a:lnTo>
                <a:cubicBezTo>
                  <a:pt x="740088" y="4140107"/>
                  <a:pt x="384322" y="4140107"/>
                  <a:pt x="164711" y="3920647"/>
                </a:cubicBezTo>
                <a:cubicBezTo>
                  <a:pt x="-54903" y="3701034"/>
                  <a:pt x="-54903" y="3345115"/>
                  <a:pt x="164711" y="3125656"/>
                </a:cubicBezTo>
                <a:lnTo>
                  <a:pt x="2106042" y="1184171"/>
                </a:lnTo>
                <a:cubicBezTo>
                  <a:pt x="2215696" y="1074517"/>
                  <a:pt x="2215696" y="896328"/>
                  <a:pt x="2106042" y="786674"/>
                </a:cubicBezTo>
                <a:cubicBezTo>
                  <a:pt x="1996388" y="677020"/>
                  <a:pt x="1818200" y="677020"/>
                  <a:pt x="1708546" y="786674"/>
                </a:cubicBezTo>
                <a:lnTo>
                  <a:pt x="1326585" y="1168636"/>
                </a:lnTo>
                <a:cubicBezTo>
                  <a:pt x="1106973" y="1388249"/>
                  <a:pt x="751207" y="1388249"/>
                  <a:pt x="531594" y="1168636"/>
                </a:cubicBezTo>
                <a:cubicBezTo>
                  <a:pt x="311983" y="949024"/>
                  <a:pt x="311983" y="593258"/>
                  <a:pt x="531594" y="373644"/>
                </a:cubicBezTo>
                <a:close/>
              </a:path>
            </a:pathLst>
          </a:custGeom>
          <a:solidFill>
            <a:srgbClr val="0D4077">
              <a:alpha val="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5" name="_text_agenda"/>
          <p:cNvSpPr txBox="1">
            <a:spLocks noGrp="1"/>
          </p:cNvSpPr>
          <p:nvPr>
            <p:ph type="ctrTitle"/>
          </p:nvPr>
        </p:nvSpPr>
        <p:spPr>
          <a:xfrm>
            <a:off x="1410767" y="1037818"/>
            <a:ext cx="7318366" cy="430887"/>
          </a:xfrm>
          <a:prstGeom prst="rect">
            <a:avLst/>
          </a:prstGeom>
        </p:spPr>
        <p:txBody>
          <a:bodyPr spcFirstLastPara="1" wrap="square" lIns="0" tIns="0" rIns="91425" bIns="0" anchor="b" anchorCtr="0">
            <a:spAutoFit/>
          </a:bodyPr>
          <a:lstStyle/>
          <a:p>
            <a:pPr marL="0" lvl="0" indent="0" algn="l" rtl="0">
              <a:spcBef>
                <a:spcPts val="0"/>
              </a:spcBef>
              <a:spcAft>
                <a:spcPts val="0"/>
              </a:spcAft>
              <a:buSzPts val="990"/>
              <a:buNone/>
            </a:pPr>
            <a:r>
              <a:rPr lang="sr" sz="2800" b="1" spc="-150" dirty="0">
                <a:solidFill>
                  <a:srgbClr val="0D4077"/>
                </a:solidFill>
                <a:latin typeface="Montserrat" panose="00000500000000000000" pitchFamily="2" charset="0"/>
                <a:ea typeface="Montserrat"/>
                <a:cs typeface="Montserrat"/>
                <a:sym typeface="Montserrat"/>
              </a:rPr>
              <a:t>Danas</a:t>
            </a:r>
            <a:endParaRPr sz="2800" b="1" spc="-150" dirty="0">
              <a:solidFill>
                <a:srgbClr val="0D4077"/>
              </a:solidFill>
              <a:latin typeface="Montserrat" panose="00000500000000000000" pitchFamily="2" charset="0"/>
              <a:ea typeface="Montserrat"/>
              <a:cs typeface="Montserrat"/>
              <a:sym typeface="Montserrat"/>
            </a:endParaRPr>
          </a:p>
        </p:txBody>
      </p:sp>
      <p:sp>
        <p:nvSpPr>
          <p:cNvPr id="12" name="_text_section_1">
            <a:extLst>
              <a:ext uri="{FF2B5EF4-FFF2-40B4-BE49-F238E27FC236}">
                <a16:creationId xmlns:a16="http://schemas.microsoft.com/office/drawing/2014/main" id="{28CB8016-1070-91A2-5225-EE19F669A40A}"/>
              </a:ext>
            </a:extLst>
          </p:cNvPr>
          <p:cNvSpPr txBox="1"/>
          <p:nvPr/>
        </p:nvSpPr>
        <p:spPr>
          <a:xfrm>
            <a:off x="1787559" y="1839831"/>
            <a:ext cx="6941574" cy="335769"/>
          </a:xfrm>
          <a:prstGeom prst="rect">
            <a:avLst/>
          </a:prstGeom>
          <a:noFill/>
          <a:ln>
            <a:noFill/>
          </a:ln>
        </p:spPr>
        <p:txBody>
          <a:bodyPr spcFirstLastPara="1" wrap="square" lIns="91425" tIns="0" rIns="91425" bIns="0" anchor="ctr" anchorCtr="0">
            <a:noAutofit/>
          </a:bodyPr>
          <a:lstStyle/>
          <a:p>
            <a:pPr marL="0" lvl="0" indent="0" rtl="0">
              <a:spcBef>
                <a:spcPts val="0"/>
              </a:spcBef>
              <a:spcAft>
                <a:spcPts val="0"/>
              </a:spcAft>
              <a:buNone/>
            </a:pPr>
            <a:r>
              <a:rPr lang="sr" sz="1600" b="1" dirty="0">
                <a:solidFill>
                  <a:srgbClr val="0D4077">
                    <a:alpha val="90000"/>
                  </a:srgbClr>
                </a:solidFill>
                <a:latin typeface="Montserrat" panose="00000500000000000000" pitchFamily="2" charset="0"/>
                <a:ea typeface="Montserrat Black"/>
                <a:cs typeface="Montserrat Black"/>
                <a:sym typeface="Montserrat Black"/>
              </a:rPr>
              <a:t>Od izgradnje ka poboljšanju</a:t>
            </a:r>
            <a:endParaRPr sz="1600" b="1" dirty="0">
              <a:solidFill>
                <a:srgbClr val="0D4077">
                  <a:alpha val="90000"/>
                </a:srgbClr>
              </a:solidFill>
              <a:latin typeface="Montserrat" panose="00000500000000000000" pitchFamily="2" charset="0"/>
              <a:ea typeface="Montserrat Black"/>
              <a:cs typeface="Montserrat Black"/>
              <a:sym typeface="Montserrat Black"/>
            </a:endParaRPr>
          </a:p>
        </p:txBody>
      </p:sp>
      <p:sp>
        <p:nvSpPr>
          <p:cNvPr id="18" name="_img_bullet_1">
            <a:extLst>
              <a:ext uri="{FF2B5EF4-FFF2-40B4-BE49-F238E27FC236}">
                <a16:creationId xmlns:a16="http://schemas.microsoft.com/office/drawing/2014/main" id="{0F47867A-8ABF-6E10-69EB-64A4906449DA}"/>
              </a:ext>
            </a:extLst>
          </p:cNvPr>
          <p:cNvSpPr/>
          <p:nvPr/>
        </p:nvSpPr>
        <p:spPr>
          <a:xfrm>
            <a:off x="1432510" y="1889304"/>
            <a:ext cx="243770" cy="239992"/>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0D4077"/>
          </a:solidFill>
          <a:ln w="9525" cap="flat">
            <a:noFill/>
            <a:prstDash val="solid"/>
            <a:miter/>
          </a:ln>
        </p:spPr>
        <p:txBody>
          <a:bodyPr/>
          <a:lstStyle/>
          <a:p>
            <a:endParaRPr lang="en-GB"/>
          </a:p>
        </p:txBody>
      </p:sp>
      <p:sp>
        <p:nvSpPr>
          <p:cNvPr id="14" name="_text_section_2">
            <a:extLst>
              <a:ext uri="{FF2B5EF4-FFF2-40B4-BE49-F238E27FC236}">
                <a16:creationId xmlns:a16="http://schemas.microsoft.com/office/drawing/2014/main" id="{1D1174C6-A49E-18CD-F298-A2B1BBBEA807}"/>
              </a:ext>
            </a:extLst>
          </p:cNvPr>
          <p:cNvSpPr txBox="1"/>
          <p:nvPr/>
        </p:nvSpPr>
        <p:spPr>
          <a:xfrm>
            <a:off x="1787559" y="2333100"/>
            <a:ext cx="6941574" cy="335769"/>
          </a:xfrm>
          <a:prstGeom prst="rect">
            <a:avLst/>
          </a:prstGeom>
          <a:noFill/>
          <a:ln>
            <a:noFill/>
          </a:ln>
        </p:spPr>
        <p:txBody>
          <a:bodyPr spcFirstLastPara="1" wrap="square" lIns="91425" tIns="0" rIns="91425" bIns="0" anchor="ctr" anchorCtr="0">
            <a:noAutofit/>
          </a:bodyPr>
          <a:lstStyle/>
          <a:p>
            <a:pPr marL="0" lvl="0" indent="0" rtl="0">
              <a:spcBef>
                <a:spcPts val="0"/>
              </a:spcBef>
              <a:spcAft>
                <a:spcPts val="0"/>
              </a:spcAft>
              <a:buNone/>
            </a:pPr>
            <a:r>
              <a:rPr lang="sr" sz="1600" b="1" dirty="0">
                <a:solidFill>
                  <a:srgbClr val="0D4077">
                    <a:alpha val="90000"/>
                  </a:srgbClr>
                </a:solidFill>
                <a:latin typeface="Montserrat" panose="00000500000000000000" pitchFamily="2" charset="0"/>
                <a:ea typeface="Montserrat Black"/>
                <a:cs typeface="Montserrat Black"/>
                <a:sym typeface="Montserrat Black"/>
              </a:rPr>
              <a:t>Gde RAG greši</a:t>
            </a:r>
            <a:endParaRPr sz="1600" b="1" dirty="0">
              <a:solidFill>
                <a:srgbClr val="0D4077">
                  <a:alpha val="90000"/>
                </a:srgbClr>
              </a:solidFill>
              <a:latin typeface="Montserrat" panose="00000500000000000000" pitchFamily="2" charset="0"/>
              <a:ea typeface="Montserrat Black"/>
              <a:cs typeface="Montserrat Black"/>
              <a:sym typeface="Montserrat Black"/>
            </a:endParaRPr>
          </a:p>
        </p:txBody>
      </p:sp>
      <p:sp>
        <p:nvSpPr>
          <p:cNvPr id="20" name="_img_bullet_2">
            <a:extLst>
              <a:ext uri="{FF2B5EF4-FFF2-40B4-BE49-F238E27FC236}">
                <a16:creationId xmlns:a16="http://schemas.microsoft.com/office/drawing/2014/main" id="{271F25C8-B6DA-4CA6-77D0-A58830AB59C9}"/>
              </a:ext>
            </a:extLst>
          </p:cNvPr>
          <p:cNvSpPr/>
          <p:nvPr/>
        </p:nvSpPr>
        <p:spPr>
          <a:xfrm>
            <a:off x="1432510" y="2382573"/>
            <a:ext cx="243770" cy="239992"/>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0D4077"/>
          </a:solidFill>
          <a:ln w="9525" cap="flat">
            <a:noFill/>
            <a:prstDash val="solid"/>
            <a:miter/>
          </a:ln>
        </p:spPr>
        <p:txBody>
          <a:bodyPr/>
          <a:lstStyle/>
          <a:p>
            <a:endParaRPr lang="en-GB"/>
          </a:p>
        </p:txBody>
      </p:sp>
      <p:sp>
        <p:nvSpPr>
          <p:cNvPr id="16" name="_text_section_3">
            <a:extLst>
              <a:ext uri="{FF2B5EF4-FFF2-40B4-BE49-F238E27FC236}">
                <a16:creationId xmlns:a16="http://schemas.microsoft.com/office/drawing/2014/main" id="{CC12D01A-5308-AF1B-5BB9-902834A5EEFD}"/>
              </a:ext>
            </a:extLst>
          </p:cNvPr>
          <p:cNvSpPr txBox="1"/>
          <p:nvPr/>
        </p:nvSpPr>
        <p:spPr>
          <a:xfrm>
            <a:off x="1787559" y="2826369"/>
            <a:ext cx="6941574" cy="344275"/>
          </a:xfrm>
          <a:prstGeom prst="rect">
            <a:avLst/>
          </a:prstGeom>
          <a:noFill/>
          <a:ln>
            <a:noFill/>
          </a:ln>
        </p:spPr>
        <p:txBody>
          <a:bodyPr spcFirstLastPara="1" wrap="square" lIns="91425" tIns="0" rIns="91425" bIns="0" anchor="ctr" anchorCtr="0">
            <a:noAutofit/>
          </a:bodyPr>
          <a:lstStyle/>
          <a:p>
            <a:pPr marL="0" lvl="0" indent="0" rtl="0">
              <a:spcBef>
                <a:spcPts val="0"/>
              </a:spcBef>
              <a:spcAft>
                <a:spcPts val="0"/>
              </a:spcAft>
              <a:buNone/>
            </a:pPr>
            <a:r>
              <a:rPr lang="sr" sz="1600" b="1" dirty="0">
                <a:solidFill>
                  <a:srgbClr val="0D4077">
                    <a:alpha val="90000"/>
                  </a:srgbClr>
                </a:solidFill>
                <a:latin typeface="Montserrat" panose="00000500000000000000" pitchFamily="2" charset="0"/>
                <a:ea typeface="Montserrat Black"/>
                <a:cs typeface="Montserrat Black"/>
                <a:sym typeface="Montserrat Black"/>
              </a:rPr>
              <a:t>Kontrolisano poboljšanje</a:t>
            </a:r>
            <a:endParaRPr sz="1600" b="1" dirty="0">
              <a:solidFill>
                <a:srgbClr val="0D4077">
                  <a:alpha val="90000"/>
                </a:srgbClr>
              </a:solidFill>
              <a:latin typeface="Montserrat" panose="00000500000000000000" pitchFamily="2" charset="0"/>
              <a:ea typeface="Montserrat Black"/>
              <a:cs typeface="Montserrat Black"/>
              <a:sym typeface="Montserrat Black"/>
            </a:endParaRPr>
          </a:p>
        </p:txBody>
      </p:sp>
      <p:sp>
        <p:nvSpPr>
          <p:cNvPr id="22" name="_img_bullet_3">
            <a:extLst>
              <a:ext uri="{FF2B5EF4-FFF2-40B4-BE49-F238E27FC236}">
                <a16:creationId xmlns:a16="http://schemas.microsoft.com/office/drawing/2014/main" id="{FDEC2BFC-EE6E-067D-D5C3-23AC6D8C3528}"/>
              </a:ext>
            </a:extLst>
          </p:cNvPr>
          <p:cNvSpPr/>
          <p:nvPr/>
        </p:nvSpPr>
        <p:spPr>
          <a:xfrm>
            <a:off x="1432510" y="2879011"/>
            <a:ext cx="243770" cy="239992"/>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0D4077"/>
          </a:solidFill>
          <a:ln w="9525" cap="flat">
            <a:noFill/>
            <a:prstDash val="solid"/>
            <a:miter/>
          </a:ln>
        </p:spPr>
        <p:txBody>
          <a:bodyPr/>
          <a:lstStyle/>
          <a:p>
            <a:endParaRPr lang="en-GB"/>
          </a:p>
        </p:txBody>
      </p:sp>
      <p:sp>
        <p:nvSpPr>
          <p:cNvPr id="23" name="_text_section_4">
            <a:extLst>
              <a:ext uri="{FF2B5EF4-FFF2-40B4-BE49-F238E27FC236}">
                <a16:creationId xmlns:a16="http://schemas.microsoft.com/office/drawing/2014/main" id="{E52C9CE9-AD8C-061B-B4AB-721F220AE161}"/>
              </a:ext>
            </a:extLst>
          </p:cNvPr>
          <p:cNvSpPr txBox="1"/>
          <p:nvPr/>
        </p:nvSpPr>
        <p:spPr>
          <a:xfrm>
            <a:off x="1787559" y="3328144"/>
            <a:ext cx="6941574" cy="344275"/>
          </a:xfrm>
          <a:prstGeom prst="rect">
            <a:avLst/>
          </a:prstGeom>
          <a:noFill/>
          <a:ln>
            <a:noFill/>
          </a:ln>
        </p:spPr>
        <p:txBody>
          <a:bodyPr spcFirstLastPara="1" wrap="square" lIns="91425" tIns="0" rIns="91425" bIns="0" anchor="ctr" anchorCtr="0">
            <a:noAutofit/>
          </a:bodyPr>
          <a:lstStyle/>
          <a:p>
            <a:pPr marL="0" lvl="0" indent="0" rtl="0">
              <a:spcBef>
                <a:spcPts val="0"/>
              </a:spcBef>
              <a:spcAft>
                <a:spcPts val="0"/>
              </a:spcAft>
              <a:buNone/>
            </a:pPr>
            <a:r>
              <a:rPr lang="sr" sz="1600" b="1" dirty="0">
                <a:solidFill>
                  <a:srgbClr val="0D4077">
                    <a:alpha val="90000"/>
                  </a:srgbClr>
                </a:solidFill>
                <a:latin typeface="Montserrat" panose="00000500000000000000" pitchFamily="2" charset="0"/>
                <a:ea typeface="Montserrat Black"/>
                <a:cs typeface="Montserrat Black"/>
                <a:sym typeface="Montserrat Black"/>
              </a:rPr>
              <a:t>Nedeljni zadatak</a:t>
            </a:r>
            <a:endParaRPr sz="1600" b="1" dirty="0">
              <a:solidFill>
                <a:srgbClr val="0D4077">
                  <a:alpha val="90000"/>
                </a:srgbClr>
              </a:solidFill>
              <a:latin typeface="Montserrat" panose="00000500000000000000" pitchFamily="2" charset="0"/>
              <a:ea typeface="Montserrat Black"/>
              <a:cs typeface="Montserrat Black"/>
              <a:sym typeface="Montserrat Black"/>
            </a:endParaRPr>
          </a:p>
        </p:txBody>
      </p:sp>
      <p:sp>
        <p:nvSpPr>
          <p:cNvPr id="24" name="_img_bullet_4">
            <a:extLst>
              <a:ext uri="{FF2B5EF4-FFF2-40B4-BE49-F238E27FC236}">
                <a16:creationId xmlns:a16="http://schemas.microsoft.com/office/drawing/2014/main" id="{45B0060F-8B4F-DBFF-D356-73618D59FEE5}"/>
              </a:ext>
            </a:extLst>
          </p:cNvPr>
          <p:cNvSpPr/>
          <p:nvPr/>
        </p:nvSpPr>
        <p:spPr>
          <a:xfrm>
            <a:off x="1432510" y="3380786"/>
            <a:ext cx="243770" cy="239992"/>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0D4077"/>
          </a:solidFill>
          <a:ln w="9525" cap="flat">
            <a:noFill/>
            <a:prstDash val="solid"/>
            <a:miter/>
          </a:ln>
        </p:spPr>
        <p:txBody>
          <a:bodyPr/>
          <a:lstStyle/>
          <a:p>
            <a:endParaRPr lang="en-GB"/>
          </a:p>
        </p:txBody>
      </p:sp>
      <p:sp>
        <p:nvSpPr>
          <p:cNvPr id="33" name="_text_section">
            <a:extLst>
              <a:ext uri="{FF2B5EF4-FFF2-40B4-BE49-F238E27FC236}">
                <a16:creationId xmlns:a16="http://schemas.microsoft.com/office/drawing/2014/main" id="{38D2BDD3-D29C-CB16-87A6-407CF4E158C8}"/>
              </a:ext>
            </a:extLst>
          </p:cNvPr>
          <p:cNvSpPr txBox="1">
            <a:spLocks/>
          </p:cNvSpPr>
          <p:nvPr/>
        </p:nvSpPr>
        <p:spPr>
          <a:xfrm>
            <a:off x="5927725" y="4663806"/>
            <a:ext cx="2564917" cy="15388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9pPr>
          </a:lstStyle>
          <a:p>
            <a:pPr marL="0" indent="0" algn="r"/>
            <a:r>
              <a:rPr lang="sr-Latn-RS" sz="1000" dirty="0">
                <a:solidFill>
                  <a:srgbClr val="0D4077"/>
                </a:solidFill>
                <a:latin typeface="Lato"/>
                <a:ea typeface="Lato"/>
                <a:cs typeface="Lato"/>
                <a:sym typeface="Lato"/>
              </a:rPr>
              <a:t>Otvaranje</a:t>
            </a:r>
            <a:endParaRPr lang="en-GB" sz="1000" dirty="0">
              <a:solidFill>
                <a:srgbClr val="0D4077"/>
              </a:solidFill>
              <a:latin typeface="Lato"/>
              <a:ea typeface="Lato"/>
              <a:cs typeface="Lato"/>
              <a:sym typeface="Lato"/>
            </a:endParaRPr>
          </a:p>
        </p:txBody>
      </p:sp>
      <p:sp>
        <p:nvSpPr>
          <p:cNvPr id="32" name="_text_page">
            <a:extLst>
              <a:ext uri="{FF2B5EF4-FFF2-40B4-BE49-F238E27FC236}">
                <a16:creationId xmlns:a16="http://schemas.microsoft.com/office/drawing/2014/main" id="{593634B9-5EF6-64FB-073B-09437926C5DB}"/>
              </a:ext>
            </a:extLst>
          </p:cNvPr>
          <p:cNvSpPr txBox="1"/>
          <p:nvPr/>
        </p:nvSpPr>
        <p:spPr>
          <a:xfrm>
            <a:off x="8492643" y="4500000"/>
            <a:ext cx="469800" cy="481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800" dirty="0">
                <a:solidFill>
                  <a:srgbClr val="0D4077"/>
                </a:solidFill>
                <a:latin typeface="Montserrat"/>
                <a:ea typeface="Montserrat"/>
                <a:cs typeface="Montserrat"/>
                <a:sym typeface="Montserrat"/>
              </a:rPr>
              <a:t>3</a:t>
            </a:r>
            <a:endParaRPr sz="1800" dirty="0">
              <a:solidFill>
                <a:srgbClr val="0D4077"/>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8FC"/>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806058D5-2280-EE3B-B56F-0AD0E1870AD3}"/>
              </a:ext>
            </a:extLst>
          </p:cNvPr>
          <p:cNvSpPr/>
          <p:nvPr/>
        </p:nvSpPr>
        <p:spPr>
          <a:xfrm>
            <a:off x="2717800" y="0"/>
            <a:ext cx="6426201" cy="5143500"/>
          </a:xfrm>
          <a:custGeom>
            <a:avLst/>
            <a:gdLst>
              <a:gd name="csX0" fmla="*/ 905383 w 6426201"/>
              <a:gd name="csY0" fmla="*/ 0 h 5143500"/>
              <a:gd name="csX1" fmla="*/ 2497177 w 6426201"/>
              <a:gd name="csY1" fmla="*/ 0 h 5143500"/>
              <a:gd name="csX2" fmla="*/ 2467862 w 6426201"/>
              <a:gd name="csY2" fmla="*/ 35902 h 5143500"/>
              <a:gd name="csX3" fmla="*/ 2503842 w 6426201"/>
              <a:gd name="csY3" fmla="*/ 389331 h 5143500"/>
              <a:gd name="csX4" fmla="*/ 2901337 w 6426201"/>
              <a:gd name="csY4" fmla="*/ 389331 h 5143500"/>
              <a:gd name="csX5" fmla="*/ 3290630 w 6426201"/>
              <a:gd name="csY5" fmla="*/ 0 h 5143500"/>
              <a:gd name="csX6" fmla="*/ 4880482 w 6426201"/>
              <a:gd name="csY6" fmla="*/ 0 h 5143500"/>
              <a:gd name="csX7" fmla="*/ 1758651 w 6426201"/>
              <a:gd name="csY7" fmla="*/ 3121695 h 5143500"/>
              <a:gd name="csX8" fmla="*/ 1758651 w 6426201"/>
              <a:gd name="csY8" fmla="*/ 3519191 h 5143500"/>
              <a:gd name="csX9" fmla="*/ 2156147 w 6426201"/>
              <a:gd name="csY9" fmla="*/ 3519191 h 5143500"/>
              <a:gd name="csX10" fmla="*/ 5675617 w 6426201"/>
              <a:gd name="csY10" fmla="*/ 0 h 5143500"/>
              <a:gd name="csX11" fmla="*/ 6426201 w 6426201"/>
              <a:gd name="csY11" fmla="*/ 0 h 5143500"/>
              <a:gd name="csX12" fmla="*/ 6426201 w 6426201"/>
              <a:gd name="csY12" fmla="*/ 841724 h 5143500"/>
              <a:gd name="csX13" fmla="*/ 6399107 w 6426201"/>
              <a:gd name="csY13" fmla="*/ 874906 h 5143500"/>
              <a:gd name="csX14" fmla="*/ 6399107 w 6426201"/>
              <a:gd name="csY14" fmla="*/ 1184271 h 5143500"/>
              <a:gd name="csX15" fmla="*/ 6426201 w 6426201"/>
              <a:gd name="csY15" fmla="*/ 1217454 h 5143500"/>
              <a:gd name="csX16" fmla="*/ 6426201 w 6426201"/>
              <a:gd name="csY16" fmla="*/ 3224795 h 5143500"/>
              <a:gd name="csX17" fmla="*/ 5698729 w 6426201"/>
              <a:gd name="csY17" fmla="*/ 3952325 h 5143500"/>
              <a:gd name="csX18" fmla="*/ 5698729 w 6426201"/>
              <a:gd name="csY18" fmla="*/ 4349820 h 5143500"/>
              <a:gd name="csX19" fmla="*/ 6096226 w 6426201"/>
              <a:gd name="csY19" fmla="*/ 4349820 h 5143500"/>
              <a:gd name="csX20" fmla="*/ 6426201 w 6426201"/>
              <a:gd name="csY20" fmla="*/ 4019844 h 5143500"/>
              <a:gd name="csX21" fmla="*/ 6426201 w 6426201"/>
              <a:gd name="csY21" fmla="*/ 5143500 h 5143500"/>
              <a:gd name="csX22" fmla="*/ 5302181 w 6426201"/>
              <a:gd name="csY22" fmla="*/ 5143500 h 5143500"/>
              <a:gd name="csX23" fmla="*/ 5337216 w 6426201"/>
              <a:gd name="csY23" fmla="*/ 5100594 h 5143500"/>
              <a:gd name="csX24" fmla="*/ 5301235 w 6426201"/>
              <a:gd name="csY24" fmla="*/ 4747164 h 5143500"/>
              <a:gd name="csX25" fmla="*/ 4903739 w 6426201"/>
              <a:gd name="csY25" fmla="*/ 4747164 h 5143500"/>
              <a:gd name="csX26" fmla="*/ 4507404 w 6426201"/>
              <a:gd name="csY26" fmla="*/ 5143500 h 5143500"/>
              <a:gd name="csX27" fmla="*/ 2917405 w 6426201"/>
              <a:gd name="csY27" fmla="*/ 5143500 h 5143500"/>
              <a:gd name="csX28" fmla="*/ 6037591 w 6426201"/>
              <a:gd name="csY28" fmla="*/ 2023176 h 5143500"/>
              <a:gd name="csX29" fmla="*/ 6037591 w 6426201"/>
              <a:gd name="csY29" fmla="*/ 1625681 h 5143500"/>
              <a:gd name="csX30" fmla="*/ 5640096 w 6426201"/>
              <a:gd name="csY30" fmla="*/ 1625681 h 5143500"/>
              <a:gd name="csX31" fmla="*/ 2121855 w 6426201"/>
              <a:gd name="csY31" fmla="*/ 5143500 h 5143500"/>
              <a:gd name="csX32" fmla="*/ 896983 w 6426201"/>
              <a:gd name="csY32" fmla="*/ 5143500 h 5143500"/>
              <a:gd name="csX33" fmla="*/ 893618 w 6426201"/>
              <a:gd name="csY33" fmla="*/ 5132153 h 5143500"/>
              <a:gd name="csX34" fmla="*/ 1048034 w 6426201"/>
              <a:gd name="csY34" fmla="*/ 4627306 h 5143500"/>
              <a:gd name="csX35" fmla="*/ 1361157 w 6426201"/>
              <a:gd name="csY35" fmla="*/ 4314183 h 5143500"/>
              <a:gd name="csX36" fmla="*/ 1361157 w 6426201"/>
              <a:gd name="csY36" fmla="*/ 3916686 h 5143500"/>
              <a:gd name="csX37" fmla="*/ 963661 w 6426201"/>
              <a:gd name="csY37" fmla="*/ 3916686 h 5143500"/>
              <a:gd name="csX38" fmla="*/ 959702 w 6426201"/>
              <a:gd name="csY38" fmla="*/ 3920647 h 5143500"/>
              <a:gd name="csX39" fmla="*/ 164711 w 6426201"/>
              <a:gd name="csY39" fmla="*/ 3920647 h 5143500"/>
              <a:gd name="csX40" fmla="*/ 164711 w 6426201"/>
              <a:gd name="csY40" fmla="*/ 3125656 h 5143500"/>
              <a:gd name="csX41" fmla="*/ 2106042 w 6426201"/>
              <a:gd name="csY41" fmla="*/ 1184171 h 5143500"/>
              <a:gd name="csX42" fmla="*/ 2106042 w 6426201"/>
              <a:gd name="csY42" fmla="*/ 786674 h 5143500"/>
              <a:gd name="csX43" fmla="*/ 1708546 w 6426201"/>
              <a:gd name="csY43" fmla="*/ 786674 h 5143500"/>
              <a:gd name="csX44" fmla="*/ 1326585 w 6426201"/>
              <a:gd name="csY44" fmla="*/ 1168636 h 5143500"/>
              <a:gd name="csX45" fmla="*/ 531594 w 6426201"/>
              <a:gd name="csY45" fmla="*/ 1168636 h 5143500"/>
              <a:gd name="csX46" fmla="*/ 531594 w 6426201"/>
              <a:gd name="csY46" fmla="*/ 373644 h 514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426201" h="5143500">
                <a:moveTo>
                  <a:pt x="905383" y="0"/>
                </a:moveTo>
                <a:lnTo>
                  <a:pt x="2497177" y="0"/>
                </a:lnTo>
                <a:lnTo>
                  <a:pt x="2467862" y="35902"/>
                </a:lnTo>
                <a:cubicBezTo>
                  <a:pt x="2395902" y="144966"/>
                  <a:pt x="2407895" y="293384"/>
                  <a:pt x="2503842" y="389331"/>
                </a:cubicBezTo>
                <a:cubicBezTo>
                  <a:pt x="2613496" y="498985"/>
                  <a:pt x="2791683" y="498985"/>
                  <a:pt x="2901337" y="389331"/>
                </a:cubicBezTo>
                <a:lnTo>
                  <a:pt x="3290630" y="0"/>
                </a:lnTo>
                <a:lnTo>
                  <a:pt x="4880482" y="0"/>
                </a:lnTo>
                <a:lnTo>
                  <a:pt x="1758651" y="3121695"/>
                </a:lnTo>
                <a:cubicBezTo>
                  <a:pt x="1648997" y="3231349"/>
                  <a:pt x="1648997" y="3409537"/>
                  <a:pt x="1758651" y="3519191"/>
                </a:cubicBezTo>
                <a:cubicBezTo>
                  <a:pt x="1868305" y="3628845"/>
                  <a:pt x="2046494" y="3628845"/>
                  <a:pt x="2156147" y="3519191"/>
                </a:cubicBezTo>
                <a:lnTo>
                  <a:pt x="5675617" y="0"/>
                </a:lnTo>
                <a:lnTo>
                  <a:pt x="6426201" y="0"/>
                </a:lnTo>
                <a:lnTo>
                  <a:pt x="6426201" y="841724"/>
                </a:lnTo>
                <a:lnTo>
                  <a:pt x="6399107" y="874906"/>
                </a:lnTo>
                <a:cubicBezTo>
                  <a:pt x="6337426" y="968391"/>
                  <a:pt x="6337426" y="1090787"/>
                  <a:pt x="6399107" y="1184271"/>
                </a:cubicBezTo>
                <a:lnTo>
                  <a:pt x="6426201" y="1217454"/>
                </a:lnTo>
                <a:lnTo>
                  <a:pt x="6426201" y="3224795"/>
                </a:lnTo>
                <a:lnTo>
                  <a:pt x="5698729" y="3952325"/>
                </a:lnTo>
                <a:cubicBezTo>
                  <a:pt x="5589076" y="4061979"/>
                  <a:pt x="5589076" y="4240166"/>
                  <a:pt x="5698729" y="4349820"/>
                </a:cubicBezTo>
                <a:cubicBezTo>
                  <a:pt x="5808383" y="4459475"/>
                  <a:pt x="5986572" y="4459475"/>
                  <a:pt x="6096226" y="4349820"/>
                </a:cubicBezTo>
                <a:lnTo>
                  <a:pt x="6426201" y="4019844"/>
                </a:lnTo>
                <a:lnTo>
                  <a:pt x="6426201" y="5143500"/>
                </a:lnTo>
                <a:lnTo>
                  <a:pt x="5302181" y="5143500"/>
                </a:lnTo>
                <a:lnTo>
                  <a:pt x="5337216" y="5100594"/>
                </a:lnTo>
                <a:cubicBezTo>
                  <a:pt x="5409176" y="4991529"/>
                  <a:pt x="5397183" y="4843112"/>
                  <a:pt x="5301235" y="4747164"/>
                </a:cubicBezTo>
                <a:cubicBezTo>
                  <a:pt x="5191581" y="4637510"/>
                  <a:pt x="5013393" y="4637510"/>
                  <a:pt x="4903739" y="4747164"/>
                </a:cubicBezTo>
                <a:lnTo>
                  <a:pt x="4507404" y="5143500"/>
                </a:lnTo>
                <a:lnTo>
                  <a:pt x="2917405" y="5143500"/>
                </a:lnTo>
                <a:lnTo>
                  <a:pt x="6037591" y="2023176"/>
                </a:lnTo>
                <a:cubicBezTo>
                  <a:pt x="6147246" y="1913522"/>
                  <a:pt x="6147246" y="1735335"/>
                  <a:pt x="6037591" y="1625681"/>
                </a:cubicBezTo>
                <a:cubicBezTo>
                  <a:pt x="5927938" y="1516027"/>
                  <a:pt x="5749749" y="1516027"/>
                  <a:pt x="5640096" y="1625681"/>
                </a:cubicBezTo>
                <a:lnTo>
                  <a:pt x="2121855" y="5143500"/>
                </a:lnTo>
                <a:lnTo>
                  <a:pt x="896983" y="5143500"/>
                </a:lnTo>
                <a:lnTo>
                  <a:pt x="893618" y="5132153"/>
                </a:lnTo>
                <a:cubicBezTo>
                  <a:pt x="859304" y="4955007"/>
                  <a:pt x="910776" y="4764564"/>
                  <a:pt x="1048034" y="4627306"/>
                </a:cubicBezTo>
                <a:lnTo>
                  <a:pt x="1361157" y="4314183"/>
                </a:lnTo>
                <a:cubicBezTo>
                  <a:pt x="1470811" y="4204529"/>
                  <a:pt x="1470811" y="4026342"/>
                  <a:pt x="1361157" y="3916686"/>
                </a:cubicBezTo>
                <a:cubicBezTo>
                  <a:pt x="1251503" y="3807032"/>
                  <a:pt x="1073314" y="3807032"/>
                  <a:pt x="963661" y="3916686"/>
                </a:cubicBezTo>
                <a:lnTo>
                  <a:pt x="959702" y="3920647"/>
                </a:lnTo>
                <a:cubicBezTo>
                  <a:pt x="740088" y="4140107"/>
                  <a:pt x="384322" y="4140107"/>
                  <a:pt x="164711" y="3920647"/>
                </a:cubicBezTo>
                <a:cubicBezTo>
                  <a:pt x="-54903" y="3701034"/>
                  <a:pt x="-54903" y="3345115"/>
                  <a:pt x="164711" y="3125656"/>
                </a:cubicBezTo>
                <a:lnTo>
                  <a:pt x="2106042" y="1184171"/>
                </a:lnTo>
                <a:cubicBezTo>
                  <a:pt x="2215696" y="1074517"/>
                  <a:pt x="2215696" y="896328"/>
                  <a:pt x="2106042" y="786674"/>
                </a:cubicBezTo>
                <a:cubicBezTo>
                  <a:pt x="1996388" y="677020"/>
                  <a:pt x="1818200" y="677020"/>
                  <a:pt x="1708546" y="786674"/>
                </a:cubicBezTo>
                <a:lnTo>
                  <a:pt x="1326585" y="1168636"/>
                </a:lnTo>
                <a:cubicBezTo>
                  <a:pt x="1106973" y="1388249"/>
                  <a:pt x="751207" y="1388249"/>
                  <a:pt x="531594" y="1168636"/>
                </a:cubicBezTo>
                <a:cubicBezTo>
                  <a:pt x="311983" y="949024"/>
                  <a:pt x="311983" y="593258"/>
                  <a:pt x="531594" y="373644"/>
                </a:cubicBezTo>
                <a:close/>
              </a:path>
            </a:pathLst>
          </a:custGeom>
          <a:solidFill>
            <a:srgbClr val="0D4077">
              <a:alpha val="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64" name="_text_section_title">
            <a:extLst>
              <a:ext uri="{FF2B5EF4-FFF2-40B4-BE49-F238E27FC236}">
                <a16:creationId xmlns:a16="http://schemas.microsoft.com/office/drawing/2014/main" id="{050D3A50-478B-E953-D043-C88D1BD25BE9}"/>
              </a:ext>
            </a:extLst>
          </p:cNvPr>
          <p:cNvSpPr txBox="1">
            <a:spLocks noGrp="1"/>
          </p:cNvSpPr>
          <p:nvPr>
            <p:ph type="ctrTitle"/>
          </p:nvPr>
        </p:nvSpPr>
        <p:spPr>
          <a:xfrm>
            <a:off x="897467" y="1956197"/>
            <a:ext cx="6849534" cy="615553"/>
          </a:xfrm>
          <a:prstGeom prst="rect">
            <a:avLst/>
          </a:prstGeom>
        </p:spPr>
        <p:txBody>
          <a:bodyPr spcFirstLastPara="1" wrap="square" lIns="91425" tIns="0" rIns="91425" bIns="0" anchor="b" anchorCtr="0">
            <a:spAutoFit/>
          </a:bodyPr>
          <a:lstStyle/>
          <a:p>
            <a:pPr marL="0" lvl="0" indent="0" algn="l" rtl="0">
              <a:spcBef>
                <a:spcPts val="0"/>
              </a:spcBef>
              <a:spcAft>
                <a:spcPts val="0"/>
              </a:spcAft>
              <a:buNone/>
            </a:pPr>
            <a:r>
              <a:rPr lang="sr" sz="4000" spc="-150" dirty="0">
                <a:solidFill>
                  <a:srgbClr val="0D4077">
                    <a:alpha val="90000"/>
                  </a:srgbClr>
                </a:solidFill>
                <a:latin typeface="Montserrat Black" panose="00000A00000000000000" pitchFamily="2" charset="0"/>
                <a:ea typeface="Montserrat"/>
                <a:cs typeface="Montserrat"/>
                <a:sym typeface="Montserrat"/>
              </a:rPr>
              <a:t>Od izgradnje ka poboljšanju</a:t>
            </a:r>
            <a:endParaRPr sz="4000" spc="-150" dirty="0">
              <a:solidFill>
                <a:srgbClr val="0D4077">
                  <a:alpha val="90000"/>
                </a:srgbClr>
              </a:solidFill>
              <a:latin typeface="Montserrat Black" panose="00000A00000000000000" pitchFamily="2" charset="0"/>
              <a:ea typeface="Montserrat"/>
              <a:cs typeface="Montserrat"/>
              <a:sym typeface="Montserrat"/>
            </a:endParaRPr>
          </a:p>
        </p:txBody>
      </p:sp>
      <p:sp>
        <p:nvSpPr>
          <p:cNvPr id="65" name="_text_section_subtitle">
            <a:extLst>
              <a:ext uri="{FF2B5EF4-FFF2-40B4-BE49-F238E27FC236}">
                <a16:creationId xmlns:a16="http://schemas.microsoft.com/office/drawing/2014/main" id="{1A30F914-E789-A81B-2828-166B98C32AB0}"/>
              </a:ext>
            </a:extLst>
          </p:cNvPr>
          <p:cNvSpPr txBox="1">
            <a:spLocks noGrp="1"/>
          </p:cNvSpPr>
          <p:nvPr>
            <p:ph type="subTitle" idx="1"/>
          </p:nvPr>
        </p:nvSpPr>
        <p:spPr>
          <a:xfrm>
            <a:off x="897467" y="2571750"/>
            <a:ext cx="6849534" cy="1105088"/>
          </a:xfrm>
          <a:prstGeom prst="rect">
            <a:avLst/>
          </a:prstGeom>
        </p:spPr>
        <p:txBody>
          <a:bodyPr spcFirstLastPara="1" wrap="square" lIns="91425" tIns="180000" rIns="91425" bIns="0" anchor="t" anchorCtr="0">
            <a:spAutoFit/>
          </a:bodyPr>
          <a:lstStyle/>
          <a:p>
            <a:pPr marL="0" lvl="0" indent="0" algn="l" rtl="0">
              <a:spcBef>
                <a:spcPts val="0"/>
              </a:spcBef>
              <a:spcAft>
                <a:spcPts val="0"/>
              </a:spcAft>
              <a:buNone/>
            </a:pPr>
            <a:r>
              <a:rPr lang="en-GB" sz="2000" dirty="0">
                <a:solidFill>
                  <a:srgbClr val="0D4077"/>
                </a:solidFill>
                <a:latin typeface="Montserrat" panose="00000500000000000000" pitchFamily="2" charset="0"/>
                <a:ea typeface="Lato"/>
                <a:cs typeface="Lato"/>
                <a:sym typeface="Lato"/>
              </a:rPr>
              <a:t>Pitanje se menja: ne da li sistem radi, nego koliko dobro radi i kako to znamo.</a:t>
            </a:r>
            <a:endParaRPr sz="2000" dirty="0">
              <a:solidFill>
                <a:srgbClr val="0D4077"/>
              </a:solidFill>
              <a:latin typeface="Montserrat" panose="00000500000000000000" pitchFamily="2" charset="0"/>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9000" r="-29000"/>
          </a:stretch>
        </a:blip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F436A335-E91F-DFEE-542E-F305787FDDEE}"/>
              </a:ext>
            </a:extLst>
          </p:cNvPr>
          <p:cNvSpPr/>
          <p:nvPr/>
        </p:nvSpPr>
        <p:spPr>
          <a:xfrm>
            <a:off x="2717800" y="0"/>
            <a:ext cx="6426201" cy="5143500"/>
          </a:xfrm>
          <a:custGeom>
            <a:avLst/>
            <a:gdLst>
              <a:gd name="csX0" fmla="*/ 905383 w 6426201"/>
              <a:gd name="csY0" fmla="*/ 0 h 5143500"/>
              <a:gd name="csX1" fmla="*/ 2497177 w 6426201"/>
              <a:gd name="csY1" fmla="*/ 0 h 5143500"/>
              <a:gd name="csX2" fmla="*/ 2467862 w 6426201"/>
              <a:gd name="csY2" fmla="*/ 35902 h 5143500"/>
              <a:gd name="csX3" fmla="*/ 2503842 w 6426201"/>
              <a:gd name="csY3" fmla="*/ 389331 h 5143500"/>
              <a:gd name="csX4" fmla="*/ 2901337 w 6426201"/>
              <a:gd name="csY4" fmla="*/ 389331 h 5143500"/>
              <a:gd name="csX5" fmla="*/ 3290630 w 6426201"/>
              <a:gd name="csY5" fmla="*/ 0 h 5143500"/>
              <a:gd name="csX6" fmla="*/ 4880482 w 6426201"/>
              <a:gd name="csY6" fmla="*/ 0 h 5143500"/>
              <a:gd name="csX7" fmla="*/ 1758651 w 6426201"/>
              <a:gd name="csY7" fmla="*/ 3121695 h 5143500"/>
              <a:gd name="csX8" fmla="*/ 1758651 w 6426201"/>
              <a:gd name="csY8" fmla="*/ 3519191 h 5143500"/>
              <a:gd name="csX9" fmla="*/ 2156147 w 6426201"/>
              <a:gd name="csY9" fmla="*/ 3519191 h 5143500"/>
              <a:gd name="csX10" fmla="*/ 5675617 w 6426201"/>
              <a:gd name="csY10" fmla="*/ 0 h 5143500"/>
              <a:gd name="csX11" fmla="*/ 6426201 w 6426201"/>
              <a:gd name="csY11" fmla="*/ 0 h 5143500"/>
              <a:gd name="csX12" fmla="*/ 6426201 w 6426201"/>
              <a:gd name="csY12" fmla="*/ 841724 h 5143500"/>
              <a:gd name="csX13" fmla="*/ 6399107 w 6426201"/>
              <a:gd name="csY13" fmla="*/ 874906 h 5143500"/>
              <a:gd name="csX14" fmla="*/ 6399107 w 6426201"/>
              <a:gd name="csY14" fmla="*/ 1184271 h 5143500"/>
              <a:gd name="csX15" fmla="*/ 6426201 w 6426201"/>
              <a:gd name="csY15" fmla="*/ 1217454 h 5143500"/>
              <a:gd name="csX16" fmla="*/ 6426201 w 6426201"/>
              <a:gd name="csY16" fmla="*/ 3224795 h 5143500"/>
              <a:gd name="csX17" fmla="*/ 5698729 w 6426201"/>
              <a:gd name="csY17" fmla="*/ 3952325 h 5143500"/>
              <a:gd name="csX18" fmla="*/ 5698729 w 6426201"/>
              <a:gd name="csY18" fmla="*/ 4349820 h 5143500"/>
              <a:gd name="csX19" fmla="*/ 6096226 w 6426201"/>
              <a:gd name="csY19" fmla="*/ 4349820 h 5143500"/>
              <a:gd name="csX20" fmla="*/ 6426201 w 6426201"/>
              <a:gd name="csY20" fmla="*/ 4019844 h 5143500"/>
              <a:gd name="csX21" fmla="*/ 6426201 w 6426201"/>
              <a:gd name="csY21" fmla="*/ 5143500 h 5143500"/>
              <a:gd name="csX22" fmla="*/ 5302181 w 6426201"/>
              <a:gd name="csY22" fmla="*/ 5143500 h 5143500"/>
              <a:gd name="csX23" fmla="*/ 5337216 w 6426201"/>
              <a:gd name="csY23" fmla="*/ 5100594 h 5143500"/>
              <a:gd name="csX24" fmla="*/ 5301235 w 6426201"/>
              <a:gd name="csY24" fmla="*/ 4747164 h 5143500"/>
              <a:gd name="csX25" fmla="*/ 4903739 w 6426201"/>
              <a:gd name="csY25" fmla="*/ 4747164 h 5143500"/>
              <a:gd name="csX26" fmla="*/ 4507404 w 6426201"/>
              <a:gd name="csY26" fmla="*/ 5143500 h 5143500"/>
              <a:gd name="csX27" fmla="*/ 2917405 w 6426201"/>
              <a:gd name="csY27" fmla="*/ 5143500 h 5143500"/>
              <a:gd name="csX28" fmla="*/ 6037591 w 6426201"/>
              <a:gd name="csY28" fmla="*/ 2023176 h 5143500"/>
              <a:gd name="csX29" fmla="*/ 6037591 w 6426201"/>
              <a:gd name="csY29" fmla="*/ 1625681 h 5143500"/>
              <a:gd name="csX30" fmla="*/ 5640096 w 6426201"/>
              <a:gd name="csY30" fmla="*/ 1625681 h 5143500"/>
              <a:gd name="csX31" fmla="*/ 2121855 w 6426201"/>
              <a:gd name="csY31" fmla="*/ 5143500 h 5143500"/>
              <a:gd name="csX32" fmla="*/ 896983 w 6426201"/>
              <a:gd name="csY32" fmla="*/ 5143500 h 5143500"/>
              <a:gd name="csX33" fmla="*/ 893618 w 6426201"/>
              <a:gd name="csY33" fmla="*/ 5132153 h 5143500"/>
              <a:gd name="csX34" fmla="*/ 1048034 w 6426201"/>
              <a:gd name="csY34" fmla="*/ 4627306 h 5143500"/>
              <a:gd name="csX35" fmla="*/ 1361157 w 6426201"/>
              <a:gd name="csY35" fmla="*/ 4314183 h 5143500"/>
              <a:gd name="csX36" fmla="*/ 1361157 w 6426201"/>
              <a:gd name="csY36" fmla="*/ 3916686 h 5143500"/>
              <a:gd name="csX37" fmla="*/ 963661 w 6426201"/>
              <a:gd name="csY37" fmla="*/ 3916686 h 5143500"/>
              <a:gd name="csX38" fmla="*/ 959702 w 6426201"/>
              <a:gd name="csY38" fmla="*/ 3920647 h 5143500"/>
              <a:gd name="csX39" fmla="*/ 164711 w 6426201"/>
              <a:gd name="csY39" fmla="*/ 3920647 h 5143500"/>
              <a:gd name="csX40" fmla="*/ 164711 w 6426201"/>
              <a:gd name="csY40" fmla="*/ 3125656 h 5143500"/>
              <a:gd name="csX41" fmla="*/ 2106042 w 6426201"/>
              <a:gd name="csY41" fmla="*/ 1184171 h 5143500"/>
              <a:gd name="csX42" fmla="*/ 2106042 w 6426201"/>
              <a:gd name="csY42" fmla="*/ 786674 h 5143500"/>
              <a:gd name="csX43" fmla="*/ 1708546 w 6426201"/>
              <a:gd name="csY43" fmla="*/ 786674 h 5143500"/>
              <a:gd name="csX44" fmla="*/ 1326585 w 6426201"/>
              <a:gd name="csY44" fmla="*/ 1168636 h 5143500"/>
              <a:gd name="csX45" fmla="*/ 531594 w 6426201"/>
              <a:gd name="csY45" fmla="*/ 1168636 h 5143500"/>
              <a:gd name="csX46" fmla="*/ 531594 w 6426201"/>
              <a:gd name="csY46" fmla="*/ 373644 h 514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426201" h="5143500">
                <a:moveTo>
                  <a:pt x="905383" y="0"/>
                </a:moveTo>
                <a:lnTo>
                  <a:pt x="2497177" y="0"/>
                </a:lnTo>
                <a:lnTo>
                  <a:pt x="2467862" y="35902"/>
                </a:lnTo>
                <a:cubicBezTo>
                  <a:pt x="2395902" y="144966"/>
                  <a:pt x="2407895" y="293384"/>
                  <a:pt x="2503842" y="389331"/>
                </a:cubicBezTo>
                <a:cubicBezTo>
                  <a:pt x="2613496" y="498985"/>
                  <a:pt x="2791683" y="498985"/>
                  <a:pt x="2901337" y="389331"/>
                </a:cubicBezTo>
                <a:lnTo>
                  <a:pt x="3290630" y="0"/>
                </a:lnTo>
                <a:lnTo>
                  <a:pt x="4880482" y="0"/>
                </a:lnTo>
                <a:lnTo>
                  <a:pt x="1758651" y="3121695"/>
                </a:lnTo>
                <a:cubicBezTo>
                  <a:pt x="1648997" y="3231349"/>
                  <a:pt x="1648997" y="3409537"/>
                  <a:pt x="1758651" y="3519191"/>
                </a:cubicBezTo>
                <a:cubicBezTo>
                  <a:pt x="1868305" y="3628845"/>
                  <a:pt x="2046494" y="3628845"/>
                  <a:pt x="2156147" y="3519191"/>
                </a:cubicBezTo>
                <a:lnTo>
                  <a:pt x="5675617" y="0"/>
                </a:lnTo>
                <a:lnTo>
                  <a:pt x="6426201" y="0"/>
                </a:lnTo>
                <a:lnTo>
                  <a:pt x="6426201" y="841724"/>
                </a:lnTo>
                <a:lnTo>
                  <a:pt x="6399107" y="874906"/>
                </a:lnTo>
                <a:cubicBezTo>
                  <a:pt x="6337426" y="968391"/>
                  <a:pt x="6337426" y="1090787"/>
                  <a:pt x="6399107" y="1184271"/>
                </a:cubicBezTo>
                <a:lnTo>
                  <a:pt x="6426201" y="1217454"/>
                </a:lnTo>
                <a:lnTo>
                  <a:pt x="6426201" y="3224795"/>
                </a:lnTo>
                <a:lnTo>
                  <a:pt x="5698729" y="3952325"/>
                </a:lnTo>
                <a:cubicBezTo>
                  <a:pt x="5589076" y="4061979"/>
                  <a:pt x="5589076" y="4240166"/>
                  <a:pt x="5698729" y="4349820"/>
                </a:cubicBezTo>
                <a:cubicBezTo>
                  <a:pt x="5808383" y="4459475"/>
                  <a:pt x="5986572" y="4459475"/>
                  <a:pt x="6096226" y="4349820"/>
                </a:cubicBezTo>
                <a:lnTo>
                  <a:pt x="6426201" y="4019844"/>
                </a:lnTo>
                <a:lnTo>
                  <a:pt x="6426201" y="5143500"/>
                </a:lnTo>
                <a:lnTo>
                  <a:pt x="5302181" y="5143500"/>
                </a:lnTo>
                <a:lnTo>
                  <a:pt x="5337216" y="5100594"/>
                </a:lnTo>
                <a:cubicBezTo>
                  <a:pt x="5409176" y="4991529"/>
                  <a:pt x="5397183" y="4843112"/>
                  <a:pt x="5301235" y="4747164"/>
                </a:cubicBezTo>
                <a:cubicBezTo>
                  <a:pt x="5191581" y="4637510"/>
                  <a:pt x="5013393" y="4637510"/>
                  <a:pt x="4903739" y="4747164"/>
                </a:cubicBezTo>
                <a:lnTo>
                  <a:pt x="4507404" y="5143500"/>
                </a:lnTo>
                <a:lnTo>
                  <a:pt x="2917405" y="5143500"/>
                </a:lnTo>
                <a:lnTo>
                  <a:pt x="6037591" y="2023176"/>
                </a:lnTo>
                <a:cubicBezTo>
                  <a:pt x="6147246" y="1913522"/>
                  <a:pt x="6147246" y="1735335"/>
                  <a:pt x="6037591" y="1625681"/>
                </a:cubicBezTo>
                <a:cubicBezTo>
                  <a:pt x="5927938" y="1516027"/>
                  <a:pt x="5749749" y="1516027"/>
                  <a:pt x="5640096" y="1625681"/>
                </a:cubicBezTo>
                <a:lnTo>
                  <a:pt x="2121855" y="5143500"/>
                </a:lnTo>
                <a:lnTo>
                  <a:pt x="896983" y="5143500"/>
                </a:lnTo>
                <a:lnTo>
                  <a:pt x="893618" y="5132153"/>
                </a:lnTo>
                <a:cubicBezTo>
                  <a:pt x="859304" y="4955007"/>
                  <a:pt x="910776" y="4764564"/>
                  <a:pt x="1048034" y="4627306"/>
                </a:cubicBezTo>
                <a:lnTo>
                  <a:pt x="1361157" y="4314183"/>
                </a:lnTo>
                <a:cubicBezTo>
                  <a:pt x="1470811" y="4204529"/>
                  <a:pt x="1470811" y="4026342"/>
                  <a:pt x="1361157" y="3916686"/>
                </a:cubicBezTo>
                <a:cubicBezTo>
                  <a:pt x="1251503" y="3807032"/>
                  <a:pt x="1073314" y="3807032"/>
                  <a:pt x="963661" y="3916686"/>
                </a:cubicBezTo>
                <a:lnTo>
                  <a:pt x="959702" y="3920647"/>
                </a:lnTo>
                <a:cubicBezTo>
                  <a:pt x="740088" y="4140107"/>
                  <a:pt x="384322" y="4140107"/>
                  <a:pt x="164711" y="3920647"/>
                </a:cubicBezTo>
                <a:cubicBezTo>
                  <a:pt x="-54903" y="3701034"/>
                  <a:pt x="-54903" y="3345115"/>
                  <a:pt x="164711" y="3125656"/>
                </a:cubicBezTo>
                <a:lnTo>
                  <a:pt x="2106042" y="1184171"/>
                </a:lnTo>
                <a:cubicBezTo>
                  <a:pt x="2215696" y="1074517"/>
                  <a:pt x="2215696" y="896328"/>
                  <a:pt x="2106042" y="786674"/>
                </a:cubicBezTo>
                <a:cubicBezTo>
                  <a:pt x="1996388" y="677020"/>
                  <a:pt x="1818200" y="677020"/>
                  <a:pt x="1708546" y="786674"/>
                </a:cubicBezTo>
                <a:lnTo>
                  <a:pt x="1326585" y="1168636"/>
                </a:lnTo>
                <a:cubicBezTo>
                  <a:pt x="1106973" y="1388249"/>
                  <a:pt x="751207" y="1388249"/>
                  <a:pt x="531594" y="1168636"/>
                </a:cubicBezTo>
                <a:cubicBezTo>
                  <a:pt x="311983" y="949024"/>
                  <a:pt x="311983" y="593258"/>
                  <a:pt x="531594" y="373644"/>
                </a:cubicBezTo>
                <a:close/>
              </a:path>
            </a:pathLst>
          </a:custGeom>
          <a:solidFill>
            <a:srgbClr val="FFFF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6" name="Graphic 4">
            <a:extLst>
              <a:ext uri="{FF2B5EF4-FFF2-40B4-BE49-F238E27FC236}">
                <a16:creationId xmlns:a16="http://schemas.microsoft.com/office/drawing/2014/main" id="{8E7A8867-8EAA-6C57-2018-D03183288FCE}"/>
              </a:ext>
            </a:extLst>
          </p:cNvPr>
          <p:cNvSpPr/>
          <p:nvPr/>
        </p:nvSpPr>
        <p:spPr>
          <a:xfrm>
            <a:off x="213083" y="343327"/>
            <a:ext cx="180000" cy="180000"/>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alpha val="95000"/>
            </a:srgbClr>
          </a:solidFill>
          <a:ln w="9525" cap="flat">
            <a:noFill/>
            <a:prstDash val="solid"/>
            <a:miter/>
          </a:ln>
        </p:spPr>
        <p:txBody>
          <a:bodyPr/>
          <a:lstStyle/>
          <a:p>
            <a:endParaRPr lang="en-GB"/>
          </a:p>
        </p:txBody>
      </p:sp>
      <p:sp>
        <p:nvSpPr>
          <p:cNvPr id="10" name="_text_title">
            <a:extLst>
              <a:ext uri="{FF2B5EF4-FFF2-40B4-BE49-F238E27FC236}">
                <a16:creationId xmlns:a16="http://schemas.microsoft.com/office/drawing/2014/main" id="{F27B2C81-B052-2B33-6A07-165F6EAFA341}"/>
              </a:ext>
            </a:extLst>
          </p:cNvPr>
          <p:cNvSpPr txBox="1">
            <a:spLocks/>
          </p:cNvSpPr>
          <p:nvPr/>
        </p:nvSpPr>
        <p:spPr>
          <a:xfrm>
            <a:off x="589500" y="724453"/>
            <a:ext cx="8402846" cy="430887"/>
          </a:xfrm>
          <a:prstGeom prst="rect">
            <a:avLst/>
          </a:prstGeom>
          <a:noFill/>
          <a:ln>
            <a:noFill/>
          </a:ln>
        </p:spPr>
        <p:txBody>
          <a:bodyPr spcFirstLastPara="1" wrap="square" lIns="91425" tIns="0" rIns="91425" bIns="0" anchor="b" anchorCtr="0">
            <a:sp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9pPr>
          </a:lstStyle>
          <a:p>
            <a:pPr algn="l">
              <a:buSzPts val="990"/>
            </a:pPr>
            <a:r>
              <a:rPr lang="en-GB" sz="2800" spc="-150" dirty="0">
                <a:solidFill>
                  <a:schemeClr val="lt1">
                    <a:alpha val="90000"/>
                  </a:schemeClr>
                </a:solidFill>
                <a:latin typeface="Montserrat Black" panose="00000A00000000000000" pitchFamily="2" charset="0"/>
                <a:ea typeface="Montserrat"/>
                <a:cs typeface="Montserrat"/>
                <a:sym typeface="Montserrat"/>
              </a:rPr>
              <a:t>Osvrt na Nedelju 6</a:t>
            </a:r>
            <a:endParaRPr lang="sr-Latn-RS" sz="2800" spc="-150" dirty="0">
              <a:solidFill>
                <a:schemeClr val="lt1">
                  <a:alpha val="90000"/>
                </a:schemeClr>
              </a:solidFill>
              <a:latin typeface="Montserrat Black" panose="00000A00000000000000" pitchFamily="2" charset="0"/>
              <a:ea typeface="Montserrat"/>
              <a:cs typeface="Montserrat"/>
              <a:sym typeface="Montserrat"/>
            </a:endParaRPr>
          </a:p>
        </p:txBody>
      </p:sp>
      <p:sp>
        <p:nvSpPr>
          <p:cNvPr id="14" name="_text_subtitle">
            <a:extLst>
              <a:ext uri="{FF2B5EF4-FFF2-40B4-BE49-F238E27FC236}">
                <a16:creationId xmlns:a16="http://schemas.microsoft.com/office/drawing/2014/main" id="{349F65FA-2F05-CFC0-2A35-8E55C6D4939C}"/>
              </a:ext>
            </a:extLst>
          </p:cNvPr>
          <p:cNvSpPr txBox="1">
            <a:spLocks/>
          </p:cNvSpPr>
          <p:nvPr/>
        </p:nvSpPr>
        <p:spPr>
          <a:xfrm>
            <a:off x="589500" y="1158219"/>
            <a:ext cx="8402846" cy="307777"/>
          </a:xfrm>
          <a:prstGeom prst="rect">
            <a:avLst/>
          </a:prstGeom>
          <a:noFill/>
          <a:ln>
            <a:noFill/>
          </a:ln>
        </p:spPr>
        <p:txBody>
          <a:bodyPr spcFirstLastPara="1" wrap="square" lIns="91425" tIns="0" rIns="91425" bIns="0" anchor="t" anchorCtr="0">
            <a:sp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9pPr>
          </a:lstStyle>
          <a:p>
            <a:pPr marL="0" indent="0" algn="l"/>
            <a:r>
              <a:rPr lang="en-GB" sz="2000" dirty="0" err="1">
                <a:solidFill>
                  <a:schemeClr val="lt1"/>
                </a:solidFill>
                <a:latin typeface="Montserrat" panose="00000500000000000000" pitchFamily="2" charset="0"/>
                <a:ea typeface="Lato"/>
                <a:cs typeface="Lato"/>
                <a:sym typeface="Lato"/>
              </a:rPr>
              <a:t>Pojmovi koje danas koristimo kao alat</a:t>
            </a:r>
            <a:endParaRPr lang="en-GB" sz="2000" dirty="0">
              <a:solidFill>
                <a:schemeClr val="lt1"/>
              </a:solidFill>
              <a:latin typeface="Montserrat" panose="00000500000000000000" pitchFamily="2" charset="0"/>
              <a:ea typeface="Lato"/>
              <a:cs typeface="Lato"/>
              <a:sym typeface="Lato"/>
            </a:endParaRPr>
          </a:p>
        </p:txBody>
      </p:sp>
      <p:sp>
        <p:nvSpPr>
          <p:cNvPr id="25" name="_text_item_1">
            <a:extLst>
              <a:ext uri="{FF2B5EF4-FFF2-40B4-BE49-F238E27FC236}">
                <a16:creationId xmlns:a16="http://schemas.microsoft.com/office/drawing/2014/main" id="{2BF3604B-6E06-8A69-5835-2EFCDC54DD14}"/>
              </a:ext>
            </a:extLst>
          </p:cNvPr>
          <p:cNvSpPr txBox="1"/>
          <p:nvPr/>
        </p:nvSpPr>
        <p:spPr>
          <a:xfrm>
            <a:off x="5134484" y="1826910"/>
            <a:ext cx="3594649" cy="335769"/>
          </a:xfrm>
          <a:prstGeom prst="rect">
            <a:avLst/>
          </a:prstGeom>
          <a:noFill/>
          <a:ln>
            <a:noFill/>
          </a:ln>
        </p:spPr>
        <p:txBody>
          <a:bodyPr spcFirstLastPara="1" wrap="square" lIns="91425" tIns="0" rIns="91425" bIns="0" anchor="ctr" anchorCtr="0">
            <a:noAutofit/>
          </a:bodyPr>
          <a:lstStyle/>
          <a:p>
            <a:pPr marL="0" lvl="0" indent="0" rtl="0">
              <a:spcBef>
                <a:spcPts val="0"/>
              </a:spcBef>
              <a:spcAft>
                <a:spcPts val="0"/>
              </a:spcAft>
              <a:buNone/>
            </a:pPr>
            <a:r>
              <a:rPr lang="sr" sz="1600" dirty="0">
                <a:solidFill>
                  <a:schemeClr val="lt1">
                    <a:alpha val="90000"/>
                  </a:schemeClr>
                </a:solidFill>
                <a:latin typeface="Montserrat Black" panose="00000A00000000000000" pitchFamily="2" charset="0"/>
                <a:ea typeface="Montserrat Black"/>
                <a:cs typeface="Montserrat Black"/>
                <a:sym typeface="Montserrat Black"/>
              </a:rPr>
              <a:t>Korpus</a:t>
            </a:r>
            <a:endParaRPr sz="1600" dirty="0">
              <a:solidFill>
                <a:schemeClr val="lt1">
                  <a:alpha val="90000"/>
                </a:schemeClr>
              </a:solidFill>
              <a:latin typeface="Montserrat Black" panose="00000A00000000000000" pitchFamily="2" charset="0"/>
              <a:ea typeface="Montserrat Black"/>
              <a:cs typeface="Montserrat Black"/>
              <a:sym typeface="Montserrat Black"/>
            </a:endParaRPr>
          </a:p>
        </p:txBody>
      </p:sp>
      <p:sp>
        <p:nvSpPr>
          <p:cNvPr id="27" name="_img_bullet_1">
            <a:extLst>
              <a:ext uri="{FF2B5EF4-FFF2-40B4-BE49-F238E27FC236}">
                <a16:creationId xmlns:a16="http://schemas.microsoft.com/office/drawing/2014/main" id="{6215C57A-7AE1-272D-49F6-6BA47CA585B7}"/>
              </a:ext>
            </a:extLst>
          </p:cNvPr>
          <p:cNvSpPr/>
          <p:nvPr/>
        </p:nvSpPr>
        <p:spPr>
          <a:xfrm>
            <a:off x="4779434" y="1876383"/>
            <a:ext cx="230470" cy="239992"/>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solidFill>
          <a:ln w="9525" cap="flat">
            <a:noFill/>
            <a:prstDash val="solid"/>
            <a:miter/>
          </a:ln>
        </p:spPr>
        <p:txBody>
          <a:bodyPr/>
          <a:lstStyle/>
          <a:p>
            <a:endParaRPr lang="en-GB"/>
          </a:p>
        </p:txBody>
      </p:sp>
      <p:sp>
        <p:nvSpPr>
          <p:cNvPr id="29" name="_text_item_2">
            <a:extLst>
              <a:ext uri="{FF2B5EF4-FFF2-40B4-BE49-F238E27FC236}">
                <a16:creationId xmlns:a16="http://schemas.microsoft.com/office/drawing/2014/main" id="{13D0246B-410E-37C0-37A0-8693BC5BB1DA}"/>
              </a:ext>
            </a:extLst>
          </p:cNvPr>
          <p:cNvSpPr txBox="1"/>
          <p:nvPr/>
        </p:nvSpPr>
        <p:spPr>
          <a:xfrm>
            <a:off x="5134484" y="2320179"/>
            <a:ext cx="3594649" cy="335769"/>
          </a:xfrm>
          <a:prstGeom prst="rect">
            <a:avLst/>
          </a:prstGeom>
          <a:noFill/>
          <a:ln>
            <a:noFill/>
          </a:ln>
        </p:spPr>
        <p:txBody>
          <a:bodyPr spcFirstLastPara="1" wrap="square" lIns="91425" tIns="0" rIns="91425" bIns="0" anchor="ctr" anchorCtr="0">
            <a:noAutofit/>
          </a:bodyPr>
          <a:lstStyle/>
          <a:p>
            <a:pPr marL="0" lvl="0" indent="0" rtl="0">
              <a:spcBef>
                <a:spcPts val="0"/>
              </a:spcBef>
              <a:spcAft>
                <a:spcPts val="0"/>
              </a:spcAft>
              <a:buNone/>
            </a:pPr>
            <a:r>
              <a:rPr lang="sr" sz="1600" dirty="0">
                <a:solidFill>
                  <a:schemeClr val="lt1">
                    <a:alpha val="90000"/>
                  </a:schemeClr>
                </a:solidFill>
                <a:latin typeface="Montserrat Black" panose="00000A00000000000000" pitchFamily="2" charset="0"/>
                <a:ea typeface="Montserrat Black"/>
                <a:cs typeface="Montserrat Black"/>
                <a:sym typeface="Montserrat Black"/>
              </a:rPr>
              <a:t>Chunk i chunk ID</a:t>
            </a:r>
            <a:endParaRPr sz="1600" dirty="0">
              <a:solidFill>
                <a:schemeClr val="lt1">
                  <a:alpha val="90000"/>
                </a:schemeClr>
              </a:solidFill>
              <a:latin typeface="Montserrat Black" panose="00000A00000000000000" pitchFamily="2" charset="0"/>
              <a:ea typeface="Montserrat Black"/>
              <a:cs typeface="Montserrat Black"/>
              <a:sym typeface="Montserrat Black"/>
            </a:endParaRPr>
          </a:p>
        </p:txBody>
      </p:sp>
      <p:sp>
        <p:nvSpPr>
          <p:cNvPr id="31" name="_img_bullet_2">
            <a:extLst>
              <a:ext uri="{FF2B5EF4-FFF2-40B4-BE49-F238E27FC236}">
                <a16:creationId xmlns:a16="http://schemas.microsoft.com/office/drawing/2014/main" id="{B96B7868-1BC5-02B4-C8D1-A66D905EA564}"/>
              </a:ext>
            </a:extLst>
          </p:cNvPr>
          <p:cNvSpPr/>
          <p:nvPr/>
        </p:nvSpPr>
        <p:spPr>
          <a:xfrm>
            <a:off x="4779434" y="2369652"/>
            <a:ext cx="230470" cy="239992"/>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solidFill>
          <a:ln w="9525" cap="flat">
            <a:noFill/>
            <a:prstDash val="solid"/>
            <a:miter/>
          </a:ln>
        </p:spPr>
        <p:txBody>
          <a:bodyPr/>
          <a:lstStyle/>
          <a:p>
            <a:endParaRPr lang="en-GB"/>
          </a:p>
        </p:txBody>
      </p:sp>
      <p:sp>
        <p:nvSpPr>
          <p:cNvPr id="33" name="_text_item_3">
            <a:extLst>
              <a:ext uri="{FF2B5EF4-FFF2-40B4-BE49-F238E27FC236}">
                <a16:creationId xmlns:a16="http://schemas.microsoft.com/office/drawing/2014/main" id="{D47BD6A9-BD46-9248-E90E-D88BC9630088}"/>
              </a:ext>
            </a:extLst>
          </p:cNvPr>
          <p:cNvSpPr txBox="1"/>
          <p:nvPr/>
        </p:nvSpPr>
        <p:spPr>
          <a:xfrm>
            <a:off x="5134484" y="2813448"/>
            <a:ext cx="3594649" cy="344275"/>
          </a:xfrm>
          <a:prstGeom prst="rect">
            <a:avLst/>
          </a:prstGeom>
          <a:noFill/>
          <a:ln>
            <a:noFill/>
          </a:ln>
        </p:spPr>
        <p:txBody>
          <a:bodyPr spcFirstLastPara="1" wrap="square" lIns="91425" tIns="0" rIns="91425" bIns="0" anchor="ctr" anchorCtr="0">
            <a:noAutofit/>
          </a:bodyPr>
          <a:lstStyle/>
          <a:p>
            <a:pPr marL="0" lvl="0" indent="0" rtl="0">
              <a:spcBef>
                <a:spcPts val="0"/>
              </a:spcBef>
              <a:spcAft>
                <a:spcPts val="0"/>
              </a:spcAft>
              <a:buNone/>
            </a:pPr>
            <a:r>
              <a:rPr lang="sr" sz="1600" dirty="0">
                <a:solidFill>
                  <a:schemeClr val="lt1">
                    <a:alpha val="90000"/>
                  </a:schemeClr>
                </a:solidFill>
                <a:latin typeface="Montserrat Black" panose="00000A00000000000000" pitchFamily="2" charset="0"/>
                <a:ea typeface="Montserrat Black"/>
                <a:cs typeface="Montserrat Black"/>
                <a:sym typeface="Montserrat Black"/>
              </a:rPr>
              <a:t>Retrieval i top-k</a:t>
            </a:r>
            <a:endParaRPr sz="1600" dirty="0">
              <a:solidFill>
                <a:schemeClr val="lt1">
                  <a:alpha val="90000"/>
                </a:schemeClr>
              </a:solidFill>
              <a:latin typeface="Montserrat Black" panose="00000A00000000000000" pitchFamily="2" charset="0"/>
              <a:ea typeface="Montserrat Black"/>
              <a:cs typeface="Montserrat Black"/>
              <a:sym typeface="Montserrat Black"/>
            </a:endParaRPr>
          </a:p>
        </p:txBody>
      </p:sp>
      <p:sp>
        <p:nvSpPr>
          <p:cNvPr id="35" name="_img_bullet_3">
            <a:extLst>
              <a:ext uri="{FF2B5EF4-FFF2-40B4-BE49-F238E27FC236}">
                <a16:creationId xmlns:a16="http://schemas.microsoft.com/office/drawing/2014/main" id="{8FA00B31-B49D-8325-0ADF-ED44C9A7A0E1}"/>
              </a:ext>
            </a:extLst>
          </p:cNvPr>
          <p:cNvSpPr/>
          <p:nvPr/>
        </p:nvSpPr>
        <p:spPr>
          <a:xfrm>
            <a:off x="4779434" y="2866090"/>
            <a:ext cx="230470" cy="239992"/>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solidFill>
          <a:ln w="9525" cap="flat">
            <a:noFill/>
            <a:prstDash val="solid"/>
            <a:miter/>
          </a:ln>
        </p:spPr>
        <p:txBody>
          <a:bodyPr/>
          <a:lstStyle/>
          <a:p>
            <a:endParaRPr lang="en-GB"/>
          </a:p>
        </p:txBody>
      </p:sp>
      <p:sp>
        <p:nvSpPr>
          <p:cNvPr id="37" name="_text_item_4">
            <a:extLst>
              <a:ext uri="{FF2B5EF4-FFF2-40B4-BE49-F238E27FC236}">
                <a16:creationId xmlns:a16="http://schemas.microsoft.com/office/drawing/2014/main" id="{273220C5-22EE-8022-F39D-A4557C1CFEF8}"/>
              </a:ext>
            </a:extLst>
          </p:cNvPr>
          <p:cNvSpPr txBox="1"/>
          <p:nvPr/>
        </p:nvSpPr>
        <p:spPr>
          <a:xfrm>
            <a:off x="5134484" y="3315223"/>
            <a:ext cx="3594649" cy="344275"/>
          </a:xfrm>
          <a:prstGeom prst="rect">
            <a:avLst/>
          </a:prstGeom>
          <a:noFill/>
          <a:ln>
            <a:noFill/>
          </a:ln>
        </p:spPr>
        <p:txBody>
          <a:bodyPr spcFirstLastPara="1" wrap="square" lIns="91425" tIns="0" rIns="91425" bIns="0" anchor="ctr" anchorCtr="0">
            <a:noAutofit/>
          </a:bodyPr>
          <a:lstStyle/>
          <a:p>
            <a:pPr marL="0" lvl="0" indent="0" rtl="0">
              <a:spcBef>
                <a:spcPts val="0"/>
              </a:spcBef>
              <a:spcAft>
                <a:spcPts val="0"/>
              </a:spcAft>
              <a:buNone/>
            </a:pPr>
            <a:r>
              <a:rPr lang="sr" sz="1600" dirty="0">
                <a:solidFill>
                  <a:schemeClr val="lt1">
                    <a:alpha val="90000"/>
                  </a:schemeClr>
                </a:solidFill>
                <a:latin typeface="Montserrat Black" panose="00000A00000000000000" pitchFamily="2" charset="0"/>
                <a:ea typeface="Montserrat Black"/>
                <a:cs typeface="Montserrat Black"/>
                <a:sym typeface="Montserrat Black"/>
              </a:rPr>
              <a:t>Citat</a:t>
            </a:r>
            <a:endParaRPr sz="1600" dirty="0">
              <a:solidFill>
                <a:schemeClr val="lt1">
                  <a:alpha val="90000"/>
                </a:schemeClr>
              </a:solidFill>
              <a:latin typeface="Montserrat Black" panose="00000A00000000000000" pitchFamily="2" charset="0"/>
              <a:ea typeface="Montserrat Black"/>
              <a:cs typeface="Montserrat Black"/>
              <a:sym typeface="Montserrat Black"/>
            </a:endParaRPr>
          </a:p>
        </p:txBody>
      </p:sp>
      <p:sp>
        <p:nvSpPr>
          <p:cNvPr id="39" name="_img_bullet_4">
            <a:extLst>
              <a:ext uri="{FF2B5EF4-FFF2-40B4-BE49-F238E27FC236}">
                <a16:creationId xmlns:a16="http://schemas.microsoft.com/office/drawing/2014/main" id="{CCA9E342-3767-225B-CFC9-3615DB0D12D6}"/>
              </a:ext>
            </a:extLst>
          </p:cNvPr>
          <p:cNvSpPr/>
          <p:nvPr/>
        </p:nvSpPr>
        <p:spPr>
          <a:xfrm>
            <a:off x="4779434" y="3367865"/>
            <a:ext cx="230470" cy="239992"/>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solidFill>
          <a:ln w="9525" cap="flat">
            <a:noFill/>
            <a:prstDash val="solid"/>
            <a:miter/>
          </a:ln>
        </p:spPr>
        <p:txBody>
          <a:bodyPr/>
          <a:lstStyle/>
          <a:p>
            <a:endParaRPr lang="en-GB"/>
          </a:p>
        </p:txBody>
      </p:sp>
      <p:sp>
        <p:nvSpPr>
          <p:cNvPr id="41" name="_text_item_5">
            <a:extLst>
              <a:ext uri="{FF2B5EF4-FFF2-40B4-BE49-F238E27FC236}">
                <a16:creationId xmlns:a16="http://schemas.microsoft.com/office/drawing/2014/main" id="{40575A9C-C3BC-A462-BDF0-5A07A92FAD59}"/>
              </a:ext>
            </a:extLst>
          </p:cNvPr>
          <p:cNvSpPr txBox="1"/>
          <p:nvPr/>
        </p:nvSpPr>
        <p:spPr>
          <a:xfrm>
            <a:off x="5134484" y="3816998"/>
            <a:ext cx="3594649" cy="344275"/>
          </a:xfrm>
          <a:prstGeom prst="rect">
            <a:avLst/>
          </a:prstGeom>
          <a:noFill/>
          <a:ln>
            <a:noFill/>
          </a:ln>
        </p:spPr>
        <p:txBody>
          <a:bodyPr spcFirstLastPara="1" wrap="square" lIns="91425" tIns="0" rIns="91425" bIns="0" anchor="ctr" anchorCtr="0">
            <a:noAutofit/>
          </a:bodyPr>
          <a:lstStyle/>
          <a:p>
            <a:pPr marL="0" lvl="0" indent="0" rtl="0">
              <a:spcBef>
                <a:spcPts val="0"/>
              </a:spcBef>
              <a:spcAft>
                <a:spcPts val="0"/>
              </a:spcAft>
              <a:buNone/>
            </a:pPr>
            <a:r>
              <a:rPr lang="sr" sz="1600" dirty="0">
                <a:solidFill>
                  <a:schemeClr val="lt1">
                    <a:alpha val="90000"/>
                  </a:schemeClr>
                </a:solidFill>
                <a:latin typeface="Montserrat Black" panose="00000A00000000000000" pitchFamily="2" charset="0"/>
                <a:ea typeface="Montserrat Black"/>
                <a:cs typeface="Montserrat Black"/>
                <a:sym typeface="Montserrat Black"/>
              </a:rPr>
              <a:t>Odbijanje</a:t>
            </a:r>
            <a:endParaRPr sz="1600" dirty="0">
              <a:solidFill>
                <a:schemeClr val="lt1">
                  <a:alpha val="90000"/>
                </a:schemeClr>
              </a:solidFill>
              <a:latin typeface="Montserrat Black" panose="00000A00000000000000" pitchFamily="2" charset="0"/>
              <a:ea typeface="Montserrat Black"/>
              <a:cs typeface="Montserrat Black"/>
              <a:sym typeface="Montserrat Black"/>
            </a:endParaRPr>
          </a:p>
        </p:txBody>
      </p:sp>
      <p:sp>
        <p:nvSpPr>
          <p:cNvPr id="43" name="_img_bullet_5">
            <a:extLst>
              <a:ext uri="{FF2B5EF4-FFF2-40B4-BE49-F238E27FC236}">
                <a16:creationId xmlns:a16="http://schemas.microsoft.com/office/drawing/2014/main" id="{88E2A4B8-5381-9AC7-921F-7F90CD52B012}"/>
              </a:ext>
            </a:extLst>
          </p:cNvPr>
          <p:cNvSpPr/>
          <p:nvPr/>
        </p:nvSpPr>
        <p:spPr>
          <a:xfrm>
            <a:off x="4779434" y="3869640"/>
            <a:ext cx="230470" cy="239992"/>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solidFill>
          <a:ln w="9525" cap="flat">
            <a:noFill/>
            <a:prstDash val="solid"/>
            <a:miter/>
          </a:ln>
        </p:spPr>
        <p:txBody>
          <a:bodyPr/>
          <a:lstStyle/>
          <a:p>
            <a:endParaRPr lang="en-GB"/>
          </a:p>
        </p:txBody>
      </p:sp>
      <p:sp>
        <p:nvSpPr>
          <p:cNvPr id="49" name="_text_main_content">
            <a:extLst>
              <a:ext uri="{FF2B5EF4-FFF2-40B4-BE49-F238E27FC236}">
                <a16:creationId xmlns:a16="http://schemas.microsoft.com/office/drawing/2014/main" id="{9CD26AB8-6295-70AF-8BAB-EE4D1C2211AA}"/>
              </a:ext>
            </a:extLst>
          </p:cNvPr>
          <p:cNvSpPr txBox="1"/>
          <p:nvPr/>
        </p:nvSpPr>
        <p:spPr>
          <a:xfrm>
            <a:off x="589500" y="1648741"/>
            <a:ext cx="3982500" cy="2605811"/>
          </a:xfrm>
          <a:prstGeom prst="rect">
            <a:avLst/>
          </a:prstGeom>
          <a:noFill/>
          <a:ln>
            <a:noFill/>
          </a:ln>
        </p:spPr>
        <p:txBody>
          <a:bodyPr spcFirstLastPara="1" wrap="square" lIns="91425" tIns="91425" rIns="360000" bIns="91425" anchor="t" anchorCtr="0">
            <a:spAutoFit/>
          </a:bodyPr>
          <a:lstStyle/>
          <a:p>
            <a:pPr marL="0" lvl="0" indent="0" algn="l" rtl="0">
              <a:spcBef>
                <a:spcPts val="0"/>
              </a:spcBef>
              <a:spcAft>
                <a:spcPts val="800"/>
              </a:spcAft>
              <a:buNone/>
            </a:pPr>
            <a:r>
              <a:rPr lang="sr" sz="1200" dirty="0">
                <a:solidFill>
                  <a:srgbClr val="D1E2ED"/>
                </a:solidFill>
                <a:latin typeface="Lato"/>
                <a:ea typeface="Lato"/>
                <a:cs typeface="Lato"/>
                <a:sym typeface="Lato"/>
              </a:rPr>
              <a:t>Korpus je skup dokumenata nad kojima sistem sme da odgovara. Chunk je deo dokumenta sa sopstvenim ID-jem. Retrieval vraća top-k chunk-ova sa ocenom. Citat povezuje tvrdnju sa chunk-om. Odbijanje je ispravno kada dokaz nedostaje. Danas ih koristimo za dijagnozu.</a:t>
            </a:r>
            <a:endParaRPr sz="1200" dirty="0">
              <a:solidFill>
                <a:srgbClr val="D1E2ED"/>
              </a:solidFill>
              <a:latin typeface="Lato"/>
              <a:ea typeface="Lato"/>
              <a:cs typeface="Lato"/>
              <a:sym typeface="Lato"/>
            </a:endParaRPr>
          </a:p>
        </p:txBody>
      </p:sp>
      <p:pic>
        <p:nvPicPr>
          <p:cNvPr id="50" name="_image_small_company_logo" descr="EPAM"/>
          <p:cNvPicPr>
            <a:picLocks noChangeAspect="1"/>
          </p:cNvPicPr>
          <p:nvPr/>
        </p:nvPicPr>
        <p:blipFill>
          <a:blip r:embed="rId4"/>
          <a:stretch>
            <a:fillRect/>
          </a:stretch>
        </p:blipFill>
        <p:spPr>
          <a:xfrm>
            <a:off x="490324" y="344427"/>
            <a:ext cx="504923" cy="177800"/>
          </a:xfrm>
          <a:prstGeom prst="rect">
            <a:avLst/>
          </a:prstGeom>
        </p:spPr>
      </p:pic>
      <p:sp>
        <p:nvSpPr>
          <p:cNvPr id="47" name="_text_section">
            <a:extLst>
              <a:ext uri="{FF2B5EF4-FFF2-40B4-BE49-F238E27FC236}">
                <a16:creationId xmlns:a16="http://schemas.microsoft.com/office/drawing/2014/main" id="{7B42A645-2990-3E2F-79CB-7F037CAC30AE}"/>
              </a:ext>
            </a:extLst>
          </p:cNvPr>
          <p:cNvSpPr txBox="1">
            <a:spLocks/>
          </p:cNvSpPr>
          <p:nvPr/>
        </p:nvSpPr>
        <p:spPr>
          <a:xfrm>
            <a:off x="5927725" y="4663806"/>
            <a:ext cx="2564917" cy="15388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9pPr>
          </a:lstStyle>
          <a:p>
            <a:pPr marL="0" indent="0" algn="r"/>
            <a:r>
              <a:rPr lang="sr-Latn-RS" sz="1000" dirty="0">
                <a:solidFill>
                  <a:schemeClr val="lt1"/>
                </a:solidFill>
                <a:latin typeface="Lato"/>
                <a:ea typeface="Lato"/>
                <a:cs typeface="Lato"/>
                <a:sym typeface="Lato"/>
              </a:rPr>
              <a:t>Uvod</a:t>
            </a:r>
            <a:endParaRPr lang="en-GB" sz="1000" dirty="0">
              <a:solidFill>
                <a:schemeClr val="lt1"/>
              </a:solidFill>
              <a:latin typeface="Lato"/>
              <a:ea typeface="Lato"/>
              <a:cs typeface="Lato"/>
              <a:sym typeface="Lato"/>
            </a:endParaRPr>
          </a:p>
        </p:txBody>
      </p:sp>
      <p:sp>
        <p:nvSpPr>
          <p:cNvPr id="45" name="_text_page">
            <a:extLst>
              <a:ext uri="{FF2B5EF4-FFF2-40B4-BE49-F238E27FC236}">
                <a16:creationId xmlns:a16="http://schemas.microsoft.com/office/drawing/2014/main" id="{51A1F65A-7AB2-6F31-7EDA-F277BE44D479}"/>
              </a:ext>
            </a:extLst>
          </p:cNvPr>
          <p:cNvSpPr txBox="1"/>
          <p:nvPr/>
        </p:nvSpPr>
        <p:spPr>
          <a:xfrm>
            <a:off x="8492643" y="4500000"/>
            <a:ext cx="469800" cy="481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800" dirty="0">
                <a:solidFill>
                  <a:schemeClr val="lt1"/>
                </a:solidFill>
                <a:latin typeface="Montserrat"/>
                <a:ea typeface="Montserrat"/>
                <a:cs typeface="Montserrat"/>
                <a:sym typeface="Montserrat"/>
              </a:rPr>
              <a:t>5</a:t>
            </a:r>
            <a:endParaRPr sz="1800" dirty="0">
              <a:solidFill>
                <a:schemeClr val="lt1"/>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9000" r="-29000"/>
          </a:stretch>
        </a:blip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CCEE615A-F458-2EA3-D615-19C3FED6FB9A}"/>
              </a:ext>
            </a:extLst>
          </p:cNvPr>
          <p:cNvSpPr/>
          <p:nvPr/>
        </p:nvSpPr>
        <p:spPr>
          <a:xfrm>
            <a:off x="2717800" y="0"/>
            <a:ext cx="6426201" cy="5143500"/>
          </a:xfrm>
          <a:custGeom>
            <a:avLst/>
            <a:gdLst>
              <a:gd name="csX0" fmla="*/ 905383 w 6426201"/>
              <a:gd name="csY0" fmla="*/ 0 h 5143500"/>
              <a:gd name="csX1" fmla="*/ 2497177 w 6426201"/>
              <a:gd name="csY1" fmla="*/ 0 h 5143500"/>
              <a:gd name="csX2" fmla="*/ 2467862 w 6426201"/>
              <a:gd name="csY2" fmla="*/ 35902 h 5143500"/>
              <a:gd name="csX3" fmla="*/ 2503842 w 6426201"/>
              <a:gd name="csY3" fmla="*/ 389331 h 5143500"/>
              <a:gd name="csX4" fmla="*/ 2901337 w 6426201"/>
              <a:gd name="csY4" fmla="*/ 389331 h 5143500"/>
              <a:gd name="csX5" fmla="*/ 3290630 w 6426201"/>
              <a:gd name="csY5" fmla="*/ 0 h 5143500"/>
              <a:gd name="csX6" fmla="*/ 4880482 w 6426201"/>
              <a:gd name="csY6" fmla="*/ 0 h 5143500"/>
              <a:gd name="csX7" fmla="*/ 1758651 w 6426201"/>
              <a:gd name="csY7" fmla="*/ 3121695 h 5143500"/>
              <a:gd name="csX8" fmla="*/ 1758651 w 6426201"/>
              <a:gd name="csY8" fmla="*/ 3519191 h 5143500"/>
              <a:gd name="csX9" fmla="*/ 2156147 w 6426201"/>
              <a:gd name="csY9" fmla="*/ 3519191 h 5143500"/>
              <a:gd name="csX10" fmla="*/ 5675617 w 6426201"/>
              <a:gd name="csY10" fmla="*/ 0 h 5143500"/>
              <a:gd name="csX11" fmla="*/ 6426201 w 6426201"/>
              <a:gd name="csY11" fmla="*/ 0 h 5143500"/>
              <a:gd name="csX12" fmla="*/ 6426201 w 6426201"/>
              <a:gd name="csY12" fmla="*/ 841724 h 5143500"/>
              <a:gd name="csX13" fmla="*/ 6399107 w 6426201"/>
              <a:gd name="csY13" fmla="*/ 874906 h 5143500"/>
              <a:gd name="csX14" fmla="*/ 6399107 w 6426201"/>
              <a:gd name="csY14" fmla="*/ 1184271 h 5143500"/>
              <a:gd name="csX15" fmla="*/ 6426201 w 6426201"/>
              <a:gd name="csY15" fmla="*/ 1217454 h 5143500"/>
              <a:gd name="csX16" fmla="*/ 6426201 w 6426201"/>
              <a:gd name="csY16" fmla="*/ 3224795 h 5143500"/>
              <a:gd name="csX17" fmla="*/ 5698729 w 6426201"/>
              <a:gd name="csY17" fmla="*/ 3952325 h 5143500"/>
              <a:gd name="csX18" fmla="*/ 5698729 w 6426201"/>
              <a:gd name="csY18" fmla="*/ 4349820 h 5143500"/>
              <a:gd name="csX19" fmla="*/ 6096226 w 6426201"/>
              <a:gd name="csY19" fmla="*/ 4349820 h 5143500"/>
              <a:gd name="csX20" fmla="*/ 6426201 w 6426201"/>
              <a:gd name="csY20" fmla="*/ 4019844 h 5143500"/>
              <a:gd name="csX21" fmla="*/ 6426201 w 6426201"/>
              <a:gd name="csY21" fmla="*/ 5143500 h 5143500"/>
              <a:gd name="csX22" fmla="*/ 5302181 w 6426201"/>
              <a:gd name="csY22" fmla="*/ 5143500 h 5143500"/>
              <a:gd name="csX23" fmla="*/ 5337216 w 6426201"/>
              <a:gd name="csY23" fmla="*/ 5100594 h 5143500"/>
              <a:gd name="csX24" fmla="*/ 5301235 w 6426201"/>
              <a:gd name="csY24" fmla="*/ 4747164 h 5143500"/>
              <a:gd name="csX25" fmla="*/ 4903739 w 6426201"/>
              <a:gd name="csY25" fmla="*/ 4747164 h 5143500"/>
              <a:gd name="csX26" fmla="*/ 4507404 w 6426201"/>
              <a:gd name="csY26" fmla="*/ 5143500 h 5143500"/>
              <a:gd name="csX27" fmla="*/ 2917405 w 6426201"/>
              <a:gd name="csY27" fmla="*/ 5143500 h 5143500"/>
              <a:gd name="csX28" fmla="*/ 6037591 w 6426201"/>
              <a:gd name="csY28" fmla="*/ 2023176 h 5143500"/>
              <a:gd name="csX29" fmla="*/ 6037591 w 6426201"/>
              <a:gd name="csY29" fmla="*/ 1625681 h 5143500"/>
              <a:gd name="csX30" fmla="*/ 5640096 w 6426201"/>
              <a:gd name="csY30" fmla="*/ 1625681 h 5143500"/>
              <a:gd name="csX31" fmla="*/ 2121855 w 6426201"/>
              <a:gd name="csY31" fmla="*/ 5143500 h 5143500"/>
              <a:gd name="csX32" fmla="*/ 896983 w 6426201"/>
              <a:gd name="csY32" fmla="*/ 5143500 h 5143500"/>
              <a:gd name="csX33" fmla="*/ 893618 w 6426201"/>
              <a:gd name="csY33" fmla="*/ 5132153 h 5143500"/>
              <a:gd name="csX34" fmla="*/ 1048034 w 6426201"/>
              <a:gd name="csY34" fmla="*/ 4627306 h 5143500"/>
              <a:gd name="csX35" fmla="*/ 1361157 w 6426201"/>
              <a:gd name="csY35" fmla="*/ 4314183 h 5143500"/>
              <a:gd name="csX36" fmla="*/ 1361157 w 6426201"/>
              <a:gd name="csY36" fmla="*/ 3916686 h 5143500"/>
              <a:gd name="csX37" fmla="*/ 963661 w 6426201"/>
              <a:gd name="csY37" fmla="*/ 3916686 h 5143500"/>
              <a:gd name="csX38" fmla="*/ 959702 w 6426201"/>
              <a:gd name="csY38" fmla="*/ 3920647 h 5143500"/>
              <a:gd name="csX39" fmla="*/ 164711 w 6426201"/>
              <a:gd name="csY39" fmla="*/ 3920647 h 5143500"/>
              <a:gd name="csX40" fmla="*/ 164711 w 6426201"/>
              <a:gd name="csY40" fmla="*/ 3125656 h 5143500"/>
              <a:gd name="csX41" fmla="*/ 2106042 w 6426201"/>
              <a:gd name="csY41" fmla="*/ 1184171 h 5143500"/>
              <a:gd name="csX42" fmla="*/ 2106042 w 6426201"/>
              <a:gd name="csY42" fmla="*/ 786674 h 5143500"/>
              <a:gd name="csX43" fmla="*/ 1708546 w 6426201"/>
              <a:gd name="csY43" fmla="*/ 786674 h 5143500"/>
              <a:gd name="csX44" fmla="*/ 1326585 w 6426201"/>
              <a:gd name="csY44" fmla="*/ 1168636 h 5143500"/>
              <a:gd name="csX45" fmla="*/ 531594 w 6426201"/>
              <a:gd name="csY45" fmla="*/ 1168636 h 5143500"/>
              <a:gd name="csX46" fmla="*/ 531594 w 6426201"/>
              <a:gd name="csY46" fmla="*/ 373644 h 514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426201" h="5143500">
                <a:moveTo>
                  <a:pt x="905383" y="0"/>
                </a:moveTo>
                <a:lnTo>
                  <a:pt x="2497177" y="0"/>
                </a:lnTo>
                <a:lnTo>
                  <a:pt x="2467862" y="35902"/>
                </a:lnTo>
                <a:cubicBezTo>
                  <a:pt x="2395902" y="144966"/>
                  <a:pt x="2407895" y="293384"/>
                  <a:pt x="2503842" y="389331"/>
                </a:cubicBezTo>
                <a:cubicBezTo>
                  <a:pt x="2613496" y="498985"/>
                  <a:pt x="2791683" y="498985"/>
                  <a:pt x="2901337" y="389331"/>
                </a:cubicBezTo>
                <a:lnTo>
                  <a:pt x="3290630" y="0"/>
                </a:lnTo>
                <a:lnTo>
                  <a:pt x="4880482" y="0"/>
                </a:lnTo>
                <a:lnTo>
                  <a:pt x="1758651" y="3121695"/>
                </a:lnTo>
                <a:cubicBezTo>
                  <a:pt x="1648997" y="3231349"/>
                  <a:pt x="1648997" y="3409537"/>
                  <a:pt x="1758651" y="3519191"/>
                </a:cubicBezTo>
                <a:cubicBezTo>
                  <a:pt x="1868305" y="3628845"/>
                  <a:pt x="2046494" y="3628845"/>
                  <a:pt x="2156147" y="3519191"/>
                </a:cubicBezTo>
                <a:lnTo>
                  <a:pt x="5675617" y="0"/>
                </a:lnTo>
                <a:lnTo>
                  <a:pt x="6426201" y="0"/>
                </a:lnTo>
                <a:lnTo>
                  <a:pt x="6426201" y="841724"/>
                </a:lnTo>
                <a:lnTo>
                  <a:pt x="6399107" y="874906"/>
                </a:lnTo>
                <a:cubicBezTo>
                  <a:pt x="6337426" y="968391"/>
                  <a:pt x="6337426" y="1090787"/>
                  <a:pt x="6399107" y="1184271"/>
                </a:cubicBezTo>
                <a:lnTo>
                  <a:pt x="6426201" y="1217454"/>
                </a:lnTo>
                <a:lnTo>
                  <a:pt x="6426201" y="3224795"/>
                </a:lnTo>
                <a:lnTo>
                  <a:pt x="5698729" y="3952325"/>
                </a:lnTo>
                <a:cubicBezTo>
                  <a:pt x="5589076" y="4061979"/>
                  <a:pt x="5589076" y="4240166"/>
                  <a:pt x="5698729" y="4349820"/>
                </a:cubicBezTo>
                <a:cubicBezTo>
                  <a:pt x="5808383" y="4459475"/>
                  <a:pt x="5986572" y="4459475"/>
                  <a:pt x="6096226" y="4349820"/>
                </a:cubicBezTo>
                <a:lnTo>
                  <a:pt x="6426201" y="4019844"/>
                </a:lnTo>
                <a:lnTo>
                  <a:pt x="6426201" y="5143500"/>
                </a:lnTo>
                <a:lnTo>
                  <a:pt x="5302181" y="5143500"/>
                </a:lnTo>
                <a:lnTo>
                  <a:pt x="5337216" y="5100594"/>
                </a:lnTo>
                <a:cubicBezTo>
                  <a:pt x="5409176" y="4991529"/>
                  <a:pt x="5397183" y="4843112"/>
                  <a:pt x="5301235" y="4747164"/>
                </a:cubicBezTo>
                <a:cubicBezTo>
                  <a:pt x="5191581" y="4637510"/>
                  <a:pt x="5013393" y="4637510"/>
                  <a:pt x="4903739" y="4747164"/>
                </a:cubicBezTo>
                <a:lnTo>
                  <a:pt x="4507404" y="5143500"/>
                </a:lnTo>
                <a:lnTo>
                  <a:pt x="2917405" y="5143500"/>
                </a:lnTo>
                <a:lnTo>
                  <a:pt x="6037591" y="2023176"/>
                </a:lnTo>
                <a:cubicBezTo>
                  <a:pt x="6147246" y="1913522"/>
                  <a:pt x="6147246" y="1735335"/>
                  <a:pt x="6037591" y="1625681"/>
                </a:cubicBezTo>
                <a:cubicBezTo>
                  <a:pt x="5927938" y="1516027"/>
                  <a:pt x="5749749" y="1516027"/>
                  <a:pt x="5640096" y="1625681"/>
                </a:cubicBezTo>
                <a:lnTo>
                  <a:pt x="2121855" y="5143500"/>
                </a:lnTo>
                <a:lnTo>
                  <a:pt x="896983" y="5143500"/>
                </a:lnTo>
                <a:lnTo>
                  <a:pt x="893618" y="5132153"/>
                </a:lnTo>
                <a:cubicBezTo>
                  <a:pt x="859304" y="4955007"/>
                  <a:pt x="910776" y="4764564"/>
                  <a:pt x="1048034" y="4627306"/>
                </a:cubicBezTo>
                <a:lnTo>
                  <a:pt x="1361157" y="4314183"/>
                </a:lnTo>
                <a:cubicBezTo>
                  <a:pt x="1470811" y="4204529"/>
                  <a:pt x="1470811" y="4026342"/>
                  <a:pt x="1361157" y="3916686"/>
                </a:cubicBezTo>
                <a:cubicBezTo>
                  <a:pt x="1251503" y="3807032"/>
                  <a:pt x="1073314" y="3807032"/>
                  <a:pt x="963661" y="3916686"/>
                </a:cubicBezTo>
                <a:lnTo>
                  <a:pt x="959702" y="3920647"/>
                </a:lnTo>
                <a:cubicBezTo>
                  <a:pt x="740088" y="4140107"/>
                  <a:pt x="384322" y="4140107"/>
                  <a:pt x="164711" y="3920647"/>
                </a:cubicBezTo>
                <a:cubicBezTo>
                  <a:pt x="-54903" y="3701034"/>
                  <a:pt x="-54903" y="3345115"/>
                  <a:pt x="164711" y="3125656"/>
                </a:cubicBezTo>
                <a:lnTo>
                  <a:pt x="2106042" y="1184171"/>
                </a:lnTo>
                <a:cubicBezTo>
                  <a:pt x="2215696" y="1074517"/>
                  <a:pt x="2215696" y="896328"/>
                  <a:pt x="2106042" y="786674"/>
                </a:cubicBezTo>
                <a:cubicBezTo>
                  <a:pt x="1996388" y="677020"/>
                  <a:pt x="1818200" y="677020"/>
                  <a:pt x="1708546" y="786674"/>
                </a:cubicBezTo>
                <a:lnTo>
                  <a:pt x="1326585" y="1168636"/>
                </a:lnTo>
                <a:cubicBezTo>
                  <a:pt x="1106973" y="1388249"/>
                  <a:pt x="751207" y="1388249"/>
                  <a:pt x="531594" y="1168636"/>
                </a:cubicBezTo>
                <a:cubicBezTo>
                  <a:pt x="311983" y="949024"/>
                  <a:pt x="311983" y="593258"/>
                  <a:pt x="531594" y="373644"/>
                </a:cubicBezTo>
                <a:close/>
              </a:path>
            </a:pathLst>
          </a:custGeom>
          <a:solidFill>
            <a:srgbClr val="FFFF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5" name="_text_title">
            <a:extLst>
              <a:ext uri="{FF2B5EF4-FFF2-40B4-BE49-F238E27FC236}">
                <a16:creationId xmlns:a16="http://schemas.microsoft.com/office/drawing/2014/main" id="{9A9350D6-202F-DCA6-04C4-F3F8A523D648}"/>
              </a:ext>
            </a:extLst>
          </p:cNvPr>
          <p:cNvSpPr txBox="1">
            <a:spLocks noGrp="1"/>
          </p:cNvSpPr>
          <p:nvPr>
            <p:ph type="ctrTitle"/>
          </p:nvPr>
        </p:nvSpPr>
        <p:spPr>
          <a:xfrm>
            <a:off x="589500" y="724453"/>
            <a:ext cx="8402846" cy="430887"/>
          </a:xfrm>
          <a:prstGeom prst="rect">
            <a:avLst/>
          </a:prstGeom>
        </p:spPr>
        <p:txBody>
          <a:bodyPr spcFirstLastPara="1" wrap="square" lIns="91425" tIns="0" rIns="91425" bIns="0" anchor="b" anchorCtr="0">
            <a:spAutoFit/>
          </a:bodyPr>
          <a:lstStyle/>
          <a:p>
            <a:pPr marL="0" lvl="0" indent="0" algn="l" rtl="0">
              <a:spcBef>
                <a:spcPts val="0"/>
              </a:spcBef>
              <a:spcAft>
                <a:spcPts val="0"/>
              </a:spcAft>
              <a:buSzPts val="990"/>
              <a:buNone/>
            </a:pPr>
            <a:r>
              <a:rPr lang="sr" sz="2800" spc="-150" dirty="0">
                <a:solidFill>
                  <a:schemeClr val="lt1">
                    <a:alpha val="90000"/>
                  </a:schemeClr>
                </a:solidFill>
                <a:latin typeface="Montserrat Black" panose="00000A00000000000000" pitchFamily="2" charset="0"/>
                <a:ea typeface="Montserrat"/>
                <a:cs typeface="Montserrat"/>
                <a:sym typeface="Montserrat"/>
              </a:rPr>
              <a:t>Zašto „radi za moje pitanje“ nije dokaz</a:t>
            </a:r>
            <a:endParaRPr sz="2800" spc="-150" dirty="0">
              <a:solidFill>
                <a:schemeClr val="lt1">
                  <a:alpha val="90000"/>
                </a:schemeClr>
              </a:solidFill>
              <a:latin typeface="Montserrat Black" panose="00000A00000000000000" pitchFamily="2" charset="0"/>
              <a:ea typeface="Montserrat"/>
              <a:cs typeface="Montserrat"/>
              <a:sym typeface="Montserrat"/>
            </a:endParaRPr>
          </a:p>
        </p:txBody>
      </p:sp>
      <p:sp>
        <p:nvSpPr>
          <p:cNvPr id="76" name="_text_subtitle">
            <a:extLst>
              <a:ext uri="{FF2B5EF4-FFF2-40B4-BE49-F238E27FC236}">
                <a16:creationId xmlns:a16="http://schemas.microsoft.com/office/drawing/2014/main" id="{89B0C66B-98BD-4D0C-58A2-B37A07AD43A4}"/>
              </a:ext>
            </a:extLst>
          </p:cNvPr>
          <p:cNvSpPr txBox="1">
            <a:spLocks noGrp="1"/>
          </p:cNvSpPr>
          <p:nvPr>
            <p:ph type="subTitle" idx="1"/>
          </p:nvPr>
        </p:nvSpPr>
        <p:spPr>
          <a:xfrm>
            <a:off x="589500" y="1158219"/>
            <a:ext cx="8402846" cy="307777"/>
          </a:xfrm>
          <a:prstGeom prst="rect">
            <a:avLst/>
          </a:prstGeom>
        </p:spPr>
        <p:txBody>
          <a:bodyPr spcFirstLastPara="1" wrap="square" lIns="91425" tIns="0" rIns="91425" bIns="0" anchor="t" anchorCtr="0">
            <a:spAutoFit/>
          </a:bodyPr>
          <a:lstStyle/>
          <a:p>
            <a:pPr marL="0" lvl="0" indent="0" algn="l" rtl="0">
              <a:spcBef>
                <a:spcPts val="0"/>
              </a:spcBef>
              <a:spcAft>
                <a:spcPts val="0"/>
              </a:spcAft>
              <a:buNone/>
            </a:pPr>
            <a:r>
              <a:rPr lang="sr" sz="2000" dirty="0">
                <a:solidFill>
                  <a:schemeClr val="lt1"/>
                </a:solidFill>
                <a:latin typeface="Montserrat" panose="00000500000000000000" pitchFamily="2" charset="0"/>
                <a:ea typeface="Lato"/>
                <a:cs typeface="Lato"/>
                <a:sym typeface="Lato"/>
              </a:rPr>
              <a:t>Ručno probanje izgleda dobro, ali ne meri kvalitet</a:t>
            </a:r>
            <a:endParaRPr sz="2000" dirty="0">
              <a:solidFill>
                <a:schemeClr val="lt1"/>
              </a:solidFill>
              <a:latin typeface="Montserrat" panose="00000500000000000000" pitchFamily="2" charset="0"/>
              <a:ea typeface="Lato"/>
              <a:cs typeface="Lato"/>
              <a:sym typeface="Lato"/>
            </a:endParaRPr>
          </a:p>
        </p:txBody>
      </p:sp>
      <p:sp>
        <p:nvSpPr>
          <p:cNvPr id="77" name="_text_main_content">
            <a:extLst>
              <a:ext uri="{FF2B5EF4-FFF2-40B4-BE49-F238E27FC236}">
                <a16:creationId xmlns:a16="http://schemas.microsoft.com/office/drawing/2014/main" id="{01CCEE04-B5AA-8998-D5AD-F320F727EDBA}"/>
              </a:ext>
            </a:extLst>
          </p:cNvPr>
          <p:cNvSpPr txBox="1"/>
          <p:nvPr/>
        </p:nvSpPr>
        <p:spPr>
          <a:xfrm>
            <a:off x="589500" y="1648741"/>
            <a:ext cx="7914900" cy="252373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800"/>
              </a:spcAft>
              <a:buNone/>
            </a:pPr>
            <a:r>
              <a:rPr lang="sr" sz="1200" dirty="0">
                <a:solidFill>
                  <a:srgbClr val="D1E2ED"/>
                </a:solidFill>
                <a:latin typeface="Lato"/>
                <a:ea typeface="Lato"/>
                <a:cs typeface="Lato"/>
                <a:sym typeface="Lato"/>
              </a:rPr>
              <a:t>Pitanja koja sami smislimo obično sadrže iste reči kao dokumenti, jer smo ih pisali gledajući dokumente. Zato sistem izgleda bolje nego što jeste. Ne vidimo kako se ponaša kada korisnik pita drugim rečima, kada je odgovor na granici dva chunk-a ili kada korpus odgovor uopšte nema.</a:t>
            </a:r>
            <a:endParaRPr sz="1200" dirty="0">
              <a:solidFill>
                <a:srgbClr val="D1E2ED"/>
              </a:solidFill>
              <a:latin typeface="Lato"/>
              <a:ea typeface="Lato"/>
              <a:cs typeface="Lato"/>
              <a:sym typeface="Lato"/>
            </a:endParaRPr>
          </a:p>
          <a:p>
            <a:pPr marL="0" lvl="0" indent="0" algn="l" rtl="0">
              <a:spcBef>
                <a:spcPts val="0"/>
              </a:spcBef>
              <a:spcAft>
                <a:spcPts val="800"/>
              </a:spcAft>
              <a:buNone/>
            </a:pPr>
            <a:endParaRPr sz="1200" dirty="0">
              <a:solidFill>
                <a:srgbClr val="D1E2ED"/>
              </a:solidFill>
              <a:latin typeface="Lato"/>
              <a:ea typeface="Lato"/>
              <a:cs typeface="Lato"/>
              <a:sym typeface="Lato"/>
            </a:endParaRPr>
          </a:p>
          <a:p>
            <a:pPr marL="0" lvl="0" indent="0" algn="l" rtl="0">
              <a:spcBef>
                <a:spcPts val="0"/>
              </a:spcBef>
              <a:spcAft>
                <a:spcPts val="800"/>
              </a:spcAft>
              <a:buNone/>
            </a:pPr>
            <a:r>
              <a:rPr lang="sr" sz="1200" dirty="0">
                <a:solidFill>
                  <a:srgbClr val="D1E2ED"/>
                </a:solidFill>
                <a:latin typeface="Lato"/>
                <a:ea typeface="Lato"/>
                <a:cs typeface="Lato"/>
                <a:sym typeface="Lato"/>
              </a:rPr>
              <a:t>Drugi problem je ponovljivost. Ako danas probamo tri pitanja, a sutra posle izmene tri druga, ne možemo tvrditi da je izmena pomogla. Možda su sutrašnja pitanja samo lakša. Za tvrdnju o poboljšanju treba isti skup pitanja, ista komanda i poređenje rezultata pre i posle.</a:t>
            </a:r>
            <a:endParaRPr sz="1200" dirty="0">
              <a:solidFill>
                <a:srgbClr val="D1E2ED"/>
              </a:solidFill>
              <a:latin typeface="Lato"/>
              <a:ea typeface="Lato"/>
              <a:cs typeface="Lato"/>
              <a:sym typeface="Lato"/>
            </a:endParaRPr>
          </a:p>
        </p:txBody>
      </p:sp>
      <p:sp>
        <p:nvSpPr>
          <p:cNvPr id="3" name="Graphic 4">
            <a:extLst>
              <a:ext uri="{FF2B5EF4-FFF2-40B4-BE49-F238E27FC236}">
                <a16:creationId xmlns:a16="http://schemas.microsoft.com/office/drawing/2014/main" id="{196CB132-CCD2-8F8E-0354-6FEF50E45CED}"/>
              </a:ext>
            </a:extLst>
          </p:cNvPr>
          <p:cNvSpPr/>
          <p:nvPr/>
        </p:nvSpPr>
        <p:spPr>
          <a:xfrm>
            <a:off x="213083" y="343327"/>
            <a:ext cx="180000" cy="180000"/>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alpha val="95000"/>
            </a:srgbClr>
          </a:solidFill>
          <a:ln w="9525" cap="flat">
            <a:noFill/>
            <a:prstDash val="solid"/>
            <a:miter/>
          </a:ln>
        </p:spPr>
        <p:txBody>
          <a:bodyPr/>
          <a:lstStyle/>
          <a:p>
            <a:endParaRPr lang="en-GB"/>
          </a:p>
        </p:txBody>
      </p:sp>
      <p:pic>
        <p:nvPicPr>
          <p:cNvPr id="78" name="_image_small_company_logo" descr="EPAM"/>
          <p:cNvPicPr>
            <a:picLocks noChangeAspect="1"/>
          </p:cNvPicPr>
          <p:nvPr/>
        </p:nvPicPr>
        <p:blipFill>
          <a:blip r:embed="rId4"/>
          <a:stretch>
            <a:fillRect/>
          </a:stretch>
        </p:blipFill>
        <p:spPr>
          <a:xfrm>
            <a:off x="490324" y="344427"/>
            <a:ext cx="504923" cy="177800"/>
          </a:xfrm>
          <a:prstGeom prst="rect">
            <a:avLst/>
          </a:prstGeom>
        </p:spPr>
      </p:pic>
      <p:sp>
        <p:nvSpPr>
          <p:cNvPr id="9" name="_text_section">
            <a:extLst>
              <a:ext uri="{FF2B5EF4-FFF2-40B4-BE49-F238E27FC236}">
                <a16:creationId xmlns:a16="http://schemas.microsoft.com/office/drawing/2014/main" id="{EB8B8E35-59BE-97C9-309E-BC2EEE79BB0D}"/>
              </a:ext>
            </a:extLst>
          </p:cNvPr>
          <p:cNvSpPr txBox="1">
            <a:spLocks/>
          </p:cNvSpPr>
          <p:nvPr/>
        </p:nvSpPr>
        <p:spPr>
          <a:xfrm>
            <a:off x="5927725" y="4663806"/>
            <a:ext cx="2564917" cy="15388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9pPr>
          </a:lstStyle>
          <a:p>
            <a:pPr marL="0" indent="0" algn="r"/>
            <a:r>
              <a:rPr lang="sr-Latn-RS" sz="1000" dirty="0">
                <a:solidFill>
                  <a:schemeClr val="lt1"/>
                </a:solidFill>
                <a:latin typeface="Lato"/>
                <a:ea typeface="Lato"/>
                <a:cs typeface="Lato"/>
                <a:sym typeface="Lato"/>
              </a:rPr>
              <a:t>Uvod</a:t>
            </a:r>
            <a:endParaRPr lang="en-GB" sz="1000" dirty="0">
              <a:solidFill>
                <a:schemeClr val="lt1"/>
              </a:solidFill>
              <a:latin typeface="Lato"/>
              <a:ea typeface="Lato"/>
              <a:cs typeface="Lato"/>
              <a:sym typeface="Lato"/>
            </a:endParaRPr>
          </a:p>
        </p:txBody>
      </p:sp>
      <p:sp>
        <p:nvSpPr>
          <p:cNvPr id="5" name="_text_page">
            <a:extLst>
              <a:ext uri="{FF2B5EF4-FFF2-40B4-BE49-F238E27FC236}">
                <a16:creationId xmlns:a16="http://schemas.microsoft.com/office/drawing/2014/main" id="{3C682F78-0194-56CA-EE15-FF0DD081B353}"/>
              </a:ext>
            </a:extLst>
          </p:cNvPr>
          <p:cNvSpPr txBox="1"/>
          <p:nvPr/>
        </p:nvSpPr>
        <p:spPr>
          <a:xfrm>
            <a:off x="8492643" y="4500000"/>
            <a:ext cx="469800" cy="481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800" dirty="0">
                <a:solidFill>
                  <a:schemeClr val="lt1"/>
                </a:solidFill>
                <a:latin typeface="Montserrat"/>
                <a:ea typeface="Montserrat"/>
                <a:cs typeface="Montserrat"/>
                <a:sym typeface="Montserrat"/>
              </a:rPr>
              <a:t>6</a:t>
            </a:r>
            <a:endParaRPr sz="1800" dirty="0">
              <a:solidFill>
                <a:schemeClr val="lt1"/>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9000" r="-29000"/>
          </a:stretch>
        </a:blip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2BF515C-563B-979D-9C67-04BB26B2F6A2}"/>
              </a:ext>
            </a:extLst>
          </p:cNvPr>
          <p:cNvSpPr/>
          <p:nvPr/>
        </p:nvSpPr>
        <p:spPr>
          <a:xfrm>
            <a:off x="2717800" y="0"/>
            <a:ext cx="6426201" cy="5143500"/>
          </a:xfrm>
          <a:custGeom>
            <a:avLst/>
            <a:gdLst>
              <a:gd name="csX0" fmla="*/ 905383 w 6426201"/>
              <a:gd name="csY0" fmla="*/ 0 h 5143500"/>
              <a:gd name="csX1" fmla="*/ 2497177 w 6426201"/>
              <a:gd name="csY1" fmla="*/ 0 h 5143500"/>
              <a:gd name="csX2" fmla="*/ 2467862 w 6426201"/>
              <a:gd name="csY2" fmla="*/ 35902 h 5143500"/>
              <a:gd name="csX3" fmla="*/ 2503842 w 6426201"/>
              <a:gd name="csY3" fmla="*/ 389331 h 5143500"/>
              <a:gd name="csX4" fmla="*/ 2901337 w 6426201"/>
              <a:gd name="csY4" fmla="*/ 389331 h 5143500"/>
              <a:gd name="csX5" fmla="*/ 3290630 w 6426201"/>
              <a:gd name="csY5" fmla="*/ 0 h 5143500"/>
              <a:gd name="csX6" fmla="*/ 4880482 w 6426201"/>
              <a:gd name="csY6" fmla="*/ 0 h 5143500"/>
              <a:gd name="csX7" fmla="*/ 1758651 w 6426201"/>
              <a:gd name="csY7" fmla="*/ 3121695 h 5143500"/>
              <a:gd name="csX8" fmla="*/ 1758651 w 6426201"/>
              <a:gd name="csY8" fmla="*/ 3519191 h 5143500"/>
              <a:gd name="csX9" fmla="*/ 2156147 w 6426201"/>
              <a:gd name="csY9" fmla="*/ 3519191 h 5143500"/>
              <a:gd name="csX10" fmla="*/ 5675617 w 6426201"/>
              <a:gd name="csY10" fmla="*/ 0 h 5143500"/>
              <a:gd name="csX11" fmla="*/ 6426201 w 6426201"/>
              <a:gd name="csY11" fmla="*/ 0 h 5143500"/>
              <a:gd name="csX12" fmla="*/ 6426201 w 6426201"/>
              <a:gd name="csY12" fmla="*/ 841724 h 5143500"/>
              <a:gd name="csX13" fmla="*/ 6399107 w 6426201"/>
              <a:gd name="csY13" fmla="*/ 874906 h 5143500"/>
              <a:gd name="csX14" fmla="*/ 6399107 w 6426201"/>
              <a:gd name="csY14" fmla="*/ 1184271 h 5143500"/>
              <a:gd name="csX15" fmla="*/ 6426201 w 6426201"/>
              <a:gd name="csY15" fmla="*/ 1217454 h 5143500"/>
              <a:gd name="csX16" fmla="*/ 6426201 w 6426201"/>
              <a:gd name="csY16" fmla="*/ 3224795 h 5143500"/>
              <a:gd name="csX17" fmla="*/ 5698729 w 6426201"/>
              <a:gd name="csY17" fmla="*/ 3952325 h 5143500"/>
              <a:gd name="csX18" fmla="*/ 5698729 w 6426201"/>
              <a:gd name="csY18" fmla="*/ 4349820 h 5143500"/>
              <a:gd name="csX19" fmla="*/ 6096226 w 6426201"/>
              <a:gd name="csY19" fmla="*/ 4349820 h 5143500"/>
              <a:gd name="csX20" fmla="*/ 6426201 w 6426201"/>
              <a:gd name="csY20" fmla="*/ 4019844 h 5143500"/>
              <a:gd name="csX21" fmla="*/ 6426201 w 6426201"/>
              <a:gd name="csY21" fmla="*/ 5143500 h 5143500"/>
              <a:gd name="csX22" fmla="*/ 5302181 w 6426201"/>
              <a:gd name="csY22" fmla="*/ 5143500 h 5143500"/>
              <a:gd name="csX23" fmla="*/ 5337216 w 6426201"/>
              <a:gd name="csY23" fmla="*/ 5100594 h 5143500"/>
              <a:gd name="csX24" fmla="*/ 5301235 w 6426201"/>
              <a:gd name="csY24" fmla="*/ 4747164 h 5143500"/>
              <a:gd name="csX25" fmla="*/ 4903739 w 6426201"/>
              <a:gd name="csY25" fmla="*/ 4747164 h 5143500"/>
              <a:gd name="csX26" fmla="*/ 4507404 w 6426201"/>
              <a:gd name="csY26" fmla="*/ 5143500 h 5143500"/>
              <a:gd name="csX27" fmla="*/ 2917405 w 6426201"/>
              <a:gd name="csY27" fmla="*/ 5143500 h 5143500"/>
              <a:gd name="csX28" fmla="*/ 6037591 w 6426201"/>
              <a:gd name="csY28" fmla="*/ 2023176 h 5143500"/>
              <a:gd name="csX29" fmla="*/ 6037591 w 6426201"/>
              <a:gd name="csY29" fmla="*/ 1625681 h 5143500"/>
              <a:gd name="csX30" fmla="*/ 5640096 w 6426201"/>
              <a:gd name="csY30" fmla="*/ 1625681 h 5143500"/>
              <a:gd name="csX31" fmla="*/ 2121855 w 6426201"/>
              <a:gd name="csY31" fmla="*/ 5143500 h 5143500"/>
              <a:gd name="csX32" fmla="*/ 896983 w 6426201"/>
              <a:gd name="csY32" fmla="*/ 5143500 h 5143500"/>
              <a:gd name="csX33" fmla="*/ 893618 w 6426201"/>
              <a:gd name="csY33" fmla="*/ 5132153 h 5143500"/>
              <a:gd name="csX34" fmla="*/ 1048034 w 6426201"/>
              <a:gd name="csY34" fmla="*/ 4627306 h 5143500"/>
              <a:gd name="csX35" fmla="*/ 1361157 w 6426201"/>
              <a:gd name="csY35" fmla="*/ 4314183 h 5143500"/>
              <a:gd name="csX36" fmla="*/ 1361157 w 6426201"/>
              <a:gd name="csY36" fmla="*/ 3916686 h 5143500"/>
              <a:gd name="csX37" fmla="*/ 963661 w 6426201"/>
              <a:gd name="csY37" fmla="*/ 3916686 h 5143500"/>
              <a:gd name="csX38" fmla="*/ 959702 w 6426201"/>
              <a:gd name="csY38" fmla="*/ 3920647 h 5143500"/>
              <a:gd name="csX39" fmla="*/ 164711 w 6426201"/>
              <a:gd name="csY39" fmla="*/ 3920647 h 5143500"/>
              <a:gd name="csX40" fmla="*/ 164711 w 6426201"/>
              <a:gd name="csY40" fmla="*/ 3125656 h 5143500"/>
              <a:gd name="csX41" fmla="*/ 2106042 w 6426201"/>
              <a:gd name="csY41" fmla="*/ 1184171 h 5143500"/>
              <a:gd name="csX42" fmla="*/ 2106042 w 6426201"/>
              <a:gd name="csY42" fmla="*/ 786674 h 5143500"/>
              <a:gd name="csX43" fmla="*/ 1708546 w 6426201"/>
              <a:gd name="csY43" fmla="*/ 786674 h 5143500"/>
              <a:gd name="csX44" fmla="*/ 1326585 w 6426201"/>
              <a:gd name="csY44" fmla="*/ 1168636 h 5143500"/>
              <a:gd name="csX45" fmla="*/ 531594 w 6426201"/>
              <a:gd name="csY45" fmla="*/ 1168636 h 5143500"/>
              <a:gd name="csX46" fmla="*/ 531594 w 6426201"/>
              <a:gd name="csY46" fmla="*/ 373644 h 514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426201" h="5143500">
                <a:moveTo>
                  <a:pt x="905383" y="0"/>
                </a:moveTo>
                <a:lnTo>
                  <a:pt x="2497177" y="0"/>
                </a:lnTo>
                <a:lnTo>
                  <a:pt x="2467862" y="35902"/>
                </a:lnTo>
                <a:cubicBezTo>
                  <a:pt x="2395902" y="144966"/>
                  <a:pt x="2407895" y="293384"/>
                  <a:pt x="2503842" y="389331"/>
                </a:cubicBezTo>
                <a:cubicBezTo>
                  <a:pt x="2613496" y="498985"/>
                  <a:pt x="2791683" y="498985"/>
                  <a:pt x="2901337" y="389331"/>
                </a:cubicBezTo>
                <a:lnTo>
                  <a:pt x="3290630" y="0"/>
                </a:lnTo>
                <a:lnTo>
                  <a:pt x="4880482" y="0"/>
                </a:lnTo>
                <a:lnTo>
                  <a:pt x="1758651" y="3121695"/>
                </a:lnTo>
                <a:cubicBezTo>
                  <a:pt x="1648997" y="3231349"/>
                  <a:pt x="1648997" y="3409537"/>
                  <a:pt x="1758651" y="3519191"/>
                </a:cubicBezTo>
                <a:cubicBezTo>
                  <a:pt x="1868305" y="3628845"/>
                  <a:pt x="2046494" y="3628845"/>
                  <a:pt x="2156147" y="3519191"/>
                </a:cubicBezTo>
                <a:lnTo>
                  <a:pt x="5675617" y="0"/>
                </a:lnTo>
                <a:lnTo>
                  <a:pt x="6426201" y="0"/>
                </a:lnTo>
                <a:lnTo>
                  <a:pt x="6426201" y="841724"/>
                </a:lnTo>
                <a:lnTo>
                  <a:pt x="6399107" y="874906"/>
                </a:lnTo>
                <a:cubicBezTo>
                  <a:pt x="6337426" y="968391"/>
                  <a:pt x="6337426" y="1090787"/>
                  <a:pt x="6399107" y="1184271"/>
                </a:cubicBezTo>
                <a:lnTo>
                  <a:pt x="6426201" y="1217454"/>
                </a:lnTo>
                <a:lnTo>
                  <a:pt x="6426201" y="3224795"/>
                </a:lnTo>
                <a:lnTo>
                  <a:pt x="5698729" y="3952325"/>
                </a:lnTo>
                <a:cubicBezTo>
                  <a:pt x="5589076" y="4061979"/>
                  <a:pt x="5589076" y="4240166"/>
                  <a:pt x="5698729" y="4349820"/>
                </a:cubicBezTo>
                <a:cubicBezTo>
                  <a:pt x="5808383" y="4459475"/>
                  <a:pt x="5986572" y="4459475"/>
                  <a:pt x="6096226" y="4349820"/>
                </a:cubicBezTo>
                <a:lnTo>
                  <a:pt x="6426201" y="4019844"/>
                </a:lnTo>
                <a:lnTo>
                  <a:pt x="6426201" y="5143500"/>
                </a:lnTo>
                <a:lnTo>
                  <a:pt x="5302181" y="5143500"/>
                </a:lnTo>
                <a:lnTo>
                  <a:pt x="5337216" y="5100594"/>
                </a:lnTo>
                <a:cubicBezTo>
                  <a:pt x="5409176" y="4991529"/>
                  <a:pt x="5397183" y="4843112"/>
                  <a:pt x="5301235" y="4747164"/>
                </a:cubicBezTo>
                <a:cubicBezTo>
                  <a:pt x="5191581" y="4637510"/>
                  <a:pt x="5013393" y="4637510"/>
                  <a:pt x="4903739" y="4747164"/>
                </a:cubicBezTo>
                <a:lnTo>
                  <a:pt x="4507404" y="5143500"/>
                </a:lnTo>
                <a:lnTo>
                  <a:pt x="2917405" y="5143500"/>
                </a:lnTo>
                <a:lnTo>
                  <a:pt x="6037591" y="2023176"/>
                </a:lnTo>
                <a:cubicBezTo>
                  <a:pt x="6147246" y="1913522"/>
                  <a:pt x="6147246" y="1735335"/>
                  <a:pt x="6037591" y="1625681"/>
                </a:cubicBezTo>
                <a:cubicBezTo>
                  <a:pt x="5927938" y="1516027"/>
                  <a:pt x="5749749" y="1516027"/>
                  <a:pt x="5640096" y="1625681"/>
                </a:cubicBezTo>
                <a:lnTo>
                  <a:pt x="2121855" y="5143500"/>
                </a:lnTo>
                <a:lnTo>
                  <a:pt x="896983" y="5143500"/>
                </a:lnTo>
                <a:lnTo>
                  <a:pt x="893618" y="5132153"/>
                </a:lnTo>
                <a:cubicBezTo>
                  <a:pt x="859304" y="4955007"/>
                  <a:pt x="910776" y="4764564"/>
                  <a:pt x="1048034" y="4627306"/>
                </a:cubicBezTo>
                <a:lnTo>
                  <a:pt x="1361157" y="4314183"/>
                </a:lnTo>
                <a:cubicBezTo>
                  <a:pt x="1470811" y="4204529"/>
                  <a:pt x="1470811" y="4026342"/>
                  <a:pt x="1361157" y="3916686"/>
                </a:cubicBezTo>
                <a:cubicBezTo>
                  <a:pt x="1251503" y="3807032"/>
                  <a:pt x="1073314" y="3807032"/>
                  <a:pt x="963661" y="3916686"/>
                </a:cubicBezTo>
                <a:lnTo>
                  <a:pt x="959702" y="3920647"/>
                </a:lnTo>
                <a:cubicBezTo>
                  <a:pt x="740088" y="4140107"/>
                  <a:pt x="384322" y="4140107"/>
                  <a:pt x="164711" y="3920647"/>
                </a:cubicBezTo>
                <a:cubicBezTo>
                  <a:pt x="-54903" y="3701034"/>
                  <a:pt x="-54903" y="3345115"/>
                  <a:pt x="164711" y="3125656"/>
                </a:cubicBezTo>
                <a:lnTo>
                  <a:pt x="2106042" y="1184171"/>
                </a:lnTo>
                <a:cubicBezTo>
                  <a:pt x="2215696" y="1074517"/>
                  <a:pt x="2215696" y="896328"/>
                  <a:pt x="2106042" y="786674"/>
                </a:cubicBezTo>
                <a:cubicBezTo>
                  <a:pt x="1996388" y="677020"/>
                  <a:pt x="1818200" y="677020"/>
                  <a:pt x="1708546" y="786674"/>
                </a:cubicBezTo>
                <a:lnTo>
                  <a:pt x="1326585" y="1168636"/>
                </a:lnTo>
                <a:cubicBezTo>
                  <a:pt x="1106973" y="1388249"/>
                  <a:pt x="751207" y="1388249"/>
                  <a:pt x="531594" y="1168636"/>
                </a:cubicBezTo>
                <a:cubicBezTo>
                  <a:pt x="311983" y="949024"/>
                  <a:pt x="311983" y="593258"/>
                  <a:pt x="531594" y="373644"/>
                </a:cubicBezTo>
                <a:close/>
              </a:path>
            </a:pathLst>
          </a:custGeom>
          <a:solidFill>
            <a:srgbClr val="FFFF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 name="_text_title">
            <a:extLst>
              <a:ext uri="{FF2B5EF4-FFF2-40B4-BE49-F238E27FC236}">
                <a16:creationId xmlns:a16="http://schemas.microsoft.com/office/drawing/2014/main" id="{6F6B512F-576E-521F-9547-D4EB4DB18981}"/>
              </a:ext>
            </a:extLst>
          </p:cNvPr>
          <p:cNvSpPr txBox="1">
            <a:spLocks/>
          </p:cNvSpPr>
          <p:nvPr/>
        </p:nvSpPr>
        <p:spPr>
          <a:xfrm>
            <a:off x="589500" y="724453"/>
            <a:ext cx="8402846" cy="430887"/>
          </a:xfrm>
          <a:prstGeom prst="rect">
            <a:avLst/>
          </a:prstGeom>
          <a:noFill/>
          <a:ln>
            <a:noFill/>
          </a:ln>
        </p:spPr>
        <p:txBody>
          <a:bodyPr spcFirstLastPara="1" wrap="square" lIns="91425" tIns="0" rIns="91425" bIns="0" anchor="b" anchorCtr="0">
            <a:sp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9pPr>
          </a:lstStyle>
          <a:p>
            <a:pPr algn="l">
              <a:buSzPts val="990"/>
            </a:pPr>
            <a:r>
              <a:rPr lang="en-GB" sz="2800" spc="-150" dirty="0">
                <a:solidFill>
                  <a:schemeClr val="lt1">
                    <a:alpha val="90000"/>
                  </a:schemeClr>
                </a:solidFill>
                <a:latin typeface="Montserrat Black" panose="00000A00000000000000" pitchFamily="2" charset="0"/>
                <a:ea typeface="Montserrat"/>
                <a:cs typeface="Montserrat"/>
                <a:sym typeface="Montserrat"/>
              </a:rPr>
              <a:t>Pitanje za razgovor</a:t>
            </a:r>
          </a:p>
        </p:txBody>
      </p:sp>
      <p:sp>
        <p:nvSpPr>
          <p:cNvPr id="9" name="_text_subtitle">
            <a:extLst>
              <a:ext uri="{FF2B5EF4-FFF2-40B4-BE49-F238E27FC236}">
                <a16:creationId xmlns:a16="http://schemas.microsoft.com/office/drawing/2014/main" id="{C3828B17-F705-5B83-D8D5-9EF6EAA45FB3}"/>
              </a:ext>
            </a:extLst>
          </p:cNvPr>
          <p:cNvSpPr txBox="1">
            <a:spLocks/>
          </p:cNvSpPr>
          <p:nvPr/>
        </p:nvSpPr>
        <p:spPr>
          <a:xfrm>
            <a:off x="589500" y="1158219"/>
            <a:ext cx="8402846" cy="307777"/>
          </a:xfrm>
          <a:prstGeom prst="rect">
            <a:avLst/>
          </a:prstGeom>
          <a:noFill/>
          <a:ln>
            <a:noFill/>
          </a:ln>
        </p:spPr>
        <p:txBody>
          <a:bodyPr spcFirstLastPara="1" wrap="square" lIns="91425" tIns="0" rIns="91425" bIns="0" anchor="t" anchorCtr="0">
            <a:sp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9pPr>
          </a:lstStyle>
          <a:p>
            <a:pPr marL="0" indent="0" algn="l"/>
            <a:r>
              <a:rPr lang="en-GB" sz="2000" dirty="0" err="1">
                <a:solidFill>
                  <a:schemeClr val="lt1"/>
                </a:solidFill>
                <a:latin typeface="Montserrat" panose="00000500000000000000" pitchFamily="2" charset="0"/>
                <a:ea typeface="Lato"/>
                <a:cs typeface="Lato"/>
                <a:sym typeface="Lato"/>
              </a:rPr>
              <a:t>Setite se svog rada u Nedelji 6</a:t>
            </a:r>
            <a:endParaRPr lang="en-GB" sz="2000" dirty="0">
              <a:solidFill>
                <a:schemeClr val="lt1"/>
              </a:solidFill>
              <a:latin typeface="Montserrat" panose="00000500000000000000" pitchFamily="2" charset="0"/>
              <a:ea typeface="Lato"/>
              <a:cs typeface="Lato"/>
              <a:sym typeface="Lato"/>
            </a:endParaRPr>
          </a:p>
        </p:txBody>
      </p:sp>
      <p:sp>
        <p:nvSpPr>
          <p:cNvPr id="3" name="Graphic 4">
            <a:extLst>
              <a:ext uri="{FF2B5EF4-FFF2-40B4-BE49-F238E27FC236}">
                <a16:creationId xmlns:a16="http://schemas.microsoft.com/office/drawing/2014/main" id="{83415C52-2B7E-8EC2-8808-32366AC9F5A8}"/>
              </a:ext>
            </a:extLst>
          </p:cNvPr>
          <p:cNvSpPr/>
          <p:nvPr/>
        </p:nvSpPr>
        <p:spPr>
          <a:xfrm>
            <a:off x="213083" y="343327"/>
            <a:ext cx="180000" cy="180000"/>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alpha val="95000"/>
            </a:srgbClr>
          </a:solidFill>
          <a:ln w="9525" cap="flat">
            <a:noFill/>
            <a:prstDash val="solid"/>
            <a:miter/>
          </a:ln>
        </p:spPr>
        <p:txBody>
          <a:bodyPr/>
          <a:lstStyle/>
          <a:p>
            <a:endParaRPr lang="en-GB"/>
          </a:p>
        </p:txBody>
      </p:sp>
      <p:sp>
        <p:nvSpPr>
          <p:cNvPr id="11" name="_text_point_2">
            <a:extLst>
              <a:ext uri="{FF2B5EF4-FFF2-40B4-BE49-F238E27FC236}">
                <a16:creationId xmlns:a16="http://schemas.microsoft.com/office/drawing/2014/main" id="{4631E6EC-547A-488C-F3DA-980D2BC26D9F}"/>
              </a:ext>
            </a:extLst>
          </p:cNvPr>
          <p:cNvSpPr/>
          <p:nvPr/>
        </p:nvSpPr>
        <p:spPr>
          <a:xfrm>
            <a:off x="611243" y="2765705"/>
            <a:ext cx="6480000" cy="355635"/>
          </a:xfrm>
          <a:prstGeom prst="roundRect">
            <a:avLst>
              <a:gd name="adj" fmla="val 50000"/>
            </a:avLst>
          </a:prstGeom>
          <a:gradFill>
            <a:gsLst>
              <a:gs pos="0">
                <a:srgbClr val="2F5D8B"/>
              </a:gs>
              <a:gs pos="100000">
                <a:srgbClr val="29091B">
                  <a:alpha val="9000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0" bIns="0" rtlCol="0" anchor="ctr"/>
          <a:lstStyle/>
          <a:p>
            <a:r>
              <a:rPr lang="da-DK" b="1" dirty="0">
                <a:latin typeface="Montserrat"/>
                <a:ea typeface="Montserrat"/>
                <a:cs typeface="Montserrat"/>
                <a:sym typeface="Montserrat"/>
              </a:rPr>
              <a:t>Da li je bilo pitanje bez odgovora?</a:t>
            </a:r>
          </a:p>
        </p:txBody>
      </p:sp>
      <p:sp>
        <p:nvSpPr>
          <p:cNvPr id="12" name="_text_point_1">
            <a:extLst>
              <a:ext uri="{FF2B5EF4-FFF2-40B4-BE49-F238E27FC236}">
                <a16:creationId xmlns:a16="http://schemas.microsoft.com/office/drawing/2014/main" id="{88AE20C2-9F43-D1C4-22DF-E2CD72F63BB1}"/>
              </a:ext>
            </a:extLst>
          </p:cNvPr>
          <p:cNvSpPr/>
          <p:nvPr/>
        </p:nvSpPr>
        <p:spPr>
          <a:xfrm>
            <a:off x="640143" y="2268040"/>
            <a:ext cx="7200000" cy="355635"/>
          </a:xfrm>
          <a:prstGeom prst="roundRect">
            <a:avLst>
              <a:gd name="adj" fmla="val 50000"/>
            </a:avLst>
          </a:prstGeom>
          <a:gradFill>
            <a:gsLst>
              <a:gs pos="0">
                <a:srgbClr val="2F5D8B"/>
              </a:gs>
              <a:gs pos="100000">
                <a:srgbClr val="29091B">
                  <a:alpha val="9000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0" bIns="0" rtlCol="0" anchor="ctr"/>
          <a:lstStyle/>
          <a:p>
            <a:r>
              <a:rPr lang="da-DK" b="1" dirty="0">
                <a:latin typeface="Montserrat"/>
                <a:ea typeface="Montserrat"/>
                <a:cs typeface="Montserrat"/>
                <a:sym typeface="Montserrat"/>
              </a:rPr>
              <a:t>Koliko pitanja ste zaista probali?</a:t>
            </a:r>
          </a:p>
        </p:txBody>
      </p:sp>
      <p:pic>
        <p:nvPicPr>
          <p:cNvPr id="26" name="_image_small_company_logo" descr="EPAM"/>
          <p:cNvPicPr>
            <a:picLocks noChangeAspect="1"/>
          </p:cNvPicPr>
          <p:nvPr/>
        </p:nvPicPr>
        <p:blipFill>
          <a:blip r:embed="rId4"/>
          <a:stretch>
            <a:fillRect/>
          </a:stretch>
        </p:blipFill>
        <p:spPr>
          <a:xfrm>
            <a:off x="490324" y="344427"/>
            <a:ext cx="504923" cy="177800"/>
          </a:xfrm>
          <a:prstGeom prst="rect">
            <a:avLst/>
          </a:prstGeom>
        </p:spPr>
      </p:pic>
      <p:sp>
        <p:nvSpPr>
          <p:cNvPr id="23" name="_text_section">
            <a:extLst>
              <a:ext uri="{FF2B5EF4-FFF2-40B4-BE49-F238E27FC236}">
                <a16:creationId xmlns:a16="http://schemas.microsoft.com/office/drawing/2014/main" id="{DC5D0AAC-CEA8-99E1-4378-3862874FD819}"/>
              </a:ext>
            </a:extLst>
          </p:cNvPr>
          <p:cNvSpPr txBox="1">
            <a:spLocks/>
          </p:cNvSpPr>
          <p:nvPr/>
        </p:nvSpPr>
        <p:spPr>
          <a:xfrm>
            <a:off x="5927725" y="4663806"/>
            <a:ext cx="2564917" cy="15388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9pPr>
          </a:lstStyle>
          <a:p>
            <a:pPr marL="0" indent="0" algn="r"/>
            <a:r>
              <a:rPr lang="sr-Latn-RS" sz="1000" dirty="0">
                <a:solidFill>
                  <a:schemeClr val="lt1"/>
                </a:solidFill>
                <a:latin typeface="Lato"/>
                <a:ea typeface="Lato"/>
                <a:cs typeface="Lato"/>
                <a:sym typeface="Lato"/>
              </a:rPr>
              <a:t>Uvod</a:t>
            </a:r>
            <a:endParaRPr lang="en-GB" sz="1000" dirty="0">
              <a:solidFill>
                <a:schemeClr val="lt1"/>
              </a:solidFill>
              <a:latin typeface="Lato"/>
              <a:ea typeface="Lato"/>
              <a:cs typeface="Lato"/>
              <a:sym typeface="Lato"/>
            </a:endParaRPr>
          </a:p>
        </p:txBody>
      </p:sp>
      <p:sp>
        <p:nvSpPr>
          <p:cNvPr id="21" name="_text_page">
            <a:extLst>
              <a:ext uri="{FF2B5EF4-FFF2-40B4-BE49-F238E27FC236}">
                <a16:creationId xmlns:a16="http://schemas.microsoft.com/office/drawing/2014/main" id="{6E189432-53E3-417C-F7BA-53BE1AA41F10}"/>
              </a:ext>
            </a:extLst>
          </p:cNvPr>
          <p:cNvSpPr txBox="1"/>
          <p:nvPr/>
        </p:nvSpPr>
        <p:spPr>
          <a:xfrm>
            <a:off x="8492643" y="4500000"/>
            <a:ext cx="469800" cy="481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800" dirty="0">
                <a:solidFill>
                  <a:schemeClr val="lt1"/>
                </a:solidFill>
                <a:latin typeface="Montserrat"/>
                <a:ea typeface="Montserrat"/>
                <a:cs typeface="Montserrat"/>
                <a:sym typeface="Montserrat"/>
              </a:rPr>
              <a:t>7</a:t>
            </a:r>
            <a:endParaRPr sz="1800" dirty="0">
              <a:solidFill>
                <a:schemeClr val="lt1"/>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9000" r="-29000"/>
          </a:stretch>
        </a:blip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F436A335-E91F-DFEE-542E-F305787FDDEE}"/>
              </a:ext>
            </a:extLst>
          </p:cNvPr>
          <p:cNvSpPr/>
          <p:nvPr/>
        </p:nvSpPr>
        <p:spPr>
          <a:xfrm>
            <a:off x="2717800" y="0"/>
            <a:ext cx="6426201" cy="5143500"/>
          </a:xfrm>
          <a:custGeom>
            <a:avLst/>
            <a:gdLst>
              <a:gd name="csX0" fmla="*/ 905383 w 6426201"/>
              <a:gd name="csY0" fmla="*/ 0 h 5143500"/>
              <a:gd name="csX1" fmla="*/ 2497177 w 6426201"/>
              <a:gd name="csY1" fmla="*/ 0 h 5143500"/>
              <a:gd name="csX2" fmla="*/ 2467862 w 6426201"/>
              <a:gd name="csY2" fmla="*/ 35902 h 5143500"/>
              <a:gd name="csX3" fmla="*/ 2503842 w 6426201"/>
              <a:gd name="csY3" fmla="*/ 389331 h 5143500"/>
              <a:gd name="csX4" fmla="*/ 2901337 w 6426201"/>
              <a:gd name="csY4" fmla="*/ 389331 h 5143500"/>
              <a:gd name="csX5" fmla="*/ 3290630 w 6426201"/>
              <a:gd name="csY5" fmla="*/ 0 h 5143500"/>
              <a:gd name="csX6" fmla="*/ 4880482 w 6426201"/>
              <a:gd name="csY6" fmla="*/ 0 h 5143500"/>
              <a:gd name="csX7" fmla="*/ 1758651 w 6426201"/>
              <a:gd name="csY7" fmla="*/ 3121695 h 5143500"/>
              <a:gd name="csX8" fmla="*/ 1758651 w 6426201"/>
              <a:gd name="csY8" fmla="*/ 3519191 h 5143500"/>
              <a:gd name="csX9" fmla="*/ 2156147 w 6426201"/>
              <a:gd name="csY9" fmla="*/ 3519191 h 5143500"/>
              <a:gd name="csX10" fmla="*/ 5675617 w 6426201"/>
              <a:gd name="csY10" fmla="*/ 0 h 5143500"/>
              <a:gd name="csX11" fmla="*/ 6426201 w 6426201"/>
              <a:gd name="csY11" fmla="*/ 0 h 5143500"/>
              <a:gd name="csX12" fmla="*/ 6426201 w 6426201"/>
              <a:gd name="csY12" fmla="*/ 841724 h 5143500"/>
              <a:gd name="csX13" fmla="*/ 6399107 w 6426201"/>
              <a:gd name="csY13" fmla="*/ 874906 h 5143500"/>
              <a:gd name="csX14" fmla="*/ 6399107 w 6426201"/>
              <a:gd name="csY14" fmla="*/ 1184271 h 5143500"/>
              <a:gd name="csX15" fmla="*/ 6426201 w 6426201"/>
              <a:gd name="csY15" fmla="*/ 1217454 h 5143500"/>
              <a:gd name="csX16" fmla="*/ 6426201 w 6426201"/>
              <a:gd name="csY16" fmla="*/ 3224795 h 5143500"/>
              <a:gd name="csX17" fmla="*/ 5698729 w 6426201"/>
              <a:gd name="csY17" fmla="*/ 3952325 h 5143500"/>
              <a:gd name="csX18" fmla="*/ 5698729 w 6426201"/>
              <a:gd name="csY18" fmla="*/ 4349820 h 5143500"/>
              <a:gd name="csX19" fmla="*/ 6096226 w 6426201"/>
              <a:gd name="csY19" fmla="*/ 4349820 h 5143500"/>
              <a:gd name="csX20" fmla="*/ 6426201 w 6426201"/>
              <a:gd name="csY20" fmla="*/ 4019844 h 5143500"/>
              <a:gd name="csX21" fmla="*/ 6426201 w 6426201"/>
              <a:gd name="csY21" fmla="*/ 5143500 h 5143500"/>
              <a:gd name="csX22" fmla="*/ 5302181 w 6426201"/>
              <a:gd name="csY22" fmla="*/ 5143500 h 5143500"/>
              <a:gd name="csX23" fmla="*/ 5337216 w 6426201"/>
              <a:gd name="csY23" fmla="*/ 5100594 h 5143500"/>
              <a:gd name="csX24" fmla="*/ 5301235 w 6426201"/>
              <a:gd name="csY24" fmla="*/ 4747164 h 5143500"/>
              <a:gd name="csX25" fmla="*/ 4903739 w 6426201"/>
              <a:gd name="csY25" fmla="*/ 4747164 h 5143500"/>
              <a:gd name="csX26" fmla="*/ 4507404 w 6426201"/>
              <a:gd name="csY26" fmla="*/ 5143500 h 5143500"/>
              <a:gd name="csX27" fmla="*/ 2917405 w 6426201"/>
              <a:gd name="csY27" fmla="*/ 5143500 h 5143500"/>
              <a:gd name="csX28" fmla="*/ 6037591 w 6426201"/>
              <a:gd name="csY28" fmla="*/ 2023176 h 5143500"/>
              <a:gd name="csX29" fmla="*/ 6037591 w 6426201"/>
              <a:gd name="csY29" fmla="*/ 1625681 h 5143500"/>
              <a:gd name="csX30" fmla="*/ 5640096 w 6426201"/>
              <a:gd name="csY30" fmla="*/ 1625681 h 5143500"/>
              <a:gd name="csX31" fmla="*/ 2121855 w 6426201"/>
              <a:gd name="csY31" fmla="*/ 5143500 h 5143500"/>
              <a:gd name="csX32" fmla="*/ 896983 w 6426201"/>
              <a:gd name="csY32" fmla="*/ 5143500 h 5143500"/>
              <a:gd name="csX33" fmla="*/ 893618 w 6426201"/>
              <a:gd name="csY33" fmla="*/ 5132153 h 5143500"/>
              <a:gd name="csX34" fmla="*/ 1048034 w 6426201"/>
              <a:gd name="csY34" fmla="*/ 4627306 h 5143500"/>
              <a:gd name="csX35" fmla="*/ 1361157 w 6426201"/>
              <a:gd name="csY35" fmla="*/ 4314183 h 5143500"/>
              <a:gd name="csX36" fmla="*/ 1361157 w 6426201"/>
              <a:gd name="csY36" fmla="*/ 3916686 h 5143500"/>
              <a:gd name="csX37" fmla="*/ 963661 w 6426201"/>
              <a:gd name="csY37" fmla="*/ 3916686 h 5143500"/>
              <a:gd name="csX38" fmla="*/ 959702 w 6426201"/>
              <a:gd name="csY38" fmla="*/ 3920647 h 5143500"/>
              <a:gd name="csX39" fmla="*/ 164711 w 6426201"/>
              <a:gd name="csY39" fmla="*/ 3920647 h 5143500"/>
              <a:gd name="csX40" fmla="*/ 164711 w 6426201"/>
              <a:gd name="csY40" fmla="*/ 3125656 h 5143500"/>
              <a:gd name="csX41" fmla="*/ 2106042 w 6426201"/>
              <a:gd name="csY41" fmla="*/ 1184171 h 5143500"/>
              <a:gd name="csX42" fmla="*/ 2106042 w 6426201"/>
              <a:gd name="csY42" fmla="*/ 786674 h 5143500"/>
              <a:gd name="csX43" fmla="*/ 1708546 w 6426201"/>
              <a:gd name="csY43" fmla="*/ 786674 h 5143500"/>
              <a:gd name="csX44" fmla="*/ 1326585 w 6426201"/>
              <a:gd name="csY44" fmla="*/ 1168636 h 5143500"/>
              <a:gd name="csX45" fmla="*/ 531594 w 6426201"/>
              <a:gd name="csY45" fmla="*/ 1168636 h 5143500"/>
              <a:gd name="csX46" fmla="*/ 531594 w 6426201"/>
              <a:gd name="csY46" fmla="*/ 373644 h 514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426201" h="5143500">
                <a:moveTo>
                  <a:pt x="905383" y="0"/>
                </a:moveTo>
                <a:lnTo>
                  <a:pt x="2497177" y="0"/>
                </a:lnTo>
                <a:lnTo>
                  <a:pt x="2467862" y="35902"/>
                </a:lnTo>
                <a:cubicBezTo>
                  <a:pt x="2395902" y="144966"/>
                  <a:pt x="2407895" y="293384"/>
                  <a:pt x="2503842" y="389331"/>
                </a:cubicBezTo>
                <a:cubicBezTo>
                  <a:pt x="2613496" y="498985"/>
                  <a:pt x="2791683" y="498985"/>
                  <a:pt x="2901337" y="389331"/>
                </a:cubicBezTo>
                <a:lnTo>
                  <a:pt x="3290630" y="0"/>
                </a:lnTo>
                <a:lnTo>
                  <a:pt x="4880482" y="0"/>
                </a:lnTo>
                <a:lnTo>
                  <a:pt x="1758651" y="3121695"/>
                </a:lnTo>
                <a:cubicBezTo>
                  <a:pt x="1648997" y="3231349"/>
                  <a:pt x="1648997" y="3409537"/>
                  <a:pt x="1758651" y="3519191"/>
                </a:cubicBezTo>
                <a:cubicBezTo>
                  <a:pt x="1868305" y="3628845"/>
                  <a:pt x="2046494" y="3628845"/>
                  <a:pt x="2156147" y="3519191"/>
                </a:cubicBezTo>
                <a:lnTo>
                  <a:pt x="5675617" y="0"/>
                </a:lnTo>
                <a:lnTo>
                  <a:pt x="6426201" y="0"/>
                </a:lnTo>
                <a:lnTo>
                  <a:pt x="6426201" y="841724"/>
                </a:lnTo>
                <a:lnTo>
                  <a:pt x="6399107" y="874906"/>
                </a:lnTo>
                <a:cubicBezTo>
                  <a:pt x="6337426" y="968391"/>
                  <a:pt x="6337426" y="1090787"/>
                  <a:pt x="6399107" y="1184271"/>
                </a:cubicBezTo>
                <a:lnTo>
                  <a:pt x="6426201" y="1217454"/>
                </a:lnTo>
                <a:lnTo>
                  <a:pt x="6426201" y="3224795"/>
                </a:lnTo>
                <a:lnTo>
                  <a:pt x="5698729" y="3952325"/>
                </a:lnTo>
                <a:cubicBezTo>
                  <a:pt x="5589076" y="4061979"/>
                  <a:pt x="5589076" y="4240166"/>
                  <a:pt x="5698729" y="4349820"/>
                </a:cubicBezTo>
                <a:cubicBezTo>
                  <a:pt x="5808383" y="4459475"/>
                  <a:pt x="5986572" y="4459475"/>
                  <a:pt x="6096226" y="4349820"/>
                </a:cubicBezTo>
                <a:lnTo>
                  <a:pt x="6426201" y="4019844"/>
                </a:lnTo>
                <a:lnTo>
                  <a:pt x="6426201" y="5143500"/>
                </a:lnTo>
                <a:lnTo>
                  <a:pt x="5302181" y="5143500"/>
                </a:lnTo>
                <a:lnTo>
                  <a:pt x="5337216" y="5100594"/>
                </a:lnTo>
                <a:cubicBezTo>
                  <a:pt x="5409176" y="4991529"/>
                  <a:pt x="5397183" y="4843112"/>
                  <a:pt x="5301235" y="4747164"/>
                </a:cubicBezTo>
                <a:cubicBezTo>
                  <a:pt x="5191581" y="4637510"/>
                  <a:pt x="5013393" y="4637510"/>
                  <a:pt x="4903739" y="4747164"/>
                </a:cubicBezTo>
                <a:lnTo>
                  <a:pt x="4507404" y="5143500"/>
                </a:lnTo>
                <a:lnTo>
                  <a:pt x="2917405" y="5143500"/>
                </a:lnTo>
                <a:lnTo>
                  <a:pt x="6037591" y="2023176"/>
                </a:lnTo>
                <a:cubicBezTo>
                  <a:pt x="6147246" y="1913522"/>
                  <a:pt x="6147246" y="1735335"/>
                  <a:pt x="6037591" y="1625681"/>
                </a:cubicBezTo>
                <a:cubicBezTo>
                  <a:pt x="5927938" y="1516027"/>
                  <a:pt x="5749749" y="1516027"/>
                  <a:pt x="5640096" y="1625681"/>
                </a:cubicBezTo>
                <a:lnTo>
                  <a:pt x="2121855" y="5143500"/>
                </a:lnTo>
                <a:lnTo>
                  <a:pt x="896983" y="5143500"/>
                </a:lnTo>
                <a:lnTo>
                  <a:pt x="893618" y="5132153"/>
                </a:lnTo>
                <a:cubicBezTo>
                  <a:pt x="859304" y="4955007"/>
                  <a:pt x="910776" y="4764564"/>
                  <a:pt x="1048034" y="4627306"/>
                </a:cubicBezTo>
                <a:lnTo>
                  <a:pt x="1361157" y="4314183"/>
                </a:lnTo>
                <a:cubicBezTo>
                  <a:pt x="1470811" y="4204529"/>
                  <a:pt x="1470811" y="4026342"/>
                  <a:pt x="1361157" y="3916686"/>
                </a:cubicBezTo>
                <a:cubicBezTo>
                  <a:pt x="1251503" y="3807032"/>
                  <a:pt x="1073314" y="3807032"/>
                  <a:pt x="963661" y="3916686"/>
                </a:cubicBezTo>
                <a:lnTo>
                  <a:pt x="959702" y="3920647"/>
                </a:lnTo>
                <a:cubicBezTo>
                  <a:pt x="740088" y="4140107"/>
                  <a:pt x="384322" y="4140107"/>
                  <a:pt x="164711" y="3920647"/>
                </a:cubicBezTo>
                <a:cubicBezTo>
                  <a:pt x="-54903" y="3701034"/>
                  <a:pt x="-54903" y="3345115"/>
                  <a:pt x="164711" y="3125656"/>
                </a:cubicBezTo>
                <a:lnTo>
                  <a:pt x="2106042" y="1184171"/>
                </a:lnTo>
                <a:cubicBezTo>
                  <a:pt x="2215696" y="1074517"/>
                  <a:pt x="2215696" y="896328"/>
                  <a:pt x="2106042" y="786674"/>
                </a:cubicBezTo>
                <a:cubicBezTo>
                  <a:pt x="1996388" y="677020"/>
                  <a:pt x="1818200" y="677020"/>
                  <a:pt x="1708546" y="786674"/>
                </a:cubicBezTo>
                <a:lnTo>
                  <a:pt x="1326585" y="1168636"/>
                </a:lnTo>
                <a:cubicBezTo>
                  <a:pt x="1106973" y="1388249"/>
                  <a:pt x="751207" y="1388249"/>
                  <a:pt x="531594" y="1168636"/>
                </a:cubicBezTo>
                <a:cubicBezTo>
                  <a:pt x="311983" y="949024"/>
                  <a:pt x="311983" y="593258"/>
                  <a:pt x="531594" y="373644"/>
                </a:cubicBezTo>
                <a:close/>
              </a:path>
            </a:pathLst>
          </a:custGeom>
          <a:solidFill>
            <a:srgbClr val="FFFF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6" name="Graphic 4">
            <a:extLst>
              <a:ext uri="{FF2B5EF4-FFF2-40B4-BE49-F238E27FC236}">
                <a16:creationId xmlns:a16="http://schemas.microsoft.com/office/drawing/2014/main" id="{8E7A8867-8EAA-6C57-2018-D03183288FCE}"/>
              </a:ext>
            </a:extLst>
          </p:cNvPr>
          <p:cNvSpPr/>
          <p:nvPr/>
        </p:nvSpPr>
        <p:spPr>
          <a:xfrm>
            <a:off x="213083" y="343327"/>
            <a:ext cx="180000" cy="180000"/>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alpha val="95000"/>
            </a:srgbClr>
          </a:solidFill>
          <a:ln w="9525" cap="flat">
            <a:noFill/>
            <a:prstDash val="solid"/>
            <a:miter/>
          </a:ln>
        </p:spPr>
        <p:txBody>
          <a:bodyPr/>
          <a:lstStyle/>
          <a:p>
            <a:endParaRPr lang="en-GB"/>
          </a:p>
        </p:txBody>
      </p:sp>
      <p:sp>
        <p:nvSpPr>
          <p:cNvPr id="10" name="_text_title">
            <a:extLst>
              <a:ext uri="{FF2B5EF4-FFF2-40B4-BE49-F238E27FC236}">
                <a16:creationId xmlns:a16="http://schemas.microsoft.com/office/drawing/2014/main" id="{F27B2C81-B052-2B33-6A07-165F6EAFA341}"/>
              </a:ext>
            </a:extLst>
          </p:cNvPr>
          <p:cNvSpPr txBox="1">
            <a:spLocks/>
          </p:cNvSpPr>
          <p:nvPr/>
        </p:nvSpPr>
        <p:spPr>
          <a:xfrm>
            <a:off x="589500" y="724453"/>
            <a:ext cx="8402846" cy="430887"/>
          </a:xfrm>
          <a:prstGeom prst="rect">
            <a:avLst/>
          </a:prstGeom>
          <a:noFill/>
          <a:ln>
            <a:noFill/>
          </a:ln>
        </p:spPr>
        <p:txBody>
          <a:bodyPr spcFirstLastPara="1" wrap="square" lIns="91425" tIns="0" rIns="91425" bIns="0" anchor="b" anchorCtr="0">
            <a:sp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9pPr>
          </a:lstStyle>
          <a:p>
            <a:pPr algn="l">
              <a:buSzPts val="990"/>
            </a:pPr>
            <a:r>
              <a:rPr lang="en-GB" sz="2800" spc="-150" dirty="0">
                <a:solidFill>
                  <a:schemeClr val="lt1">
                    <a:alpha val="90000"/>
                  </a:schemeClr>
                </a:solidFill>
                <a:latin typeface="Montserrat Black" panose="00000A00000000000000" pitchFamily="2" charset="0"/>
                <a:ea typeface="Montserrat"/>
                <a:cs typeface="Montserrat"/>
                <a:sym typeface="Montserrat"/>
              </a:rPr>
              <a:t>Šta čini dobar eval skup</a:t>
            </a:r>
            <a:endParaRPr lang="sr-Latn-RS" sz="2800" spc="-150" dirty="0">
              <a:solidFill>
                <a:schemeClr val="lt1">
                  <a:alpha val="90000"/>
                </a:schemeClr>
              </a:solidFill>
              <a:latin typeface="Montserrat Black" panose="00000A00000000000000" pitchFamily="2" charset="0"/>
              <a:ea typeface="Montserrat"/>
              <a:cs typeface="Montserrat"/>
              <a:sym typeface="Montserrat"/>
            </a:endParaRPr>
          </a:p>
        </p:txBody>
      </p:sp>
      <p:sp>
        <p:nvSpPr>
          <p:cNvPr id="14" name="_text_subtitle">
            <a:extLst>
              <a:ext uri="{FF2B5EF4-FFF2-40B4-BE49-F238E27FC236}">
                <a16:creationId xmlns:a16="http://schemas.microsoft.com/office/drawing/2014/main" id="{349F65FA-2F05-CFC0-2A35-8E55C6D4939C}"/>
              </a:ext>
            </a:extLst>
          </p:cNvPr>
          <p:cNvSpPr txBox="1">
            <a:spLocks/>
          </p:cNvSpPr>
          <p:nvPr/>
        </p:nvSpPr>
        <p:spPr>
          <a:xfrm>
            <a:off x="589500" y="1158219"/>
            <a:ext cx="8402846" cy="307777"/>
          </a:xfrm>
          <a:prstGeom prst="rect">
            <a:avLst/>
          </a:prstGeom>
          <a:noFill/>
          <a:ln>
            <a:noFill/>
          </a:ln>
        </p:spPr>
        <p:txBody>
          <a:bodyPr spcFirstLastPara="1" wrap="square" lIns="91425" tIns="0" rIns="91425" bIns="0" anchor="t" anchorCtr="0">
            <a:sp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9pPr>
          </a:lstStyle>
          <a:p>
            <a:pPr marL="0" indent="0" algn="l"/>
            <a:r>
              <a:rPr lang="en-GB" sz="2000" dirty="0" err="1">
                <a:solidFill>
                  <a:schemeClr val="lt1"/>
                </a:solidFill>
                <a:latin typeface="Montserrat" panose="00000500000000000000" pitchFamily="2" charset="0"/>
                <a:ea typeface="Lato"/>
                <a:cs typeface="Lato"/>
                <a:sym typeface="Lato"/>
              </a:rPr>
              <a:t>Pitanja na kojima sistem uspeva i ona na kojima pada</a:t>
            </a:r>
            <a:endParaRPr lang="en-GB" sz="2000" dirty="0">
              <a:solidFill>
                <a:schemeClr val="lt1"/>
              </a:solidFill>
              <a:latin typeface="Montserrat" panose="00000500000000000000" pitchFamily="2" charset="0"/>
              <a:ea typeface="Lato"/>
              <a:cs typeface="Lato"/>
              <a:sym typeface="Lato"/>
            </a:endParaRPr>
          </a:p>
        </p:txBody>
      </p:sp>
      <p:sp>
        <p:nvSpPr>
          <p:cNvPr id="25" name="_text_item_1">
            <a:extLst>
              <a:ext uri="{FF2B5EF4-FFF2-40B4-BE49-F238E27FC236}">
                <a16:creationId xmlns:a16="http://schemas.microsoft.com/office/drawing/2014/main" id="{2BF3604B-6E06-8A69-5835-2EFCDC54DD14}"/>
              </a:ext>
            </a:extLst>
          </p:cNvPr>
          <p:cNvSpPr txBox="1"/>
          <p:nvPr/>
        </p:nvSpPr>
        <p:spPr>
          <a:xfrm>
            <a:off x="5134484" y="1826910"/>
            <a:ext cx="3594649" cy="335769"/>
          </a:xfrm>
          <a:prstGeom prst="rect">
            <a:avLst/>
          </a:prstGeom>
          <a:noFill/>
          <a:ln>
            <a:noFill/>
          </a:ln>
        </p:spPr>
        <p:txBody>
          <a:bodyPr spcFirstLastPara="1" wrap="square" lIns="91425" tIns="0" rIns="91425" bIns="0" anchor="ctr" anchorCtr="0">
            <a:noAutofit/>
          </a:bodyPr>
          <a:lstStyle/>
          <a:p>
            <a:pPr marL="0" lvl="0" indent="0" rtl="0">
              <a:spcBef>
                <a:spcPts val="0"/>
              </a:spcBef>
              <a:spcAft>
                <a:spcPts val="0"/>
              </a:spcAft>
              <a:buNone/>
            </a:pPr>
            <a:r>
              <a:rPr lang="sr" sz="1600" dirty="0">
                <a:solidFill>
                  <a:schemeClr val="lt1">
                    <a:alpha val="90000"/>
                  </a:schemeClr>
                </a:solidFill>
                <a:latin typeface="Montserrat Black" panose="00000A00000000000000" pitchFamily="2" charset="0"/>
                <a:ea typeface="Montserrat Black"/>
                <a:cs typeface="Montserrat Black"/>
                <a:sym typeface="Montserrat Black"/>
              </a:rPr>
              <a:t>Podržana pitanja</a:t>
            </a:r>
            <a:endParaRPr sz="1600" dirty="0">
              <a:solidFill>
                <a:schemeClr val="lt1">
                  <a:alpha val="90000"/>
                </a:schemeClr>
              </a:solidFill>
              <a:latin typeface="Montserrat Black" panose="00000A00000000000000" pitchFamily="2" charset="0"/>
              <a:ea typeface="Montserrat Black"/>
              <a:cs typeface="Montserrat Black"/>
              <a:sym typeface="Montserrat Black"/>
            </a:endParaRPr>
          </a:p>
        </p:txBody>
      </p:sp>
      <p:sp>
        <p:nvSpPr>
          <p:cNvPr id="27" name="_img_bullet_1">
            <a:extLst>
              <a:ext uri="{FF2B5EF4-FFF2-40B4-BE49-F238E27FC236}">
                <a16:creationId xmlns:a16="http://schemas.microsoft.com/office/drawing/2014/main" id="{6215C57A-7AE1-272D-49F6-6BA47CA585B7}"/>
              </a:ext>
            </a:extLst>
          </p:cNvPr>
          <p:cNvSpPr/>
          <p:nvPr/>
        </p:nvSpPr>
        <p:spPr>
          <a:xfrm>
            <a:off x="4779434" y="1876383"/>
            <a:ext cx="230470" cy="239992"/>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solidFill>
          <a:ln w="9525" cap="flat">
            <a:noFill/>
            <a:prstDash val="solid"/>
            <a:miter/>
          </a:ln>
        </p:spPr>
        <p:txBody>
          <a:bodyPr/>
          <a:lstStyle/>
          <a:p>
            <a:endParaRPr lang="en-GB"/>
          </a:p>
        </p:txBody>
      </p:sp>
      <p:sp>
        <p:nvSpPr>
          <p:cNvPr id="29" name="_text_item_2">
            <a:extLst>
              <a:ext uri="{FF2B5EF4-FFF2-40B4-BE49-F238E27FC236}">
                <a16:creationId xmlns:a16="http://schemas.microsoft.com/office/drawing/2014/main" id="{13D0246B-410E-37C0-37A0-8693BC5BB1DA}"/>
              </a:ext>
            </a:extLst>
          </p:cNvPr>
          <p:cNvSpPr txBox="1"/>
          <p:nvPr/>
        </p:nvSpPr>
        <p:spPr>
          <a:xfrm>
            <a:off x="5134484" y="2320179"/>
            <a:ext cx="3594649" cy="335769"/>
          </a:xfrm>
          <a:prstGeom prst="rect">
            <a:avLst/>
          </a:prstGeom>
          <a:noFill/>
          <a:ln>
            <a:noFill/>
          </a:ln>
        </p:spPr>
        <p:txBody>
          <a:bodyPr spcFirstLastPara="1" wrap="square" lIns="91425" tIns="0" rIns="91425" bIns="0" anchor="ctr" anchorCtr="0">
            <a:noAutofit/>
          </a:bodyPr>
          <a:lstStyle/>
          <a:p>
            <a:pPr marL="0" lvl="0" indent="0" rtl="0">
              <a:spcBef>
                <a:spcPts val="0"/>
              </a:spcBef>
              <a:spcAft>
                <a:spcPts val="0"/>
              </a:spcAft>
              <a:buNone/>
            </a:pPr>
            <a:r>
              <a:rPr lang="sr" sz="1600" dirty="0">
                <a:solidFill>
                  <a:schemeClr val="lt1">
                    <a:alpha val="90000"/>
                  </a:schemeClr>
                </a:solidFill>
                <a:latin typeface="Montserrat Black" panose="00000A00000000000000" pitchFamily="2" charset="0"/>
                <a:ea typeface="Montserrat Black"/>
                <a:cs typeface="Montserrat Black"/>
                <a:sym typeface="Montserrat Black"/>
              </a:rPr>
              <a:t>Granica chunk-a</a:t>
            </a:r>
            <a:endParaRPr sz="1600" dirty="0">
              <a:solidFill>
                <a:schemeClr val="lt1">
                  <a:alpha val="90000"/>
                </a:schemeClr>
              </a:solidFill>
              <a:latin typeface="Montserrat Black" panose="00000A00000000000000" pitchFamily="2" charset="0"/>
              <a:ea typeface="Montserrat Black"/>
              <a:cs typeface="Montserrat Black"/>
              <a:sym typeface="Montserrat Black"/>
            </a:endParaRPr>
          </a:p>
        </p:txBody>
      </p:sp>
      <p:sp>
        <p:nvSpPr>
          <p:cNvPr id="31" name="_img_bullet_2">
            <a:extLst>
              <a:ext uri="{FF2B5EF4-FFF2-40B4-BE49-F238E27FC236}">
                <a16:creationId xmlns:a16="http://schemas.microsoft.com/office/drawing/2014/main" id="{B96B7868-1BC5-02B4-C8D1-A66D905EA564}"/>
              </a:ext>
            </a:extLst>
          </p:cNvPr>
          <p:cNvSpPr/>
          <p:nvPr/>
        </p:nvSpPr>
        <p:spPr>
          <a:xfrm>
            <a:off x="4779434" y="2369652"/>
            <a:ext cx="230470" cy="239992"/>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solidFill>
          <a:ln w="9525" cap="flat">
            <a:noFill/>
            <a:prstDash val="solid"/>
            <a:miter/>
          </a:ln>
        </p:spPr>
        <p:txBody>
          <a:bodyPr/>
          <a:lstStyle/>
          <a:p>
            <a:endParaRPr lang="en-GB"/>
          </a:p>
        </p:txBody>
      </p:sp>
      <p:sp>
        <p:nvSpPr>
          <p:cNvPr id="33" name="_text_item_3">
            <a:extLst>
              <a:ext uri="{FF2B5EF4-FFF2-40B4-BE49-F238E27FC236}">
                <a16:creationId xmlns:a16="http://schemas.microsoft.com/office/drawing/2014/main" id="{D47BD6A9-BD46-9248-E90E-D88BC9630088}"/>
              </a:ext>
            </a:extLst>
          </p:cNvPr>
          <p:cNvSpPr txBox="1"/>
          <p:nvPr/>
        </p:nvSpPr>
        <p:spPr>
          <a:xfrm>
            <a:off x="5134484" y="2813448"/>
            <a:ext cx="3594649" cy="344275"/>
          </a:xfrm>
          <a:prstGeom prst="rect">
            <a:avLst/>
          </a:prstGeom>
          <a:noFill/>
          <a:ln>
            <a:noFill/>
          </a:ln>
        </p:spPr>
        <p:txBody>
          <a:bodyPr spcFirstLastPara="1" wrap="square" lIns="91425" tIns="0" rIns="91425" bIns="0" anchor="ctr" anchorCtr="0">
            <a:noAutofit/>
          </a:bodyPr>
          <a:lstStyle/>
          <a:p>
            <a:pPr marL="0" lvl="0" indent="0" rtl="0">
              <a:spcBef>
                <a:spcPts val="0"/>
              </a:spcBef>
              <a:spcAft>
                <a:spcPts val="0"/>
              </a:spcAft>
              <a:buNone/>
            </a:pPr>
            <a:r>
              <a:rPr lang="sr" sz="1600" dirty="0">
                <a:solidFill>
                  <a:schemeClr val="lt1">
                    <a:alpha val="90000"/>
                  </a:schemeClr>
                </a:solidFill>
                <a:latin typeface="Montserrat Black" panose="00000A00000000000000" pitchFamily="2" charset="0"/>
                <a:ea typeface="Montserrat Black"/>
                <a:cs typeface="Montserrat Black"/>
                <a:sym typeface="Montserrat Black"/>
              </a:rPr>
              <a:t>Parafraza</a:t>
            </a:r>
            <a:endParaRPr sz="1600" dirty="0">
              <a:solidFill>
                <a:schemeClr val="lt1">
                  <a:alpha val="90000"/>
                </a:schemeClr>
              </a:solidFill>
              <a:latin typeface="Montserrat Black" panose="00000A00000000000000" pitchFamily="2" charset="0"/>
              <a:ea typeface="Montserrat Black"/>
              <a:cs typeface="Montserrat Black"/>
              <a:sym typeface="Montserrat Black"/>
            </a:endParaRPr>
          </a:p>
        </p:txBody>
      </p:sp>
      <p:sp>
        <p:nvSpPr>
          <p:cNvPr id="35" name="_img_bullet_3">
            <a:extLst>
              <a:ext uri="{FF2B5EF4-FFF2-40B4-BE49-F238E27FC236}">
                <a16:creationId xmlns:a16="http://schemas.microsoft.com/office/drawing/2014/main" id="{8FA00B31-B49D-8325-0ADF-ED44C9A7A0E1}"/>
              </a:ext>
            </a:extLst>
          </p:cNvPr>
          <p:cNvSpPr/>
          <p:nvPr/>
        </p:nvSpPr>
        <p:spPr>
          <a:xfrm>
            <a:off x="4779434" y="2866090"/>
            <a:ext cx="230470" cy="239992"/>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solidFill>
          <a:ln w="9525" cap="flat">
            <a:noFill/>
            <a:prstDash val="solid"/>
            <a:miter/>
          </a:ln>
        </p:spPr>
        <p:txBody>
          <a:bodyPr/>
          <a:lstStyle/>
          <a:p>
            <a:endParaRPr lang="en-GB"/>
          </a:p>
        </p:txBody>
      </p:sp>
      <p:sp>
        <p:nvSpPr>
          <p:cNvPr id="37" name="_text_item_4">
            <a:extLst>
              <a:ext uri="{FF2B5EF4-FFF2-40B4-BE49-F238E27FC236}">
                <a16:creationId xmlns:a16="http://schemas.microsoft.com/office/drawing/2014/main" id="{273220C5-22EE-8022-F39D-A4557C1CFEF8}"/>
              </a:ext>
            </a:extLst>
          </p:cNvPr>
          <p:cNvSpPr txBox="1"/>
          <p:nvPr/>
        </p:nvSpPr>
        <p:spPr>
          <a:xfrm>
            <a:off x="5134484" y="3315223"/>
            <a:ext cx="3594649" cy="344275"/>
          </a:xfrm>
          <a:prstGeom prst="rect">
            <a:avLst/>
          </a:prstGeom>
          <a:noFill/>
          <a:ln>
            <a:noFill/>
          </a:ln>
        </p:spPr>
        <p:txBody>
          <a:bodyPr spcFirstLastPara="1" wrap="square" lIns="91425" tIns="0" rIns="91425" bIns="0" anchor="ctr" anchorCtr="0">
            <a:noAutofit/>
          </a:bodyPr>
          <a:lstStyle/>
          <a:p>
            <a:pPr marL="0" lvl="0" indent="0" rtl="0">
              <a:spcBef>
                <a:spcPts val="0"/>
              </a:spcBef>
              <a:spcAft>
                <a:spcPts val="0"/>
              </a:spcAft>
              <a:buNone/>
            </a:pPr>
            <a:r>
              <a:rPr lang="sr" sz="1600" dirty="0">
                <a:solidFill>
                  <a:schemeClr val="lt1">
                    <a:alpha val="90000"/>
                  </a:schemeClr>
                </a:solidFill>
                <a:latin typeface="Montserrat Black" panose="00000A00000000000000" pitchFamily="2" charset="0"/>
                <a:ea typeface="Montserrat Black"/>
                <a:cs typeface="Montserrat Black"/>
                <a:sym typeface="Montserrat Black"/>
              </a:rPr>
              <a:t>Zastarela verzija</a:t>
            </a:r>
            <a:endParaRPr sz="1600" dirty="0">
              <a:solidFill>
                <a:schemeClr val="lt1">
                  <a:alpha val="90000"/>
                </a:schemeClr>
              </a:solidFill>
              <a:latin typeface="Montserrat Black" panose="00000A00000000000000" pitchFamily="2" charset="0"/>
              <a:ea typeface="Montserrat Black"/>
              <a:cs typeface="Montserrat Black"/>
              <a:sym typeface="Montserrat Black"/>
            </a:endParaRPr>
          </a:p>
        </p:txBody>
      </p:sp>
      <p:sp>
        <p:nvSpPr>
          <p:cNvPr id="39" name="_img_bullet_4">
            <a:extLst>
              <a:ext uri="{FF2B5EF4-FFF2-40B4-BE49-F238E27FC236}">
                <a16:creationId xmlns:a16="http://schemas.microsoft.com/office/drawing/2014/main" id="{CCA9E342-3767-225B-CFC9-3615DB0D12D6}"/>
              </a:ext>
            </a:extLst>
          </p:cNvPr>
          <p:cNvSpPr/>
          <p:nvPr/>
        </p:nvSpPr>
        <p:spPr>
          <a:xfrm>
            <a:off x="4779434" y="3367865"/>
            <a:ext cx="230470" cy="239992"/>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solidFill>
          <a:ln w="9525" cap="flat">
            <a:noFill/>
            <a:prstDash val="solid"/>
            <a:miter/>
          </a:ln>
        </p:spPr>
        <p:txBody>
          <a:bodyPr/>
          <a:lstStyle/>
          <a:p>
            <a:endParaRPr lang="en-GB"/>
          </a:p>
        </p:txBody>
      </p:sp>
      <p:sp>
        <p:nvSpPr>
          <p:cNvPr id="41" name="_text_item_5">
            <a:extLst>
              <a:ext uri="{FF2B5EF4-FFF2-40B4-BE49-F238E27FC236}">
                <a16:creationId xmlns:a16="http://schemas.microsoft.com/office/drawing/2014/main" id="{40575A9C-C3BC-A462-BDF0-5A07A92FAD59}"/>
              </a:ext>
            </a:extLst>
          </p:cNvPr>
          <p:cNvSpPr txBox="1"/>
          <p:nvPr/>
        </p:nvSpPr>
        <p:spPr>
          <a:xfrm>
            <a:off x="5134484" y="3816998"/>
            <a:ext cx="3594649" cy="344275"/>
          </a:xfrm>
          <a:prstGeom prst="rect">
            <a:avLst/>
          </a:prstGeom>
          <a:noFill/>
          <a:ln>
            <a:noFill/>
          </a:ln>
        </p:spPr>
        <p:txBody>
          <a:bodyPr spcFirstLastPara="1" wrap="square" lIns="91425" tIns="0" rIns="91425" bIns="0" anchor="ctr" anchorCtr="0">
            <a:noAutofit/>
          </a:bodyPr>
          <a:lstStyle/>
          <a:p>
            <a:pPr marL="0" lvl="0" indent="0" rtl="0">
              <a:spcBef>
                <a:spcPts val="0"/>
              </a:spcBef>
              <a:spcAft>
                <a:spcPts val="0"/>
              </a:spcAft>
              <a:buNone/>
            </a:pPr>
            <a:r>
              <a:rPr lang="sr" sz="1600" dirty="0">
                <a:solidFill>
                  <a:schemeClr val="lt1">
                    <a:alpha val="90000"/>
                  </a:schemeClr>
                </a:solidFill>
                <a:latin typeface="Montserrat Black" panose="00000A00000000000000" pitchFamily="2" charset="0"/>
                <a:ea typeface="Montserrat Black"/>
                <a:cs typeface="Montserrat Black"/>
                <a:sym typeface="Montserrat Black"/>
              </a:rPr>
              <a:t>Bez odgovora</a:t>
            </a:r>
            <a:endParaRPr sz="1600" dirty="0">
              <a:solidFill>
                <a:schemeClr val="lt1">
                  <a:alpha val="90000"/>
                </a:schemeClr>
              </a:solidFill>
              <a:latin typeface="Montserrat Black" panose="00000A00000000000000" pitchFamily="2" charset="0"/>
              <a:ea typeface="Montserrat Black"/>
              <a:cs typeface="Montserrat Black"/>
              <a:sym typeface="Montserrat Black"/>
            </a:endParaRPr>
          </a:p>
        </p:txBody>
      </p:sp>
      <p:sp>
        <p:nvSpPr>
          <p:cNvPr id="43" name="_img_bullet_5">
            <a:extLst>
              <a:ext uri="{FF2B5EF4-FFF2-40B4-BE49-F238E27FC236}">
                <a16:creationId xmlns:a16="http://schemas.microsoft.com/office/drawing/2014/main" id="{88E2A4B8-5381-9AC7-921F-7F90CD52B012}"/>
              </a:ext>
            </a:extLst>
          </p:cNvPr>
          <p:cNvSpPr/>
          <p:nvPr/>
        </p:nvSpPr>
        <p:spPr>
          <a:xfrm>
            <a:off x="4779434" y="3869640"/>
            <a:ext cx="230470" cy="239992"/>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solidFill>
          <a:ln w="9525" cap="flat">
            <a:noFill/>
            <a:prstDash val="solid"/>
            <a:miter/>
          </a:ln>
        </p:spPr>
        <p:txBody>
          <a:bodyPr/>
          <a:lstStyle/>
          <a:p>
            <a:endParaRPr lang="en-GB"/>
          </a:p>
        </p:txBody>
      </p:sp>
      <p:sp>
        <p:nvSpPr>
          <p:cNvPr id="49" name="_text_main_content">
            <a:extLst>
              <a:ext uri="{FF2B5EF4-FFF2-40B4-BE49-F238E27FC236}">
                <a16:creationId xmlns:a16="http://schemas.microsoft.com/office/drawing/2014/main" id="{9CD26AB8-6295-70AF-8BAB-EE4D1C2211AA}"/>
              </a:ext>
            </a:extLst>
          </p:cNvPr>
          <p:cNvSpPr txBox="1"/>
          <p:nvPr/>
        </p:nvSpPr>
        <p:spPr>
          <a:xfrm>
            <a:off x="589500" y="1648741"/>
            <a:ext cx="3982500" cy="2605811"/>
          </a:xfrm>
          <a:prstGeom prst="rect">
            <a:avLst/>
          </a:prstGeom>
          <a:noFill/>
          <a:ln>
            <a:noFill/>
          </a:ln>
        </p:spPr>
        <p:txBody>
          <a:bodyPr spcFirstLastPara="1" wrap="square" lIns="91425" tIns="91425" rIns="360000" bIns="91425" anchor="t" anchorCtr="0">
            <a:spAutoFit/>
          </a:bodyPr>
          <a:lstStyle/>
          <a:p>
            <a:pPr marL="0" lvl="0" indent="0" algn="l" rtl="0">
              <a:spcBef>
                <a:spcPts val="0"/>
              </a:spcBef>
              <a:spcAft>
                <a:spcPts val="800"/>
              </a:spcAft>
              <a:buNone/>
            </a:pPr>
            <a:r>
              <a:rPr lang="sr" sz="1200" dirty="0">
                <a:solidFill>
                  <a:srgbClr val="D1E2ED"/>
                </a:solidFill>
                <a:latin typeface="Lato"/>
                <a:ea typeface="Lato"/>
                <a:cs typeface="Lato"/>
                <a:sym typeface="Lato"/>
              </a:rPr>
              <a:t>Skup samo od lakih pitanja meri utisak, ne kvalitet. Dobar skup namerno sadrži slučajeve u kojima RAG obično greši. Bez pitanja bez odgovora ne možemo proveriti odbijanje, a bez parafraza ne vidimo slabost leksičke pretrage. Svako od 12 pitanja ove nedelje ima kategoriju, očekivano ponašanje i očekivani dokument.</a:t>
            </a:r>
            <a:endParaRPr sz="1200" dirty="0">
              <a:solidFill>
                <a:srgbClr val="D1E2ED"/>
              </a:solidFill>
              <a:latin typeface="Lato"/>
              <a:ea typeface="Lato"/>
              <a:cs typeface="Lato"/>
              <a:sym typeface="Lato"/>
            </a:endParaRPr>
          </a:p>
        </p:txBody>
      </p:sp>
      <p:pic>
        <p:nvPicPr>
          <p:cNvPr id="50" name="_image_small_company_logo" descr="EPAM"/>
          <p:cNvPicPr>
            <a:picLocks noChangeAspect="1"/>
          </p:cNvPicPr>
          <p:nvPr/>
        </p:nvPicPr>
        <p:blipFill>
          <a:blip r:embed="rId4"/>
          <a:stretch>
            <a:fillRect/>
          </a:stretch>
        </p:blipFill>
        <p:spPr>
          <a:xfrm>
            <a:off x="490324" y="344427"/>
            <a:ext cx="504923" cy="177800"/>
          </a:xfrm>
          <a:prstGeom prst="rect">
            <a:avLst/>
          </a:prstGeom>
        </p:spPr>
      </p:pic>
      <p:sp>
        <p:nvSpPr>
          <p:cNvPr id="47" name="_text_section">
            <a:extLst>
              <a:ext uri="{FF2B5EF4-FFF2-40B4-BE49-F238E27FC236}">
                <a16:creationId xmlns:a16="http://schemas.microsoft.com/office/drawing/2014/main" id="{7B42A645-2990-3E2F-79CB-7F037CAC30AE}"/>
              </a:ext>
            </a:extLst>
          </p:cNvPr>
          <p:cNvSpPr txBox="1">
            <a:spLocks/>
          </p:cNvSpPr>
          <p:nvPr/>
        </p:nvSpPr>
        <p:spPr>
          <a:xfrm>
            <a:off x="5927725" y="4663806"/>
            <a:ext cx="2564917" cy="15388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9pPr>
          </a:lstStyle>
          <a:p>
            <a:pPr marL="0" indent="0" algn="r"/>
            <a:r>
              <a:rPr lang="sr-Latn-RS" sz="1000" dirty="0">
                <a:solidFill>
                  <a:schemeClr val="lt1"/>
                </a:solidFill>
                <a:latin typeface="Lato"/>
                <a:ea typeface="Lato"/>
                <a:cs typeface="Lato"/>
                <a:sym typeface="Lato"/>
              </a:rPr>
              <a:t>Uvod</a:t>
            </a:r>
            <a:endParaRPr lang="en-GB" sz="1000" dirty="0">
              <a:solidFill>
                <a:schemeClr val="lt1"/>
              </a:solidFill>
              <a:latin typeface="Lato"/>
              <a:ea typeface="Lato"/>
              <a:cs typeface="Lato"/>
              <a:sym typeface="Lato"/>
            </a:endParaRPr>
          </a:p>
        </p:txBody>
      </p:sp>
      <p:sp>
        <p:nvSpPr>
          <p:cNvPr id="45" name="_text_page">
            <a:extLst>
              <a:ext uri="{FF2B5EF4-FFF2-40B4-BE49-F238E27FC236}">
                <a16:creationId xmlns:a16="http://schemas.microsoft.com/office/drawing/2014/main" id="{51A1F65A-7AB2-6F31-7EDA-F277BE44D479}"/>
              </a:ext>
            </a:extLst>
          </p:cNvPr>
          <p:cNvSpPr txBox="1"/>
          <p:nvPr/>
        </p:nvSpPr>
        <p:spPr>
          <a:xfrm>
            <a:off x="8492643" y="4500000"/>
            <a:ext cx="469800" cy="481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800" dirty="0">
                <a:solidFill>
                  <a:schemeClr val="lt1"/>
                </a:solidFill>
                <a:latin typeface="Montserrat"/>
                <a:ea typeface="Montserrat"/>
                <a:cs typeface="Montserrat"/>
                <a:sym typeface="Montserrat"/>
              </a:rPr>
              <a:t>8</a:t>
            </a:r>
            <a:endParaRPr sz="1800" dirty="0">
              <a:solidFill>
                <a:schemeClr val="lt1"/>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9000" r="-29000"/>
          </a:stretch>
        </a:blip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2BF515C-563B-979D-9C67-04BB26B2F6A2}"/>
              </a:ext>
            </a:extLst>
          </p:cNvPr>
          <p:cNvSpPr/>
          <p:nvPr/>
        </p:nvSpPr>
        <p:spPr>
          <a:xfrm>
            <a:off x="2717800" y="0"/>
            <a:ext cx="6426201" cy="5143500"/>
          </a:xfrm>
          <a:custGeom>
            <a:avLst/>
            <a:gdLst>
              <a:gd name="csX0" fmla="*/ 905383 w 6426201"/>
              <a:gd name="csY0" fmla="*/ 0 h 5143500"/>
              <a:gd name="csX1" fmla="*/ 2497177 w 6426201"/>
              <a:gd name="csY1" fmla="*/ 0 h 5143500"/>
              <a:gd name="csX2" fmla="*/ 2467862 w 6426201"/>
              <a:gd name="csY2" fmla="*/ 35902 h 5143500"/>
              <a:gd name="csX3" fmla="*/ 2503842 w 6426201"/>
              <a:gd name="csY3" fmla="*/ 389331 h 5143500"/>
              <a:gd name="csX4" fmla="*/ 2901337 w 6426201"/>
              <a:gd name="csY4" fmla="*/ 389331 h 5143500"/>
              <a:gd name="csX5" fmla="*/ 3290630 w 6426201"/>
              <a:gd name="csY5" fmla="*/ 0 h 5143500"/>
              <a:gd name="csX6" fmla="*/ 4880482 w 6426201"/>
              <a:gd name="csY6" fmla="*/ 0 h 5143500"/>
              <a:gd name="csX7" fmla="*/ 1758651 w 6426201"/>
              <a:gd name="csY7" fmla="*/ 3121695 h 5143500"/>
              <a:gd name="csX8" fmla="*/ 1758651 w 6426201"/>
              <a:gd name="csY8" fmla="*/ 3519191 h 5143500"/>
              <a:gd name="csX9" fmla="*/ 2156147 w 6426201"/>
              <a:gd name="csY9" fmla="*/ 3519191 h 5143500"/>
              <a:gd name="csX10" fmla="*/ 5675617 w 6426201"/>
              <a:gd name="csY10" fmla="*/ 0 h 5143500"/>
              <a:gd name="csX11" fmla="*/ 6426201 w 6426201"/>
              <a:gd name="csY11" fmla="*/ 0 h 5143500"/>
              <a:gd name="csX12" fmla="*/ 6426201 w 6426201"/>
              <a:gd name="csY12" fmla="*/ 841724 h 5143500"/>
              <a:gd name="csX13" fmla="*/ 6399107 w 6426201"/>
              <a:gd name="csY13" fmla="*/ 874906 h 5143500"/>
              <a:gd name="csX14" fmla="*/ 6399107 w 6426201"/>
              <a:gd name="csY14" fmla="*/ 1184271 h 5143500"/>
              <a:gd name="csX15" fmla="*/ 6426201 w 6426201"/>
              <a:gd name="csY15" fmla="*/ 1217454 h 5143500"/>
              <a:gd name="csX16" fmla="*/ 6426201 w 6426201"/>
              <a:gd name="csY16" fmla="*/ 3224795 h 5143500"/>
              <a:gd name="csX17" fmla="*/ 5698729 w 6426201"/>
              <a:gd name="csY17" fmla="*/ 3952325 h 5143500"/>
              <a:gd name="csX18" fmla="*/ 5698729 w 6426201"/>
              <a:gd name="csY18" fmla="*/ 4349820 h 5143500"/>
              <a:gd name="csX19" fmla="*/ 6096226 w 6426201"/>
              <a:gd name="csY19" fmla="*/ 4349820 h 5143500"/>
              <a:gd name="csX20" fmla="*/ 6426201 w 6426201"/>
              <a:gd name="csY20" fmla="*/ 4019844 h 5143500"/>
              <a:gd name="csX21" fmla="*/ 6426201 w 6426201"/>
              <a:gd name="csY21" fmla="*/ 5143500 h 5143500"/>
              <a:gd name="csX22" fmla="*/ 5302181 w 6426201"/>
              <a:gd name="csY22" fmla="*/ 5143500 h 5143500"/>
              <a:gd name="csX23" fmla="*/ 5337216 w 6426201"/>
              <a:gd name="csY23" fmla="*/ 5100594 h 5143500"/>
              <a:gd name="csX24" fmla="*/ 5301235 w 6426201"/>
              <a:gd name="csY24" fmla="*/ 4747164 h 5143500"/>
              <a:gd name="csX25" fmla="*/ 4903739 w 6426201"/>
              <a:gd name="csY25" fmla="*/ 4747164 h 5143500"/>
              <a:gd name="csX26" fmla="*/ 4507404 w 6426201"/>
              <a:gd name="csY26" fmla="*/ 5143500 h 5143500"/>
              <a:gd name="csX27" fmla="*/ 2917405 w 6426201"/>
              <a:gd name="csY27" fmla="*/ 5143500 h 5143500"/>
              <a:gd name="csX28" fmla="*/ 6037591 w 6426201"/>
              <a:gd name="csY28" fmla="*/ 2023176 h 5143500"/>
              <a:gd name="csX29" fmla="*/ 6037591 w 6426201"/>
              <a:gd name="csY29" fmla="*/ 1625681 h 5143500"/>
              <a:gd name="csX30" fmla="*/ 5640096 w 6426201"/>
              <a:gd name="csY30" fmla="*/ 1625681 h 5143500"/>
              <a:gd name="csX31" fmla="*/ 2121855 w 6426201"/>
              <a:gd name="csY31" fmla="*/ 5143500 h 5143500"/>
              <a:gd name="csX32" fmla="*/ 896983 w 6426201"/>
              <a:gd name="csY32" fmla="*/ 5143500 h 5143500"/>
              <a:gd name="csX33" fmla="*/ 893618 w 6426201"/>
              <a:gd name="csY33" fmla="*/ 5132153 h 5143500"/>
              <a:gd name="csX34" fmla="*/ 1048034 w 6426201"/>
              <a:gd name="csY34" fmla="*/ 4627306 h 5143500"/>
              <a:gd name="csX35" fmla="*/ 1361157 w 6426201"/>
              <a:gd name="csY35" fmla="*/ 4314183 h 5143500"/>
              <a:gd name="csX36" fmla="*/ 1361157 w 6426201"/>
              <a:gd name="csY36" fmla="*/ 3916686 h 5143500"/>
              <a:gd name="csX37" fmla="*/ 963661 w 6426201"/>
              <a:gd name="csY37" fmla="*/ 3916686 h 5143500"/>
              <a:gd name="csX38" fmla="*/ 959702 w 6426201"/>
              <a:gd name="csY38" fmla="*/ 3920647 h 5143500"/>
              <a:gd name="csX39" fmla="*/ 164711 w 6426201"/>
              <a:gd name="csY39" fmla="*/ 3920647 h 5143500"/>
              <a:gd name="csX40" fmla="*/ 164711 w 6426201"/>
              <a:gd name="csY40" fmla="*/ 3125656 h 5143500"/>
              <a:gd name="csX41" fmla="*/ 2106042 w 6426201"/>
              <a:gd name="csY41" fmla="*/ 1184171 h 5143500"/>
              <a:gd name="csX42" fmla="*/ 2106042 w 6426201"/>
              <a:gd name="csY42" fmla="*/ 786674 h 5143500"/>
              <a:gd name="csX43" fmla="*/ 1708546 w 6426201"/>
              <a:gd name="csY43" fmla="*/ 786674 h 5143500"/>
              <a:gd name="csX44" fmla="*/ 1326585 w 6426201"/>
              <a:gd name="csY44" fmla="*/ 1168636 h 5143500"/>
              <a:gd name="csX45" fmla="*/ 531594 w 6426201"/>
              <a:gd name="csY45" fmla="*/ 1168636 h 5143500"/>
              <a:gd name="csX46" fmla="*/ 531594 w 6426201"/>
              <a:gd name="csY46" fmla="*/ 373644 h 514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426201" h="5143500">
                <a:moveTo>
                  <a:pt x="905383" y="0"/>
                </a:moveTo>
                <a:lnTo>
                  <a:pt x="2497177" y="0"/>
                </a:lnTo>
                <a:lnTo>
                  <a:pt x="2467862" y="35902"/>
                </a:lnTo>
                <a:cubicBezTo>
                  <a:pt x="2395902" y="144966"/>
                  <a:pt x="2407895" y="293384"/>
                  <a:pt x="2503842" y="389331"/>
                </a:cubicBezTo>
                <a:cubicBezTo>
                  <a:pt x="2613496" y="498985"/>
                  <a:pt x="2791683" y="498985"/>
                  <a:pt x="2901337" y="389331"/>
                </a:cubicBezTo>
                <a:lnTo>
                  <a:pt x="3290630" y="0"/>
                </a:lnTo>
                <a:lnTo>
                  <a:pt x="4880482" y="0"/>
                </a:lnTo>
                <a:lnTo>
                  <a:pt x="1758651" y="3121695"/>
                </a:lnTo>
                <a:cubicBezTo>
                  <a:pt x="1648997" y="3231349"/>
                  <a:pt x="1648997" y="3409537"/>
                  <a:pt x="1758651" y="3519191"/>
                </a:cubicBezTo>
                <a:cubicBezTo>
                  <a:pt x="1868305" y="3628845"/>
                  <a:pt x="2046494" y="3628845"/>
                  <a:pt x="2156147" y="3519191"/>
                </a:cubicBezTo>
                <a:lnTo>
                  <a:pt x="5675617" y="0"/>
                </a:lnTo>
                <a:lnTo>
                  <a:pt x="6426201" y="0"/>
                </a:lnTo>
                <a:lnTo>
                  <a:pt x="6426201" y="841724"/>
                </a:lnTo>
                <a:lnTo>
                  <a:pt x="6399107" y="874906"/>
                </a:lnTo>
                <a:cubicBezTo>
                  <a:pt x="6337426" y="968391"/>
                  <a:pt x="6337426" y="1090787"/>
                  <a:pt x="6399107" y="1184271"/>
                </a:cubicBezTo>
                <a:lnTo>
                  <a:pt x="6426201" y="1217454"/>
                </a:lnTo>
                <a:lnTo>
                  <a:pt x="6426201" y="3224795"/>
                </a:lnTo>
                <a:lnTo>
                  <a:pt x="5698729" y="3952325"/>
                </a:lnTo>
                <a:cubicBezTo>
                  <a:pt x="5589076" y="4061979"/>
                  <a:pt x="5589076" y="4240166"/>
                  <a:pt x="5698729" y="4349820"/>
                </a:cubicBezTo>
                <a:cubicBezTo>
                  <a:pt x="5808383" y="4459475"/>
                  <a:pt x="5986572" y="4459475"/>
                  <a:pt x="6096226" y="4349820"/>
                </a:cubicBezTo>
                <a:lnTo>
                  <a:pt x="6426201" y="4019844"/>
                </a:lnTo>
                <a:lnTo>
                  <a:pt x="6426201" y="5143500"/>
                </a:lnTo>
                <a:lnTo>
                  <a:pt x="5302181" y="5143500"/>
                </a:lnTo>
                <a:lnTo>
                  <a:pt x="5337216" y="5100594"/>
                </a:lnTo>
                <a:cubicBezTo>
                  <a:pt x="5409176" y="4991529"/>
                  <a:pt x="5397183" y="4843112"/>
                  <a:pt x="5301235" y="4747164"/>
                </a:cubicBezTo>
                <a:cubicBezTo>
                  <a:pt x="5191581" y="4637510"/>
                  <a:pt x="5013393" y="4637510"/>
                  <a:pt x="4903739" y="4747164"/>
                </a:cubicBezTo>
                <a:lnTo>
                  <a:pt x="4507404" y="5143500"/>
                </a:lnTo>
                <a:lnTo>
                  <a:pt x="2917405" y="5143500"/>
                </a:lnTo>
                <a:lnTo>
                  <a:pt x="6037591" y="2023176"/>
                </a:lnTo>
                <a:cubicBezTo>
                  <a:pt x="6147246" y="1913522"/>
                  <a:pt x="6147246" y="1735335"/>
                  <a:pt x="6037591" y="1625681"/>
                </a:cubicBezTo>
                <a:cubicBezTo>
                  <a:pt x="5927938" y="1516027"/>
                  <a:pt x="5749749" y="1516027"/>
                  <a:pt x="5640096" y="1625681"/>
                </a:cubicBezTo>
                <a:lnTo>
                  <a:pt x="2121855" y="5143500"/>
                </a:lnTo>
                <a:lnTo>
                  <a:pt x="896983" y="5143500"/>
                </a:lnTo>
                <a:lnTo>
                  <a:pt x="893618" y="5132153"/>
                </a:lnTo>
                <a:cubicBezTo>
                  <a:pt x="859304" y="4955007"/>
                  <a:pt x="910776" y="4764564"/>
                  <a:pt x="1048034" y="4627306"/>
                </a:cubicBezTo>
                <a:lnTo>
                  <a:pt x="1361157" y="4314183"/>
                </a:lnTo>
                <a:cubicBezTo>
                  <a:pt x="1470811" y="4204529"/>
                  <a:pt x="1470811" y="4026342"/>
                  <a:pt x="1361157" y="3916686"/>
                </a:cubicBezTo>
                <a:cubicBezTo>
                  <a:pt x="1251503" y="3807032"/>
                  <a:pt x="1073314" y="3807032"/>
                  <a:pt x="963661" y="3916686"/>
                </a:cubicBezTo>
                <a:lnTo>
                  <a:pt x="959702" y="3920647"/>
                </a:lnTo>
                <a:cubicBezTo>
                  <a:pt x="740088" y="4140107"/>
                  <a:pt x="384322" y="4140107"/>
                  <a:pt x="164711" y="3920647"/>
                </a:cubicBezTo>
                <a:cubicBezTo>
                  <a:pt x="-54903" y="3701034"/>
                  <a:pt x="-54903" y="3345115"/>
                  <a:pt x="164711" y="3125656"/>
                </a:cubicBezTo>
                <a:lnTo>
                  <a:pt x="2106042" y="1184171"/>
                </a:lnTo>
                <a:cubicBezTo>
                  <a:pt x="2215696" y="1074517"/>
                  <a:pt x="2215696" y="896328"/>
                  <a:pt x="2106042" y="786674"/>
                </a:cubicBezTo>
                <a:cubicBezTo>
                  <a:pt x="1996388" y="677020"/>
                  <a:pt x="1818200" y="677020"/>
                  <a:pt x="1708546" y="786674"/>
                </a:cubicBezTo>
                <a:lnTo>
                  <a:pt x="1326585" y="1168636"/>
                </a:lnTo>
                <a:cubicBezTo>
                  <a:pt x="1106973" y="1388249"/>
                  <a:pt x="751207" y="1388249"/>
                  <a:pt x="531594" y="1168636"/>
                </a:cubicBezTo>
                <a:cubicBezTo>
                  <a:pt x="311983" y="949024"/>
                  <a:pt x="311983" y="593258"/>
                  <a:pt x="531594" y="373644"/>
                </a:cubicBezTo>
                <a:close/>
              </a:path>
            </a:pathLst>
          </a:custGeom>
          <a:solidFill>
            <a:srgbClr val="FFFF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 name="_text_title">
            <a:extLst>
              <a:ext uri="{FF2B5EF4-FFF2-40B4-BE49-F238E27FC236}">
                <a16:creationId xmlns:a16="http://schemas.microsoft.com/office/drawing/2014/main" id="{6F6B512F-576E-521F-9547-D4EB4DB18981}"/>
              </a:ext>
            </a:extLst>
          </p:cNvPr>
          <p:cNvSpPr txBox="1">
            <a:spLocks/>
          </p:cNvSpPr>
          <p:nvPr/>
        </p:nvSpPr>
        <p:spPr>
          <a:xfrm>
            <a:off x="589500" y="724453"/>
            <a:ext cx="8402846" cy="430887"/>
          </a:xfrm>
          <a:prstGeom prst="rect">
            <a:avLst/>
          </a:prstGeom>
          <a:noFill/>
          <a:ln>
            <a:noFill/>
          </a:ln>
        </p:spPr>
        <p:txBody>
          <a:bodyPr spcFirstLastPara="1" wrap="square" lIns="91425" tIns="0" rIns="91425" bIns="0" anchor="b" anchorCtr="0">
            <a:sp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9pPr>
          </a:lstStyle>
          <a:p>
            <a:pPr algn="l">
              <a:buSzPts val="990"/>
            </a:pPr>
            <a:r>
              <a:rPr lang="en-GB" sz="2800" spc="-150" dirty="0">
                <a:solidFill>
                  <a:schemeClr val="lt1">
                    <a:alpha val="90000"/>
                  </a:schemeClr>
                </a:solidFill>
                <a:latin typeface="Montserrat Black" panose="00000A00000000000000" pitchFamily="2" charset="0"/>
                <a:ea typeface="Montserrat"/>
                <a:cs typeface="Montserrat"/>
                <a:sym typeface="Montserrat"/>
              </a:rPr>
              <a:t>Dve discipline ove nedelje</a:t>
            </a:r>
          </a:p>
        </p:txBody>
      </p:sp>
      <p:sp>
        <p:nvSpPr>
          <p:cNvPr id="9" name="_text_subtitle">
            <a:extLst>
              <a:ext uri="{FF2B5EF4-FFF2-40B4-BE49-F238E27FC236}">
                <a16:creationId xmlns:a16="http://schemas.microsoft.com/office/drawing/2014/main" id="{C3828B17-F705-5B83-D8D5-9EF6EAA45FB3}"/>
              </a:ext>
            </a:extLst>
          </p:cNvPr>
          <p:cNvSpPr txBox="1">
            <a:spLocks/>
          </p:cNvSpPr>
          <p:nvPr/>
        </p:nvSpPr>
        <p:spPr>
          <a:xfrm>
            <a:off x="589500" y="1158219"/>
            <a:ext cx="8402846" cy="307777"/>
          </a:xfrm>
          <a:prstGeom prst="rect">
            <a:avLst/>
          </a:prstGeom>
          <a:noFill/>
          <a:ln>
            <a:noFill/>
          </a:ln>
        </p:spPr>
        <p:txBody>
          <a:bodyPr spcFirstLastPara="1" wrap="square" lIns="91425" tIns="0" rIns="91425" bIns="0" anchor="t" anchorCtr="0">
            <a:sp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9pPr>
          </a:lstStyle>
          <a:p>
            <a:pPr marL="0" indent="0" algn="l"/>
            <a:r>
              <a:rPr lang="en-GB" sz="2000" dirty="0" err="1">
                <a:solidFill>
                  <a:schemeClr val="lt1"/>
                </a:solidFill>
                <a:latin typeface="Montserrat" panose="00000500000000000000" pitchFamily="2" charset="0"/>
                <a:ea typeface="Lato"/>
                <a:cs typeface="Lato"/>
                <a:sym typeface="Lato"/>
              </a:rPr>
              <a:t>Bez njih poboljšanje je samo utisak</a:t>
            </a:r>
            <a:endParaRPr lang="en-GB" sz="2000" dirty="0">
              <a:solidFill>
                <a:schemeClr val="lt1"/>
              </a:solidFill>
              <a:latin typeface="Montserrat" panose="00000500000000000000" pitchFamily="2" charset="0"/>
              <a:ea typeface="Lato"/>
              <a:cs typeface="Lato"/>
              <a:sym typeface="Lato"/>
            </a:endParaRPr>
          </a:p>
        </p:txBody>
      </p:sp>
      <p:sp>
        <p:nvSpPr>
          <p:cNvPr id="3" name="Graphic 4">
            <a:extLst>
              <a:ext uri="{FF2B5EF4-FFF2-40B4-BE49-F238E27FC236}">
                <a16:creationId xmlns:a16="http://schemas.microsoft.com/office/drawing/2014/main" id="{83415C52-2B7E-8EC2-8808-32366AC9F5A8}"/>
              </a:ext>
            </a:extLst>
          </p:cNvPr>
          <p:cNvSpPr/>
          <p:nvPr/>
        </p:nvSpPr>
        <p:spPr>
          <a:xfrm>
            <a:off x="213083" y="343327"/>
            <a:ext cx="180000" cy="180000"/>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alpha val="95000"/>
            </a:srgbClr>
          </a:solidFill>
          <a:ln w="9525" cap="flat">
            <a:noFill/>
            <a:prstDash val="solid"/>
            <a:miter/>
          </a:ln>
        </p:spPr>
        <p:txBody>
          <a:bodyPr/>
          <a:lstStyle/>
          <a:p>
            <a:endParaRPr lang="en-GB"/>
          </a:p>
        </p:txBody>
      </p:sp>
      <p:sp>
        <p:nvSpPr>
          <p:cNvPr id="11" name="_text_point_2">
            <a:extLst>
              <a:ext uri="{FF2B5EF4-FFF2-40B4-BE49-F238E27FC236}">
                <a16:creationId xmlns:a16="http://schemas.microsoft.com/office/drawing/2014/main" id="{4631E6EC-547A-488C-F3DA-980D2BC26D9F}"/>
              </a:ext>
            </a:extLst>
          </p:cNvPr>
          <p:cNvSpPr/>
          <p:nvPr/>
        </p:nvSpPr>
        <p:spPr>
          <a:xfrm>
            <a:off x="611243" y="2765705"/>
            <a:ext cx="6480000" cy="355635"/>
          </a:xfrm>
          <a:prstGeom prst="roundRect">
            <a:avLst>
              <a:gd name="adj" fmla="val 50000"/>
            </a:avLst>
          </a:prstGeom>
          <a:gradFill>
            <a:gsLst>
              <a:gs pos="0">
                <a:srgbClr val="2F5D8B"/>
              </a:gs>
              <a:gs pos="100000">
                <a:srgbClr val="29091B">
                  <a:alpha val="9000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0" bIns="0" rtlCol="0" anchor="ctr"/>
          <a:lstStyle/>
          <a:p>
            <a:r>
              <a:rPr lang="da-DK" b="1" dirty="0">
                <a:latin typeface="Montserrat"/>
                <a:ea typeface="Montserrat"/>
                <a:cs typeface="Montserrat"/>
                <a:sym typeface="Montserrat"/>
              </a:rPr>
              <a:t>Pravilo jedne promene između merenja</a:t>
            </a:r>
          </a:p>
        </p:txBody>
      </p:sp>
      <p:sp>
        <p:nvSpPr>
          <p:cNvPr id="12" name="_text_point_1">
            <a:extLst>
              <a:ext uri="{FF2B5EF4-FFF2-40B4-BE49-F238E27FC236}">
                <a16:creationId xmlns:a16="http://schemas.microsoft.com/office/drawing/2014/main" id="{88AE20C2-9F43-D1C4-22DF-E2CD72F63BB1}"/>
              </a:ext>
            </a:extLst>
          </p:cNvPr>
          <p:cNvSpPr/>
          <p:nvPr/>
        </p:nvSpPr>
        <p:spPr>
          <a:xfrm>
            <a:off x="640143" y="2268040"/>
            <a:ext cx="7200000" cy="355635"/>
          </a:xfrm>
          <a:prstGeom prst="roundRect">
            <a:avLst>
              <a:gd name="adj" fmla="val 50000"/>
            </a:avLst>
          </a:prstGeom>
          <a:gradFill>
            <a:gsLst>
              <a:gs pos="0">
                <a:srgbClr val="2F5D8B"/>
              </a:gs>
              <a:gs pos="100000">
                <a:srgbClr val="29091B">
                  <a:alpha val="9000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0" bIns="0" rtlCol="0" anchor="ctr"/>
          <a:lstStyle/>
          <a:p>
            <a:r>
              <a:rPr lang="da-DK" b="1" dirty="0">
                <a:latin typeface="Montserrat"/>
                <a:ea typeface="Montserrat"/>
                <a:cs typeface="Montserrat"/>
                <a:sym typeface="Montserrat"/>
              </a:rPr>
              <a:t>Fiksni eval skup: ista pitanja pre i posle</a:t>
            </a:r>
          </a:p>
        </p:txBody>
      </p:sp>
      <p:sp>
        <p:nvSpPr>
          <p:cNvPr id="25" name="_text_main_content">
            <a:extLst>
              <a:ext uri="{FF2B5EF4-FFF2-40B4-BE49-F238E27FC236}">
                <a16:creationId xmlns:a16="http://schemas.microsoft.com/office/drawing/2014/main" id="{23A1A0AD-C92A-17E4-83CF-2CEFF6083FB6}"/>
              </a:ext>
            </a:extLst>
          </p:cNvPr>
          <p:cNvSpPr txBox="1"/>
          <p:nvPr/>
        </p:nvSpPr>
        <p:spPr>
          <a:xfrm>
            <a:off x="589500" y="1648741"/>
            <a:ext cx="7914900" cy="65656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800"/>
              </a:spcAft>
              <a:buNone/>
            </a:pPr>
            <a:r>
              <a:rPr lang="sr" sz="1200" dirty="0">
                <a:solidFill>
                  <a:srgbClr val="D1E2ED"/>
                </a:solidFill>
                <a:latin typeface="Lato"/>
                <a:ea typeface="Lato"/>
                <a:cs typeface="Lato"/>
                <a:sym typeface="Lato"/>
              </a:rPr>
              <a:t>Fiksni skup čini merenja uporedivim, jer se pitanja ne menjaju. Jedna promena čini razliku objašnjivom, jer rezultat pripada jednoj odluci.</a:t>
            </a:r>
            <a:endParaRPr sz="1200" dirty="0">
              <a:solidFill>
                <a:srgbClr val="D1E2ED"/>
              </a:solidFill>
              <a:latin typeface="Lato"/>
              <a:ea typeface="Lato"/>
              <a:cs typeface="Lato"/>
              <a:sym typeface="Lato"/>
            </a:endParaRPr>
          </a:p>
        </p:txBody>
      </p:sp>
      <p:pic>
        <p:nvPicPr>
          <p:cNvPr id="26" name="_image_small_company_logo" descr="EPAM"/>
          <p:cNvPicPr>
            <a:picLocks noChangeAspect="1"/>
          </p:cNvPicPr>
          <p:nvPr/>
        </p:nvPicPr>
        <p:blipFill>
          <a:blip r:embed="rId4"/>
          <a:stretch>
            <a:fillRect/>
          </a:stretch>
        </p:blipFill>
        <p:spPr>
          <a:xfrm>
            <a:off x="490324" y="344427"/>
            <a:ext cx="504923" cy="177800"/>
          </a:xfrm>
          <a:prstGeom prst="rect">
            <a:avLst/>
          </a:prstGeom>
        </p:spPr>
      </p:pic>
      <p:sp>
        <p:nvSpPr>
          <p:cNvPr id="23" name="_text_section">
            <a:extLst>
              <a:ext uri="{FF2B5EF4-FFF2-40B4-BE49-F238E27FC236}">
                <a16:creationId xmlns:a16="http://schemas.microsoft.com/office/drawing/2014/main" id="{DC5D0AAC-CEA8-99E1-4378-3862874FD819}"/>
              </a:ext>
            </a:extLst>
          </p:cNvPr>
          <p:cNvSpPr txBox="1">
            <a:spLocks/>
          </p:cNvSpPr>
          <p:nvPr/>
        </p:nvSpPr>
        <p:spPr>
          <a:xfrm>
            <a:off x="5927725" y="4663806"/>
            <a:ext cx="2564917" cy="15388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9pPr>
          </a:lstStyle>
          <a:p>
            <a:pPr marL="0" indent="0" algn="r"/>
            <a:r>
              <a:rPr lang="sr-Latn-RS" sz="1000" dirty="0">
                <a:solidFill>
                  <a:schemeClr val="lt1"/>
                </a:solidFill>
                <a:latin typeface="Lato"/>
                <a:ea typeface="Lato"/>
                <a:cs typeface="Lato"/>
                <a:sym typeface="Lato"/>
              </a:rPr>
              <a:t>Uvod</a:t>
            </a:r>
            <a:endParaRPr lang="en-GB" sz="1000" dirty="0">
              <a:solidFill>
                <a:schemeClr val="lt1"/>
              </a:solidFill>
              <a:latin typeface="Lato"/>
              <a:ea typeface="Lato"/>
              <a:cs typeface="Lato"/>
              <a:sym typeface="Lato"/>
            </a:endParaRPr>
          </a:p>
        </p:txBody>
      </p:sp>
      <p:sp>
        <p:nvSpPr>
          <p:cNvPr id="21" name="_text_page">
            <a:extLst>
              <a:ext uri="{FF2B5EF4-FFF2-40B4-BE49-F238E27FC236}">
                <a16:creationId xmlns:a16="http://schemas.microsoft.com/office/drawing/2014/main" id="{6E189432-53E3-417C-F7BA-53BE1AA41F10}"/>
              </a:ext>
            </a:extLst>
          </p:cNvPr>
          <p:cNvSpPr txBox="1"/>
          <p:nvPr/>
        </p:nvSpPr>
        <p:spPr>
          <a:xfrm>
            <a:off x="8492643" y="4500000"/>
            <a:ext cx="469800" cy="481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800" dirty="0">
                <a:solidFill>
                  <a:schemeClr val="lt1"/>
                </a:solidFill>
                <a:latin typeface="Montserrat"/>
                <a:ea typeface="Montserrat"/>
                <a:cs typeface="Montserrat"/>
                <a:sym typeface="Montserrat"/>
              </a:rPr>
              <a:t>9</a:t>
            </a:r>
            <a:endParaRPr sz="1800" dirty="0">
              <a:solidFill>
                <a:schemeClr val="lt1"/>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8FC"/>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806058D5-2280-EE3B-B56F-0AD0E1870AD3}"/>
              </a:ext>
            </a:extLst>
          </p:cNvPr>
          <p:cNvSpPr/>
          <p:nvPr/>
        </p:nvSpPr>
        <p:spPr>
          <a:xfrm>
            <a:off x="2717800" y="0"/>
            <a:ext cx="6426201" cy="5143500"/>
          </a:xfrm>
          <a:custGeom>
            <a:avLst/>
            <a:gdLst>
              <a:gd name="csX0" fmla="*/ 905383 w 6426201"/>
              <a:gd name="csY0" fmla="*/ 0 h 5143500"/>
              <a:gd name="csX1" fmla="*/ 2497177 w 6426201"/>
              <a:gd name="csY1" fmla="*/ 0 h 5143500"/>
              <a:gd name="csX2" fmla="*/ 2467862 w 6426201"/>
              <a:gd name="csY2" fmla="*/ 35902 h 5143500"/>
              <a:gd name="csX3" fmla="*/ 2503842 w 6426201"/>
              <a:gd name="csY3" fmla="*/ 389331 h 5143500"/>
              <a:gd name="csX4" fmla="*/ 2901337 w 6426201"/>
              <a:gd name="csY4" fmla="*/ 389331 h 5143500"/>
              <a:gd name="csX5" fmla="*/ 3290630 w 6426201"/>
              <a:gd name="csY5" fmla="*/ 0 h 5143500"/>
              <a:gd name="csX6" fmla="*/ 4880482 w 6426201"/>
              <a:gd name="csY6" fmla="*/ 0 h 5143500"/>
              <a:gd name="csX7" fmla="*/ 1758651 w 6426201"/>
              <a:gd name="csY7" fmla="*/ 3121695 h 5143500"/>
              <a:gd name="csX8" fmla="*/ 1758651 w 6426201"/>
              <a:gd name="csY8" fmla="*/ 3519191 h 5143500"/>
              <a:gd name="csX9" fmla="*/ 2156147 w 6426201"/>
              <a:gd name="csY9" fmla="*/ 3519191 h 5143500"/>
              <a:gd name="csX10" fmla="*/ 5675617 w 6426201"/>
              <a:gd name="csY10" fmla="*/ 0 h 5143500"/>
              <a:gd name="csX11" fmla="*/ 6426201 w 6426201"/>
              <a:gd name="csY11" fmla="*/ 0 h 5143500"/>
              <a:gd name="csX12" fmla="*/ 6426201 w 6426201"/>
              <a:gd name="csY12" fmla="*/ 841724 h 5143500"/>
              <a:gd name="csX13" fmla="*/ 6399107 w 6426201"/>
              <a:gd name="csY13" fmla="*/ 874906 h 5143500"/>
              <a:gd name="csX14" fmla="*/ 6399107 w 6426201"/>
              <a:gd name="csY14" fmla="*/ 1184271 h 5143500"/>
              <a:gd name="csX15" fmla="*/ 6426201 w 6426201"/>
              <a:gd name="csY15" fmla="*/ 1217454 h 5143500"/>
              <a:gd name="csX16" fmla="*/ 6426201 w 6426201"/>
              <a:gd name="csY16" fmla="*/ 3224795 h 5143500"/>
              <a:gd name="csX17" fmla="*/ 5698729 w 6426201"/>
              <a:gd name="csY17" fmla="*/ 3952325 h 5143500"/>
              <a:gd name="csX18" fmla="*/ 5698729 w 6426201"/>
              <a:gd name="csY18" fmla="*/ 4349820 h 5143500"/>
              <a:gd name="csX19" fmla="*/ 6096226 w 6426201"/>
              <a:gd name="csY19" fmla="*/ 4349820 h 5143500"/>
              <a:gd name="csX20" fmla="*/ 6426201 w 6426201"/>
              <a:gd name="csY20" fmla="*/ 4019844 h 5143500"/>
              <a:gd name="csX21" fmla="*/ 6426201 w 6426201"/>
              <a:gd name="csY21" fmla="*/ 5143500 h 5143500"/>
              <a:gd name="csX22" fmla="*/ 5302181 w 6426201"/>
              <a:gd name="csY22" fmla="*/ 5143500 h 5143500"/>
              <a:gd name="csX23" fmla="*/ 5337216 w 6426201"/>
              <a:gd name="csY23" fmla="*/ 5100594 h 5143500"/>
              <a:gd name="csX24" fmla="*/ 5301235 w 6426201"/>
              <a:gd name="csY24" fmla="*/ 4747164 h 5143500"/>
              <a:gd name="csX25" fmla="*/ 4903739 w 6426201"/>
              <a:gd name="csY25" fmla="*/ 4747164 h 5143500"/>
              <a:gd name="csX26" fmla="*/ 4507404 w 6426201"/>
              <a:gd name="csY26" fmla="*/ 5143500 h 5143500"/>
              <a:gd name="csX27" fmla="*/ 2917405 w 6426201"/>
              <a:gd name="csY27" fmla="*/ 5143500 h 5143500"/>
              <a:gd name="csX28" fmla="*/ 6037591 w 6426201"/>
              <a:gd name="csY28" fmla="*/ 2023176 h 5143500"/>
              <a:gd name="csX29" fmla="*/ 6037591 w 6426201"/>
              <a:gd name="csY29" fmla="*/ 1625681 h 5143500"/>
              <a:gd name="csX30" fmla="*/ 5640096 w 6426201"/>
              <a:gd name="csY30" fmla="*/ 1625681 h 5143500"/>
              <a:gd name="csX31" fmla="*/ 2121855 w 6426201"/>
              <a:gd name="csY31" fmla="*/ 5143500 h 5143500"/>
              <a:gd name="csX32" fmla="*/ 896983 w 6426201"/>
              <a:gd name="csY32" fmla="*/ 5143500 h 5143500"/>
              <a:gd name="csX33" fmla="*/ 893618 w 6426201"/>
              <a:gd name="csY33" fmla="*/ 5132153 h 5143500"/>
              <a:gd name="csX34" fmla="*/ 1048034 w 6426201"/>
              <a:gd name="csY34" fmla="*/ 4627306 h 5143500"/>
              <a:gd name="csX35" fmla="*/ 1361157 w 6426201"/>
              <a:gd name="csY35" fmla="*/ 4314183 h 5143500"/>
              <a:gd name="csX36" fmla="*/ 1361157 w 6426201"/>
              <a:gd name="csY36" fmla="*/ 3916686 h 5143500"/>
              <a:gd name="csX37" fmla="*/ 963661 w 6426201"/>
              <a:gd name="csY37" fmla="*/ 3916686 h 5143500"/>
              <a:gd name="csX38" fmla="*/ 959702 w 6426201"/>
              <a:gd name="csY38" fmla="*/ 3920647 h 5143500"/>
              <a:gd name="csX39" fmla="*/ 164711 w 6426201"/>
              <a:gd name="csY39" fmla="*/ 3920647 h 5143500"/>
              <a:gd name="csX40" fmla="*/ 164711 w 6426201"/>
              <a:gd name="csY40" fmla="*/ 3125656 h 5143500"/>
              <a:gd name="csX41" fmla="*/ 2106042 w 6426201"/>
              <a:gd name="csY41" fmla="*/ 1184171 h 5143500"/>
              <a:gd name="csX42" fmla="*/ 2106042 w 6426201"/>
              <a:gd name="csY42" fmla="*/ 786674 h 5143500"/>
              <a:gd name="csX43" fmla="*/ 1708546 w 6426201"/>
              <a:gd name="csY43" fmla="*/ 786674 h 5143500"/>
              <a:gd name="csX44" fmla="*/ 1326585 w 6426201"/>
              <a:gd name="csY44" fmla="*/ 1168636 h 5143500"/>
              <a:gd name="csX45" fmla="*/ 531594 w 6426201"/>
              <a:gd name="csY45" fmla="*/ 1168636 h 5143500"/>
              <a:gd name="csX46" fmla="*/ 531594 w 6426201"/>
              <a:gd name="csY46" fmla="*/ 373644 h 514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426201" h="5143500">
                <a:moveTo>
                  <a:pt x="905383" y="0"/>
                </a:moveTo>
                <a:lnTo>
                  <a:pt x="2497177" y="0"/>
                </a:lnTo>
                <a:lnTo>
                  <a:pt x="2467862" y="35902"/>
                </a:lnTo>
                <a:cubicBezTo>
                  <a:pt x="2395902" y="144966"/>
                  <a:pt x="2407895" y="293384"/>
                  <a:pt x="2503842" y="389331"/>
                </a:cubicBezTo>
                <a:cubicBezTo>
                  <a:pt x="2613496" y="498985"/>
                  <a:pt x="2791683" y="498985"/>
                  <a:pt x="2901337" y="389331"/>
                </a:cubicBezTo>
                <a:lnTo>
                  <a:pt x="3290630" y="0"/>
                </a:lnTo>
                <a:lnTo>
                  <a:pt x="4880482" y="0"/>
                </a:lnTo>
                <a:lnTo>
                  <a:pt x="1758651" y="3121695"/>
                </a:lnTo>
                <a:cubicBezTo>
                  <a:pt x="1648997" y="3231349"/>
                  <a:pt x="1648997" y="3409537"/>
                  <a:pt x="1758651" y="3519191"/>
                </a:cubicBezTo>
                <a:cubicBezTo>
                  <a:pt x="1868305" y="3628845"/>
                  <a:pt x="2046494" y="3628845"/>
                  <a:pt x="2156147" y="3519191"/>
                </a:cubicBezTo>
                <a:lnTo>
                  <a:pt x="5675617" y="0"/>
                </a:lnTo>
                <a:lnTo>
                  <a:pt x="6426201" y="0"/>
                </a:lnTo>
                <a:lnTo>
                  <a:pt x="6426201" y="841724"/>
                </a:lnTo>
                <a:lnTo>
                  <a:pt x="6399107" y="874906"/>
                </a:lnTo>
                <a:cubicBezTo>
                  <a:pt x="6337426" y="968391"/>
                  <a:pt x="6337426" y="1090787"/>
                  <a:pt x="6399107" y="1184271"/>
                </a:cubicBezTo>
                <a:lnTo>
                  <a:pt x="6426201" y="1217454"/>
                </a:lnTo>
                <a:lnTo>
                  <a:pt x="6426201" y="3224795"/>
                </a:lnTo>
                <a:lnTo>
                  <a:pt x="5698729" y="3952325"/>
                </a:lnTo>
                <a:cubicBezTo>
                  <a:pt x="5589076" y="4061979"/>
                  <a:pt x="5589076" y="4240166"/>
                  <a:pt x="5698729" y="4349820"/>
                </a:cubicBezTo>
                <a:cubicBezTo>
                  <a:pt x="5808383" y="4459475"/>
                  <a:pt x="5986572" y="4459475"/>
                  <a:pt x="6096226" y="4349820"/>
                </a:cubicBezTo>
                <a:lnTo>
                  <a:pt x="6426201" y="4019844"/>
                </a:lnTo>
                <a:lnTo>
                  <a:pt x="6426201" y="5143500"/>
                </a:lnTo>
                <a:lnTo>
                  <a:pt x="5302181" y="5143500"/>
                </a:lnTo>
                <a:lnTo>
                  <a:pt x="5337216" y="5100594"/>
                </a:lnTo>
                <a:cubicBezTo>
                  <a:pt x="5409176" y="4991529"/>
                  <a:pt x="5397183" y="4843112"/>
                  <a:pt x="5301235" y="4747164"/>
                </a:cubicBezTo>
                <a:cubicBezTo>
                  <a:pt x="5191581" y="4637510"/>
                  <a:pt x="5013393" y="4637510"/>
                  <a:pt x="4903739" y="4747164"/>
                </a:cubicBezTo>
                <a:lnTo>
                  <a:pt x="4507404" y="5143500"/>
                </a:lnTo>
                <a:lnTo>
                  <a:pt x="2917405" y="5143500"/>
                </a:lnTo>
                <a:lnTo>
                  <a:pt x="6037591" y="2023176"/>
                </a:lnTo>
                <a:cubicBezTo>
                  <a:pt x="6147246" y="1913522"/>
                  <a:pt x="6147246" y="1735335"/>
                  <a:pt x="6037591" y="1625681"/>
                </a:cubicBezTo>
                <a:cubicBezTo>
                  <a:pt x="5927938" y="1516027"/>
                  <a:pt x="5749749" y="1516027"/>
                  <a:pt x="5640096" y="1625681"/>
                </a:cubicBezTo>
                <a:lnTo>
                  <a:pt x="2121855" y="5143500"/>
                </a:lnTo>
                <a:lnTo>
                  <a:pt x="896983" y="5143500"/>
                </a:lnTo>
                <a:lnTo>
                  <a:pt x="893618" y="5132153"/>
                </a:lnTo>
                <a:cubicBezTo>
                  <a:pt x="859304" y="4955007"/>
                  <a:pt x="910776" y="4764564"/>
                  <a:pt x="1048034" y="4627306"/>
                </a:cubicBezTo>
                <a:lnTo>
                  <a:pt x="1361157" y="4314183"/>
                </a:lnTo>
                <a:cubicBezTo>
                  <a:pt x="1470811" y="4204529"/>
                  <a:pt x="1470811" y="4026342"/>
                  <a:pt x="1361157" y="3916686"/>
                </a:cubicBezTo>
                <a:cubicBezTo>
                  <a:pt x="1251503" y="3807032"/>
                  <a:pt x="1073314" y="3807032"/>
                  <a:pt x="963661" y="3916686"/>
                </a:cubicBezTo>
                <a:lnTo>
                  <a:pt x="959702" y="3920647"/>
                </a:lnTo>
                <a:cubicBezTo>
                  <a:pt x="740088" y="4140107"/>
                  <a:pt x="384322" y="4140107"/>
                  <a:pt x="164711" y="3920647"/>
                </a:cubicBezTo>
                <a:cubicBezTo>
                  <a:pt x="-54903" y="3701034"/>
                  <a:pt x="-54903" y="3345115"/>
                  <a:pt x="164711" y="3125656"/>
                </a:cubicBezTo>
                <a:lnTo>
                  <a:pt x="2106042" y="1184171"/>
                </a:lnTo>
                <a:cubicBezTo>
                  <a:pt x="2215696" y="1074517"/>
                  <a:pt x="2215696" y="896328"/>
                  <a:pt x="2106042" y="786674"/>
                </a:cubicBezTo>
                <a:cubicBezTo>
                  <a:pt x="1996388" y="677020"/>
                  <a:pt x="1818200" y="677020"/>
                  <a:pt x="1708546" y="786674"/>
                </a:cubicBezTo>
                <a:lnTo>
                  <a:pt x="1326585" y="1168636"/>
                </a:lnTo>
                <a:cubicBezTo>
                  <a:pt x="1106973" y="1388249"/>
                  <a:pt x="751207" y="1388249"/>
                  <a:pt x="531594" y="1168636"/>
                </a:cubicBezTo>
                <a:cubicBezTo>
                  <a:pt x="311983" y="949024"/>
                  <a:pt x="311983" y="593258"/>
                  <a:pt x="531594" y="373644"/>
                </a:cubicBezTo>
                <a:close/>
              </a:path>
            </a:pathLst>
          </a:custGeom>
          <a:solidFill>
            <a:srgbClr val="0D4077">
              <a:alpha val="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64" name="_text_section_title">
            <a:extLst>
              <a:ext uri="{FF2B5EF4-FFF2-40B4-BE49-F238E27FC236}">
                <a16:creationId xmlns:a16="http://schemas.microsoft.com/office/drawing/2014/main" id="{050D3A50-478B-E953-D043-C88D1BD25BE9}"/>
              </a:ext>
            </a:extLst>
          </p:cNvPr>
          <p:cNvSpPr txBox="1">
            <a:spLocks noGrp="1"/>
          </p:cNvSpPr>
          <p:nvPr>
            <p:ph type="ctrTitle"/>
          </p:nvPr>
        </p:nvSpPr>
        <p:spPr>
          <a:xfrm>
            <a:off x="897467" y="1956197"/>
            <a:ext cx="6849534" cy="615553"/>
          </a:xfrm>
          <a:prstGeom prst="rect">
            <a:avLst/>
          </a:prstGeom>
        </p:spPr>
        <p:txBody>
          <a:bodyPr spcFirstLastPara="1" wrap="square" lIns="91425" tIns="0" rIns="91425" bIns="0" anchor="b" anchorCtr="0">
            <a:spAutoFit/>
          </a:bodyPr>
          <a:lstStyle/>
          <a:p>
            <a:pPr marL="0" lvl="0" indent="0" algn="l" rtl="0">
              <a:spcBef>
                <a:spcPts val="0"/>
              </a:spcBef>
              <a:spcAft>
                <a:spcPts val="0"/>
              </a:spcAft>
              <a:buNone/>
            </a:pPr>
            <a:r>
              <a:rPr lang="sr" sz="4000" spc="-150" dirty="0">
                <a:solidFill>
                  <a:srgbClr val="0D4077">
                    <a:alpha val="90000"/>
                  </a:srgbClr>
                </a:solidFill>
                <a:latin typeface="Montserrat Black" panose="00000A00000000000000" pitchFamily="2" charset="0"/>
                <a:ea typeface="Montserrat"/>
                <a:cs typeface="Montserrat"/>
                <a:sym typeface="Montserrat"/>
              </a:rPr>
              <a:t>Pauza: 10 minuta</a:t>
            </a:r>
            <a:endParaRPr sz="4000" spc="-150" dirty="0">
              <a:solidFill>
                <a:srgbClr val="0D4077">
                  <a:alpha val="90000"/>
                </a:srgbClr>
              </a:solidFill>
              <a:latin typeface="Montserrat Black" panose="00000A00000000000000" pitchFamily="2" charset="0"/>
              <a:ea typeface="Montserrat"/>
              <a:cs typeface="Montserrat"/>
              <a:sym typeface="Montserrat"/>
            </a:endParaRPr>
          </a:p>
        </p:txBody>
      </p:sp>
      <p:sp>
        <p:nvSpPr>
          <p:cNvPr id="65" name="_text_section_subtitle">
            <a:extLst>
              <a:ext uri="{FF2B5EF4-FFF2-40B4-BE49-F238E27FC236}">
                <a16:creationId xmlns:a16="http://schemas.microsoft.com/office/drawing/2014/main" id="{1A30F914-E789-A81B-2828-166B98C32AB0}"/>
              </a:ext>
            </a:extLst>
          </p:cNvPr>
          <p:cNvSpPr txBox="1">
            <a:spLocks noGrp="1"/>
          </p:cNvSpPr>
          <p:nvPr>
            <p:ph type="subTitle" idx="1"/>
          </p:nvPr>
        </p:nvSpPr>
        <p:spPr>
          <a:xfrm>
            <a:off x="897467" y="2571750"/>
            <a:ext cx="6849534" cy="1105088"/>
          </a:xfrm>
          <a:prstGeom prst="rect">
            <a:avLst/>
          </a:prstGeom>
        </p:spPr>
        <p:txBody>
          <a:bodyPr spcFirstLastPara="1" wrap="square" lIns="91425" tIns="180000" rIns="91425" bIns="0" anchor="t" anchorCtr="0">
            <a:spAutoFit/>
          </a:bodyPr>
          <a:lstStyle/>
          <a:p>
            <a:pPr marL="0" lvl="0" indent="0" algn="l" rtl="0">
              <a:spcBef>
                <a:spcPts val="0"/>
              </a:spcBef>
              <a:spcAft>
                <a:spcPts val="0"/>
              </a:spcAft>
              <a:buNone/>
            </a:pPr>
            <a:r>
              <a:rPr lang="en-GB" sz="2000" dirty="0">
                <a:solidFill>
                  <a:srgbClr val="0D4077"/>
                </a:solidFill>
                <a:latin typeface="Montserrat" panose="00000500000000000000" pitchFamily="2" charset="0"/>
                <a:ea typeface="Lato"/>
                <a:cs typeface="Lato"/>
                <a:sym typeface="Lato"/>
              </a:rPr>
              <a:t>Posle pauze gradimo rečnik propusta: gde RAG greši i kako to prepoznati.</a:t>
            </a:r>
            <a:endParaRPr sz="2000" dirty="0">
              <a:solidFill>
                <a:srgbClr val="0D4077"/>
              </a:solidFill>
              <a:latin typeface="Montserrat" panose="00000500000000000000" pitchFamily="2" charset="0"/>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8FC"/>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806058D5-2280-EE3B-B56F-0AD0E1870AD3}"/>
              </a:ext>
            </a:extLst>
          </p:cNvPr>
          <p:cNvSpPr/>
          <p:nvPr/>
        </p:nvSpPr>
        <p:spPr>
          <a:xfrm>
            <a:off x="2717800" y="0"/>
            <a:ext cx="6426201" cy="5143500"/>
          </a:xfrm>
          <a:custGeom>
            <a:avLst/>
            <a:gdLst>
              <a:gd name="csX0" fmla="*/ 905383 w 6426201"/>
              <a:gd name="csY0" fmla="*/ 0 h 5143500"/>
              <a:gd name="csX1" fmla="*/ 2497177 w 6426201"/>
              <a:gd name="csY1" fmla="*/ 0 h 5143500"/>
              <a:gd name="csX2" fmla="*/ 2467862 w 6426201"/>
              <a:gd name="csY2" fmla="*/ 35902 h 5143500"/>
              <a:gd name="csX3" fmla="*/ 2503842 w 6426201"/>
              <a:gd name="csY3" fmla="*/ 389331 h 5143500"/>
              <a:gd name="csX4" fmla="*/ 2901337 w 6426201"/>
              <a:gd name="csY4" fmla="*/ 389331 h 5143500"/>
              <a:gd name="csX5" fmla="*/ 3290630 w 6426201"/>
              <a:gd name="csY5" fmla="*/ 0 h 5143500"/>
              <a:gd name="csX6" fmla="*/ 4880482 w 6426201"/>
              <a:gd name="csY6" fmla="*/ 0 h 5143500"/>
              <a:gd name="csX7" fmla="*/ 1758651 w 6426201"/>
              <a:gd name="csY7" fmla="*/ 3121695 h 5143500"/>
              <a:gd name="csX8" fmla="*/ 1758651 w 6426201"/>
              <a:gd name="csY8" fmla="*/ 3519191 h 5143500"/>
              <a:gd name="csX9" fmla="*/ 2156147 w 6426201"/>
              <a:gd name="csY9" fmla="*/ 3519191 h 5143500"/>
              <a:gd name="csX10" fmla="*/ 5675617 w 6426201"/>
              <a:gd name="csY10" fmla="*/ 0 h 5143500"/>
              <a:gd name="csX11" fmla="*/ 6426201 w 6426201"/>
              <a:gd name="csY11" fmla="*/ 0 h 5143500"/>
              <a:gd name="csX12" fmla="*/ 6426201 w 6426201"/>
              <a:gd name="csY12" fmla="*/ 841724 h 5143500"/>
              <a:gd name="csX13" fmla="*/ 6399107 w 6426201"/>
              <a:gd name="csY13" fmla="*/ 874906 h 5143500"/>
              <a:gd name="csX14" fmla="*/ 6399107 w 6426201"/>
              <a:gd name="csY14" fmla="*/ 1184271 h 5143500"/>
              <a:gd name="csX15" fmla="*/ 6426201 w 6426201"/>
              <a:gd name="csY15" fmla="*/ 1217454 h 5143500"/>
              <a:gd name="csX16" fmla="*/ 6426201 w 6426201"/>
              <a:gd name="csY16" fmla="*/ 3224795 h 5143500"/>
              <a:gd name="csX17" fmla="*/ 5698729 w 6426201"/>
              <a:gd name="csY17" fmla="*/ 3952325 h 5143500"/>
              <a:gd name="csX18" fmla="*/ 5698729 w 6426201"/>
              <a:gd name="csY18" fmla="*/ 4349820 h 5143500"/>
              <a:gd name="csX19" fmla="*/ 6096226 w 6426201"/>
              <a:gd name="csY19" fmla="*/ 4349820 h 5143500"/>
              <a:gd name="csX20" fmla="*/ 6426201 w 6426201"/>
              <a:gd name="csY20" fmla="*/ 4019844 h 5143500"/>
              <a:gd name="csX21" fmla="*/ 6426201 w 6426201"/>
              <a:gd name="csY21" fmla="*/ 5143500 h 5143500"/>
              <a:gd name="csX22" fmla="*/ 5302181 w 6426201"/>
              <a:gd name="csY22" fmla="*/ 5143500 h 5143500"/>
              <a:gd name="csX23" fmla="*/ 5337216 w 6426201"/>
              <a:gd name="csY23" fmla="*/ 5100594 h 5143500"/>
              <a:gd name="csX24" fmla="*/ 5301235 w 6426201"/>
              <a:gd name="csY24" fmla="*/ 4747164 h 5143500"/>
              <a:gd name="csX25" fmla="*/ 4903739 w 6426201"/>
              <a:gd name="csY25" fmla="*/ 4747164 h 5143500"/>
              <a:gd name="csX26" fmla="*/ 4507404 w 6426201"/>
              <a:gd name="csY26" fmla="*/ 5143500 h 5143500"/>
              <a:gd name="csX27" fmla="*/ 2917405 w 6426201"/>
              <a:gd name="csY27" fmla="*/ 5143500 h 5143500"/>
              <a:gd name="csX28" fmla="*/ 6037591 w 6426201"/>
              <a:gd name="csY28" fmla="*/ 2023176 h 5143500"/>
              <a:gd name="csX29" fmla="*/ 6037591 w 6426201"/>
              <a:gd name="csY29" fmla="*/ 1625681 h 5143500"/>
              <a:gd name="csX30" fmla="*/ 5640096 w 6426201"/>
              <a:gd name="csY30" fmla="*/ 1625681 h 5143500"/>
              <a:gd name="csX31" fmla="*/ 2121855 w 6426201"/>
              <a:gd name="csY31" fmla="*/ 5143500 h 5143500"/>
              <a:gd name="csX32" fmla="*/ 896983 w 6426201"/>
              <a:gd name="csY32" fmla="*/ 5143500 h 5143500"/>
              <a:gd name="csX33" fmla="*/ 893618 w 6426201"/>
              <a:gd name="csY33" fmla="*/ 5132153 h 5143500"/>
              <a:gd name="csX34" fmla="*/ 1048034 w 6426201"/>
              <a:gd name="csY34" fmla="*/ 4627306 h 5143500"/>
              <a:gd name="csX35" fmla="*/ 1361157 w 6426201"/>
              <a:gd name="csY35" fmla="*/ 4314183 h 5143500"/>
              <a:gd name="csX36" fmla="*/ 1361157 w 6426201"/>
              <a:gd name="csY36" fmla="*/ 3916686 h 5143500"/>
              <a:gd name="csX37" fmla="*/ 963661 w 6426201"/>
              <a:gd name="csY37" fmla="*/ 3916686 h 5143500"/>
              <a:gd name="csX38" fmla="*/ 959702 w 6426201"/>
              <a:gd name="csY38" fmla="*/ 3920647 h 5143500"/>
              <a:gd name="csX39" fmla="*/ 164711 w 6426201"/>
              <a:gd name="csY39" fmla="*/ 3920647 h 5143500"/>
              <a:gd name="csX40" fmla="*/ 164711 w 6426201"/>
              <a:gd name="csY40" fmla="*/ 3125656 h 5143500"/>
              <a:gd name="csX41" fmla="*/ 2106042 w 6426201"/>
              <a:gd name="csY41" fmla="*/ 1184171 h 5143500"/>
              <a:gd name="csX42" fmla="*/ 2106042 w 6426201"/>
              <a:gd name="csY42" fmla="*/ 786674 h 5143500"/>
              <a:gd name="csX43" fmla="*/ 1708546 w 6426201"/>
              <a:gd name="csY43" fmla="*/ 786674 h 5143500"/>
              <a:gd name="csX44" fmla="*/ 1326585 w 6426201"/>
              <a:gd name="csY44" fmla="*/ 1168636 h 5143500"/>
              <a:gd name="csX45" fmla="*/ 531594 w 6426201"/>
              <a:gd name="csY45" fmla="*/ 1168636 h 5143500"/>
              <a:gd name="csX46" fmla="*/ 531594 w 6426201"/>
              <a:gd name="csY46" fmla="*/ 373644 h 514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426201" h="5143500">
                <a:moveTo>
                  <a:pt x="905383" y="0"/>
                </a:moveTo>
                <a:lnTo>
                  <a:pt x="2497177" y="0"/>
                </a:lnTo>
                <a:lnTo>
                  <a:pt x="2467862" y="35902"/>
                </a:lnTo>
                <a:cubicBezTo>
                  <a:pt x="2395902" y="144966"/>
                  <a:pt x="2407895" y="293384"/>
                  <a:pt x="2503842" y="389331"/>
                </a:cubicBezTo>
                <a:cubicBezTo>
                  <a:pt x="2613496" y="498985"/>
                  <a:pt x="2791683" y="498985"/>
                  <a:pt x="2901337" y="389331"/>
                </a:cubicBezTo>
                <a:lnTo>
                  <a:pt x="3290630" y="0"/>
                </a:lnTo>
                <a:lnTo>
                  <a:pt x="4880482" y="0"/>
                </a:lnTo>
                <a:lnTo>
                  <a:pt x="1758651" y="3121695"/>
                </a:lnTo>
                <a:cubicBezTo>
                  <a:pt x="1648997" y="3231349"/>
                  <a:pt x="1648997" y="3409537"/>
                  <a:pt x="1758651" y="3519191"/>
                </a:cubicBezTo>
                <a:cubicBezTo>
                  <a:pt x="1868305" y="3628845"/>
                  <a:pt x="2046494" y="3628845"/>
                  <a:pt x="2156147" y="3519191"/>
                </a:cubicBezTo>
                <a:lnTo>
                  <a:pt x="5675617" y="0"/>
                </a:lnTo>
                <a:lnTo>
                  <a:pt x="6426201" y="0"/>
                </a:lnTo>
                <a:lnTo>
                  <a:pt x="6426201" y="841724"/>
                </a:lnTo>
                <a:lnTo>
                  <a:pt x="6399107" y="874906"/>
                </a:lnTo>
                <a:cubicBezTo>
                  <a:pt x="6337426" y="968391"/>
                  <a:pt x="6337426" y="1090787"/>
                  <a:pt x="6399107" y="1184271"/>
                </a:cubicBezTo>
                <a:lnTo>
                  <a:pt x="6426201" y="1217454"/>
                </a:lnTo>
                <a:lnTo>
                  <a:pt x="6426201" y="3224795"/>
                </a:lnTo>
                <a:lnTo>
                  <a:pt x="5698729" y="3952325"/>
                </a:lnTo>
                <a:cubicBezTo>
                  <a:pt x="5589076" y="4061979"/>
                  <a:pt x="5589076" y="4240166"/>
                  <a:pt x="5698729" y="4349820"/>
                </a:cubicBezTo>
                <a:cubicBezTo>
                  <a:pt x="5808383" y="4459475"/>
                  <a:pt x="5986572" y="4459475"/>
                  <a:pt x="6096226" y="4349820"/>
                </a:cubicBezTo>
                <a:lnTo>
                  <a:pt x="6426201" y="4019844"/>
                </a:lnTo>
                <a:lnTo>
                  <a:pt x="6426201" y="5143500"/>
                </a:lnTo>
                <a:lnTo>
                  <a:pt x="5302181" y="5143500"/>
                </a:lnTo>
                <a:lnTo>
                  <a:pt x="5337216" y="5100594"/>
                </a:lnTo>
                <a:cubicBezTo>
                  <a:pt x="5409176" y="4991529"/>
                  <a:pt x="5397183" y="4843112"/>
                  <a:pt x="5301235" y="4747164"/>
                </a:cubicBezTo>
                <a:cubicBezTo>
                  <a:pt x="5191581" y="4637510"/>
                  <a:pt x="5013393" y="4637510"/>
                  <a:pt x="4903739" y="4747164"/>
                </a:cubicBezTo>
                <a:lnTo>
                  <a:pt x="4507404" y="5143500"/>
                </a:lnTo>
                <a:lnTo>
                  <a:pt x="2917405" y="5143500"/>
                </a:lnTo>
                <a:lnTo>
                  <a:pt x="6037591" y="2023176"/>
                </a:lnTo>
                <a:cubicBezTo>
                  <a:pt x="6147246" y="1913522"/>
                  <a:pt x="6147246" y="1735335"/>
                  <a:pt x="6037591" y="1625681"/>
                </a:cubicBezTo>
                <a:cubicBezTo>
                  <a:pt x="5927938" y="1516027"/>
                  <a:pt x="5749749" y="1516027"/>
                  <a:pt x="5640096" y="1625681"/>
                </a:cubicBezTo>
                <a:lnTo>
                  <a:pt x="2121855" y="5143500"/>
                </a:lnTo>
                <a:lnTo>
                  <a:pt x="896983" y="5143500"/>
                </a:lnTo>
                <a:lnTo>
                  <a:pt x="893618" y="5132153"/>
                </a:lnTo>
                <a:cubicBezTo>
                  <a:pt x="859304" y="4955007"/>
                  <a:pt x="910776" y="4764564"/>
                  <a:pt x="1048034" y="4627306"/>
                </a:cubicBezTo>
                <a:lnTo>
                  <a:pt x="1361157" y="4314183"/>
                </a:lnTo>
                <a:cubicBezTo>
                  <a:pt x="1470811" y="4204529"/>
                  <a:pt x="1470811" y="4026342"/>
                  <a:pt x="1361157" y="3916686"/>
                </a:cubicBezTo>
                <a:cubicBezTo>
                  <a:pt x="1251503" y="3807032"/>
                  <a:pt x="1073314" y="3807032"/>
                  <a:pt x="963661" y="3916686"/>
                </a:cubicBezTo>
                <a:lnTo>
                  <a:pt x="959702" y="3920647"/>
                </a:lnTo>
                <a:cubicBezTo>
                  <a:pt x="740088" y="4140107"/>
                  <a:pt x="384322" y="4140107"/>
                  <a:pt x="164711" y="3920647"/>
                </a:cubicBezTo>
                <a:cubicBezTo>
                  <a:pt x="-54903" y="3701034"/>
                  <a:pt x="-54903" y="3345115"/>
                  <a:pt x="164711" y="3125656"/>
                </a:cubicBezTo>
                <a:lnTo>
                  <a:pt x="2106042" y="1184171"/>
                </a:lnTo>
                <a:cubicBezTo>
                  <a:pt x="2215696" y="1074517"/>
                  <a:pt x="2215696" y="896328"/>
                  <a:pt x="2106042" y="786674"/>
                </a:cubicBezTo>
                <a:cubicBezTo>
                  <a:pt x="1996388" y="677020"/>
                  <a:pt x="1818200" y="677020"/>
                  <a:pt x="1708546" y="786674"/>
                </a:cubicBezTo>
                <a:lnTo>
                  <a:pt x="1326585" y="1168636"/>
                </a:lnTo>
                <a:cubicBezTo>
                  <a:pt x="1106973" y="1388249"/>
                  <a:pt x="751207" y="1388249"/>
                  <a:pt x="531594" y="1168636"/>
                </a:cubicBezTo>
                <a:cubicBezTo>
                  <a:pt x="311983" y="949024"/>
                  <a:pt x="311983" y="593258"/>
                  <a:pt x="531594" y="373644"/>
                </a:cubicBezTo>
                <a:close/>
              </a:path>
            </a:pathLst>
          </a:custGeom>
          <a:solidFill>
            <a:srgbClr val="0D4077">
              <a:alpha val="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64" name="_text_section_title">
            <a:extLst>
              <a:ext uri="{FF2B5EF4-FFF2-40B4-BE49-F238E27FC236}">
                <a16:creationId xmlns:a16="http://schemas.microsoft.com/office/drawing/2014/main" id="{050D3A50-478B-E953-D043-C88D1BD25BE9}"/>
              </a:ext>
            </a:extLst>
          </p:cNvPr>
          <p:cNvSpPr txBox="1">
            <a:spLocks noGrp="1"/>
          </p:cNvSpPr>
          <p:nvPr>
            <p:ph type="ctrTitle"/>
          </p:nvPr>
        </p:nvSpPr>
        <p:spPr>
          <a:xfrm>
            <a:off x="897467" y="1956197"/>
            <a:ext cx="6849534" cy="615553"/>
          </a:xfrm>
          <a:prstGeom prst="rect">
            <a:avLst/>
          </a:prstGeom>
        </p:spPr>
        <p:txBody>
          <a:bodyPr spcFirstLastPara="1" wrap="square" lIns="91425" tIns="0" rIns="91425" bIns="0" anchor="b" anchorCtr="0">
            <a:spAutoFit/>
          </a:bodyPr>
          <a:lstStyle/>
          <a:p>
            <a:pPr marL="0" lvl="0" indent="0" algn="l" rtl="0">
              <a:spcBef>
                <a:spcPts val="0"/>
              </a:spcBef>
              <a:spcAft>
                <a:spcPts val="0"/>
              </a:spcAft>
              <a:buNone/>
            </a:pPr>
            <a:r>
              <a:rPr lang="sr" sz="4000" spc="-150" dirty="0">
                <a:solidFill>
                  <a:srgbClr val="0D4077">
                    <a:alpha val="90000"/>
                  </a:srgbClr>
                </a:solidFill>
                <a:latin typeface="Montserrat Black" panose="00000A00000000000000" pitchFamily="2" charset="0"/>
                <a:ea typeface="Montserrat"/>
                <a:cs typeface="Montserrat"/>
                <a:sym typeface="Montserrat"/>
              </a:rPr>
              <a:t>Gde RAG greši</a:t>
            </a:r>
            <a:endParaRPr sz="4000" spc="-150" dirty="0">
              <a:solidFill>
                <a:srgbClr val="0D4077">
                  <a:alpha val="90000"/>
                </a:srgbClr>
              </a:solidFill>
              <a:latin typeface="Montserrat Black" panose="00000A00000000000000" pitchFamily="2" charset="0"/>
              <a:ea typeface="Montserrat"/>
              <a:cs typeface="Montserrat"/>
              <a:sym typeface="Montserrat"/>
            </a:endParaRPr>
          </a:p>
        </p:txBody>
      </p:sp>
      <p:sp>
        <p:nvSpPr>
          <p:cNvPr id="65" name="_text_section_subtitle">
            <a:extLst>
              <a:ext uri="{FF2B5EF4-FFF2-40B4-BE49-F238E27FC236}">
                <a16:creationId xmlns:a16="http://schemas.microsoft.com/office/drawing/2014/main" id="{1A30F914-E789-A81B-2828-166B98C32AB0}"/>
              </a:ext>
            </a:extLst>
          </p:cNvPr>
          <p:cNvSpPr txBox="1">
            <a:spLocks noGrp="1"/>
          </p:cNvSpPr>
          <p:nvPr>
            <p:ph type="subTitle" idx="1"/>
          </p:nvPr>
        </p:nvSpPr>
        <p:spPr>
          <a:xfrm>
            <a:off x="897467" y="2571750"/>
            <a:ext cx="6849534" cy="1105088"/>
          </a:xfrm>
          <a:prstGeom prst="rect">
            <a:avLst/>
          </a:prstGeom>
        </p:spPr>
        <p:txBody>
          <a:bodyPr spcFirstLastPara="1" wrap="square" lIns="91425" tIns="180000" rIns="91425" bIns="0" anchor="t" anchorCtr="0">
            <a:spAutoFit/>
          </a:bodyPr>
          <a:lstStyle/>
          <a:p>
            <a:pPr marL="0" lvl="0" indent="0" algn="l" rtl="0">
              <a:spcBef>
                <a:spcPts val="0"/>
              </a:spcBef>
              <a:spcAft>
                <a:spcPts val="0"/>
              </a:spcAft>
              <a:buNone/>
            </a:pPr>
            <a:r>
              <a:rPr lang="en-GB" sz="2000" dirty="0">
                <a:solidFill>
                  <a:srgbClr val="0D4077"/>
                </a:solidFill>
                <a:latin typeface="Montserrat" panose="00000500000000000000" pitchFamily="2" charset="0"/>
                <a:ea typeface="Lato"/>
                <a:cs typeface="Lato"/>
                <a:sym typeface="Lato"/>
              </a:rPr>
              <a:t>Bez preciznog naziva propusta ne možemo izabrati pravu promenu.</a:t>
            </a:r>
            <a:endParaRPr sz="2000" dirty="0">
              <a:solidFill>
                <a:srgbClr val="0D4077"/>
              </a:solidFill>
              <a:latin typeface="Montserrat" panose="00000500000000000000" pitchFamily="2" charset="0"/>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9000" r="-29000"/>
          </a:stretch>
        </a:blip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E9523967-3543-8A35-5737-DA9B2838BD21}"/>
              </a:ext>
            </a:extLst>
          </p:cNvPr>
          <p:cNvSpPr/>
          <p:nvPr/>
        </p:nvSpPr>
        <p:spPr>
          <a:xfrm>
            <a:off x="2717800" y="0"/>
            <a:ext cx="6426201" cy="5143500"/>
          </a:xfrm>
          <a:custGeom>
            <a:avLst/>
            <a:gdLst>
              <a:gd name="csX0" fmla="*/ 905383 w 6426201"/>
              <a:gd name="csY0" fmla="*/ 0 h 5143500"/>
              <a:gd name="csX1" fmla="*/ 2497177 w 6426201"/>
              <a:gd name="csY1" fmla="*/ 0 h 5143500"/>
              <a:gd name="csX2" fmla="*/ 2467862 w 6426201"/>
              <a:gd name="csY2" fmla="*/ 35902 h 5143500"/>
              <a:gd name="csX3" fmla="*/ 2503842 w 6426201"/>
              <a:gd name="csY3" fmla="*/ 389331 h 5143500"/>
              <a:gd name="csX4" fmla="*/ 2901337 w 6426201"/>
              <a:gd name="csY4" fmla="*/ 389331 h 5143500"/>
              <a:gd name="csX5" fmla="*/ 3290630 w 6426201"/>
              <a:gd name="csY5" fmla="*/ 0 h 5143500"/>
              <a:gd name="csX6" fmla="*/ 4880482 w 6426201"/>
              <a:gd name="csY6" fmla="*/ 0 h 5143500"/>
              <a:gd name="csX7" fmla="*/ 1758651 w 6426201"/>
              <a:gd name="csY7" fmla="*/ 3121695 h 5143500"/>
              <a:gd name="csX8" fmla="*/ 1758651 w 6426201"/>
              <a:gd name="csY8" fmla="*/ 3519191 h 5143500"/>
              <a:gd name="csX9" fmla="*/ 2156147 w 6426201"/>
              <a:gd name="csY9" fmla="*/ 3519191 h 5143500"/>
              <a:gd name="csX10" fmla="*/ 5675617 w 6426201"/>
              <a:gd name="csY10" fmla="*/ 0 h 5143500"/>
              <a:gd name="csX11" fmla="*/ 6426201 w 6426201"/>
              <a:gd name="csY11" fmla="*/ 0 h 5143500"/>
              <a:gd name="csX12" fmla="*/ 6426201 w 6426201"/>
              <a:gd name="csY12" fmla="*/ 841724 h 5143500"/>
              <a:gd name="csX13" fmla="*/ 6399107 w 6426201"/>
              <a:gd name="csY13" fmla="*/ 874906 h 5143500"/>
              <a:gd name="csX14" fmla="*/ 6399107 w 6426201"/>
              <a:gd name="csY14" fmla="*/ 1184271 h 5143500"/>
              <a:gd name="csX15" fmla="*/ 6426201 w 6426201"/>
              <a:gd name="csY15" fmla="*/ 1217454 h 5143500"/>
              <a:gd name="csX16" fmla="*/ 6426201 w 6426201"/>
              <a:gd name="csY16" fmla="*/ 3224795 h 5143500"/>
              <a:gd name="csX17" fmla="*/ 5698729 w 6426201"/>
              <a:gd name="csY17" fmla="*/ 3952325 h 5143500"/>
              <a:gd name="csX18" fmla="*/ 5698729 w 6426201"/>
              <a:gd name="csY18" fmla="*/ 4349820 h 5143500"/>
              <a:gd name="csX19" fmla="*/ 6096226 w 6426201"/>
              <a:gd name="csY19" fmla="*/ 4349820 h 5143500"/>
              <a:gd name="csX20" fmla="*/ 6426201 w 6426201"/>
              <a:gd name="csY20" fmla="*/ 4019844 h 5143500"/>
              <a:gd name="csX21" fmla="*/ 6426201 w 6426201"/>
              <a:gd name="csY21" fmla="*/ 5143500 h 5143500"/>
              <a:gd name="csX22" fmla="*/ 5302181 w 6426201"/>
              <a:gd name="csY22" fmla="*/ 5143500 h 5143500"/>
              <a:gd name="csX23" fmla="*/ 5337216 w 6426201"/>
              <a:gd name="csY23" fmla="*/ 5100594 h 5143500"/>
              <a:gd name="csX24" fmla="*/ 5301235 w 6426201"/>
              <a:gd name="csY24" fmla="*/ 4747164 h 5143500"/>
              <a:gd name="csX25" fmla="*/ 4903739 w 6426201"/>
              <a:gd name="csY25" fmla="*/ 4747164 h 5143500"/>
              <a:gd name="csX26" fmla="*/ 4507404 w 6426201"/>
              <a:gd name="csY26" fmla="*/ 5143500 h 5143500"/>
              <a:gd name="csX27" fmla="*/ 2917405 w 6426201"/>
              <a:gd name="csY27" fmla="*/ 5143500 h 5143500"/>
              <a:gd name="csX28" fmla="*/ 6037591 w 6426201"/>
              <a:gd name="csY28" fmla="*/ 2023176 h 5143500"/>
              <a:gd name="csX29" fmla="*/ 6037591 w 6426201"/>
              <a:gd name="csY29" fmla="*/ 1625681 h 5143500"/>
              <a:gd name="csX30" fmla="*/ 5640096 w 6426201"/>
              <a:gd name="csY30" fmla="*/ 1625681 h 5143500"/>
              <a:gd name="csX31" fmla="*/ 2121855 w 6426201"/>
              <a:gd name="csY31" fmla="*/ 5143500 h 5143500"/>
              <a:gd name="csX32" fmla="*/ 896983 w 6426201"/>
              <a:gd name="csY32" fmla="*/ 5143500 h 5143500"/>
              <a:gd name="csX33" fmla="*/ 893618 w 6426201"/>
              <a:gd name="csY33" fmla="*/ 5132153 h 5143500"/>
              <a:gd name="csX34" fmla="*/ 1048034 w 6426201"/>
              <a:gd name="csY34" fmla="*/ 4627306 h 5143500"/>
              <a:gd name="csX35" fmla="*/ 1361157 w 6426201"/>
              <a:gd name="csY35" fmla="*/ 4314183 h 5143500"/>
              <a:gd name="csX36" fmla="*/ 1361157 w 6426201"/>
              <a:gd name="csY36" fmla="*/ 3916686 h 5143500"/>
              <a:gd name="csX37" fmla="*/ 963661 w 6426201"/>
              <a:gd name="csY37" fmla="*/ 3916686 h 5143500"/>
              <a:gd name="csX38" fmla="*/ 959702 w 6426201"/>
              <a:gd name="csY38" fmla="*/ 3920647 h 5143500"/>
              <a:gd name="csX39" fmla="*/ 164711 w 6426201"/>
              <a:gd name="csY39" fmla="*/ 3920647 h 5143500"/>
              <a:gd name="csX40" fmla="*/ 164711 w 6426201"/>
              <a:gd name="csY40" fmla="*/ 3125656 h 5143500"/>
              <a:gd name="csX41" fmla="*/ 2106042 w 6426201"/>
              <a:gd name="csY41" fmla="*/ 1184171 h 5143500"/>
              <a:gd name="csX42" fmla="*/ 2106042 w 6426201"/>
              <a:gd name="csY42" fmla="*/ 786674 h 5143500"/>
              <a:gd name="csX43" fmla="*/ 1708546 w 6426201"/>
              <a:gd name="csY43" fmla="*/ 786674 h 5143500"/>
              <a:gd name="csX44" fmla="*/ 1326585 w 6426201"/>
              <a:gd name="csY44" fmla="*/ 1168636 h 5143500"/>
              <a:gd name="csX45" fmla="*/ 531594 w 6426201"/>
              <a:gd name="csY45" fmla="*/ 1168636 h 5143500"/>
              <a:gd name="csX46" fmla="*/ 531594 w 6426201"/>
              <a:gd name="csY46" fmla="*/ 373644 h 514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426201" h="5143500">
                <a:moveTo>
                  <a:pt x="905383" y="0"/>
                </a:moveTo>
                <a:lnTo>
                  <a:pt x="2497177" y="0"/>
                </a:lnTo>
                <a:lnTo>
                  <a:pt x="2467862" y="35902"/>
                </a:lnTo>
                <a:cubicBezTo>
                  <a:pt x="2395902" y="144966"/>
                  <a:pt x="2407895" y="293384"/>
                  <a:pt x="2503842" y="389331"/>
                </a:cubicBezTo>
                <a:cubicBezTo>
                  <a:pt x="2613496" y="498985"/>
                  <a:pt x="2791683" y="498985"/>
                  <a:pt x="2901337" y="389331"/>
                </a:cubicBezTo>
                <a:lnTo>
                  <a:pt x="3290630" y="0"/>
                </a:lnTo>
                <a:lnTo>
                  <a:pt x="4880482" y="0"/>
                </a:lnTo>
                <a:lnTo>
                  <a:pt x="1758651" y="3121695"/>
                </a:lnTo>
                <a:cubicBezTo>
                  <a:pt x="1648997" y="3231349"/>
                  <a:pt x="1648997" y="3409537"/>
                  <a:pt x="1758651" y="3519191"/>
                </a:cubicBezTo>
                <a:cubicBezTo>
                  <a:pt x="1868305" y="3628845"/>
                  <a:pt x="2046494" y="3628845"/>
                  <a:pt x="2156147" y="3519191"/>
                </a:cubicBezTo>
                <a:lnTo>
                  <a:pt x="5675617" y="0"/>
                </a:lnTo>
                <a:lnTo>
                  <a:pt x="6426201" y="0"/>
                </a:lnTo>
                <a:lnTo>
                  <a:pt x="6426201" y="841724"/>
                </a:lnTo>
                <a:lnTo>
                  <a:pt x="6399107" y="874906"/>
                </a:lnTo>
                <a:cubicBezTo>
                  <a:pt x="6337426" y="968391"/>
                  <a:pt x="6337426" y="1090787"/>
                  <a:pt x="6399107" y="1184271"/>
                </a:cubicBezTo>
                <a:lnTo>
                  <a:pt x="6426201" y="1217454"/>
                </a:lnTo>
                <a:lnTo>
                  <a:pt x="6426201" y="3224795"/>
                </a:lnTo>
                <a:lnTo>
                  <a:pt x="5698729" y="3952325"/>
                </a:lnTo>
                <a:cubicBezTo>
                  <a:pt x="5589076" y="4061979"/>
                  <a:pt x="5589076" y="4240166"/>
                  <a:pt x="5698729" y="4349820"/>
                </a:cubicBezTo>
                <a:cubicBezTo>
                  <a:pt x="5808383" y="4459475"/>
                  <a:pt x="5986572" y="4459475"/>
                  <a:pt x="6096226" y="4349820"/>
                </a:cubicBezTo>
                <a:lnTo>
                  <a:pt x="6426201" y="4019844"/>
                </a:lnTo>
                <a:lnTo>
                  <a:pt x="6426201" y="5143500"/>
                </a:lnTo>
                <a:lnTo>
                  <a:pt x="5302181" y="5143500"/>
                </a:lnTo>
                <a:lnTo>
                  <a:pt x="5337216" y="5100594"/>
                </a:lnTo>
                <a:cubicBezTo>
                  <a:pt x="5409176" y="4991529"/>
                  <a:pt x="5397183" y="4843112"/>
                  <a:pt x="5301235" y="4747164"/>
                </a:cubicBezTo>
                <a:cubicBezTo>
                  <a:pt x="5191581" y="4637510"/>
                  <a:pt x="5013393" y="4637510"/>
                  <a:pt x="4903739" y="4747164"/>
                </a:cubicBezTo>
                <a:lnTo>
                  <a:pt x="4507404" y="5143500"/>
                </a:lnTo>
                <a:lnTo>
                  <a:pt x="2917405" y="5143500"/>
                </a:lnTo>
                <a:lnTo>
                  <a:pt x="6037591" y="2023176"/>
                </a:lnTo>
                <a:cubicBezTo>
                  <a:pt x="6147246" y="1913522"/>
                  <a:pt x="6147246" y="1735335"/>
                  <a:pt x="6037591" y="1625681"/>
                </a:cubicBezTo>
                <a:cubicBezTo>
                  <a:pt x="5927938" y="1516027"/>
                  <a:pt x="5749749" y="1516027"/>
                  <a:pt x="5640096" y="1625681"/>
                </a:cubicBezTo>
                <a:lnTo>
                  <a:pt x="2121855" y="5143500"/>
                </a:lnTo>
                <a:lnTo>
                  <a:pt x="896983" y="5143500"/>
                </a:lnTo>
                <a:lnTo>
                  <a:pt x="893618" y="5132153"/>
                </a:lnTo>
                <a:cubicBezTo>
                  <a:pt x="859304" y="4955007"/>
                  <a:pt x="910776" y="4764564"/>
                  <a:pt x="1048034" y="4627306"/>
                </a:cubicBezTo>
                <a:lnTo>
                  <a:pt x="1361157" y="4314183"/>
                </a:lnTo>
                <a:cubicBezTo>
                  <a:pt x="1470811" y="4204529"/>
                  <a:pt x="1470811" y="4026342"/>
                  <a:pt x="1361157" y="3916686"/>
                </a:cubicBezTo>
                <a:cubicBezTo>
                  <a:pt x="1251503" y="3807032"/>
                  <a:pt x="1073314" y="3807032"/>
                  <a:pt x="963661" y="3916686"/>
                </a:cubicBezTo>
                <a:lnTo>
                  <a:pt x="959702" y="3920647"/>
                </a:lnTo>
                <a:cubicBezTo>
                  <a:pt x="740088" y="4140107"/>
                  <a:pt x="384322" y="4140107"/>
                  <a:pt x="164711" y="3920647"/>
                </a:cubicBezTo>
                <a:cubicBezTo>
                  <a:pt x="-54903" y="3701034"/>
                  <a:pt x="-54903" y="3345115"/>
                  <a:pt x="164711" y="3125656"/>
                </a:cubicBezTo>
                <a:lnTo>
                  <a:pt x="2106042" y="1184171"/>
                </a:lnTo>
                <a:cubicBezTo>
                  <a:pt x="2215696" y="1074517"/>
                  <a:pt x="2215696" y="896328"/>
                  <a:pt x="2106042" y="786674"/>
                </a:cubicBezTo>
                <a:cubicBezTo>
                  <a:pt x="1996388" y="677020"/>
                  <a:pt x="1818200" y="677020"/>
                  <a:pt x="1708546" y="786674"/>
                </a:cubicBezTo>
                <a:lnTo>
                  <a:pt x="1326585" y="1168636"/>
                </a:lnTo>
                <a:cubicBezTo>
                  <a:pt x="1106973" y="1388249"/>
                  <a:pt x="751207" y="1388249"/>
                  <a:pt x="531594" y="1168636"/>
                </a:cubicBezTo>
                <a:cubicBezTo>
                  <a:pt x="311983" y="949024"/>
                  <a:pt x="311983" y="593258"/>
                  <a:pt x="531594" y="373644"/>
                </a:cubicBezTo>
                <a:close/>
              </a:path>
            </a:pathLst>
          </a:custGeom>
          <a:solidFill>
            <a:srgbClr val="FFFF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 name="_text_title">
            <a:extLst>
              <a:ext uri="{FF2B5EF4-FFF2-40B4-BE49-F238E27FC236}">
                <a16:creationId xmlns:a16="http://schemas.microsoft.com/office/drawing/2014/main" id="{AE1EB1BC-AB84-C488-189A-8E0A85D43E25}"/>
              </a:ext>
            </a:extLst>
          </p:cNvPr>
          <p:cNvSpPr txBox="1">
            <a:spLocks/>
          </p:cNvSpPr>
          <p:nvPr/>
        </p:nvSpPr>
        <p:spPr>
          <a:xfrm>
            <a:off x="589500" y="724453"/>
            <a:ext cx="8402846" cy="430887"/>
          </a:xfrm>
          <a:prstGeom prst="rect">
            <a:avLst/>
          </a:prstGeom>
          <a:noFill/>
          <a:ln>
            <a:noFill/>
          </a:ln>
        </p:spPr>
        <p:txBody>
          <a:bodyPr spcFirstLastPara="1" wrap="square" lIns="91425" tIns="0" rIns="91425" bIns="0" anchor="b" anchorCtr="0">
            <a:sp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9pPr>
          </a:lstStyle>
          <a:p>
            <a:pPr algn="l">
              <a:buSzPts val="990"/>
            </a:pPr>
            <a:r>
              <a:rPr lang="en-GB" sz="2800" spc="-150" dirty="0">
                <a:solidFill>
                  <a:schemeClr val="lt1">
                    <a:alpha val="90000"/>
                  </a:schemeClr>
                </a:solidFill>
                <a:latin typeface="Montserrat Black" panose="00000A00000000000000" pitchFamily="2" charset="0"/>
                <a:ea typeface="Montserrat"/>
                <a:cs typeface="Montserrat"/>
                <a:sym typeface="Montserrat"/>
              </a:rPr>
              <a:t>Kako čitamo jedan propust</a:t>
            </a:r>
          </a:p>
        </p:txBody>
      </p:sp>
      <p:sp>
        <p:nvSpPr>
          <p:cNvPr id="9" name="_text_subtitle">
            <a:extLst>
              <a:ext uri="{FF2B5EF4-FFF2-40B4-BE49-F238E27FC236}">
                <a16:creationId xmlns:a16="http://schemas.microsoft.com/office/drawing/2014/main" id="{99B1321B-B9F4-6FDE-2AB9-A78122DE2B0B}"/>
              </a:ext>
            </a:extLst>
          </p:cNvPr>
          <p:cNvSpPr txBox="1">
            <a:spLocks/>
          </p:cNvSpPr>
          <p:nvPr/>
        </p:nvSpPr>
        <p:spPr>
          <a:xfrm>
            <a:off x="589500" y="1158219"/>
            <a:ext cx="8402846" cy="307777"/>
          </a:xfrm>
          <a:prstGeom prst="rect">
            <a:avLst/>
          </a:prstGeom>
          <a:noFill/>
          <a:ln>
            <a:noFill/>
          </a:ln>
        </p:spPr>
        <p:txBody>
          <a:bodyPr spcFirstLastPara="1" wrap="square" lIns="91425" tIns="0" rIns="91425" bIns="0" anchor="t" anchorCtr="0">
            <a:sp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9pPr>
          </a:lstStyle>
          <a:p>
            <a:pPr marL="0" indent="0" algn="l"/>
            <a:r>
              <a:rPr lang="en-GB" sz="2000" dirty="0" err="1">
                <a:solidFill>
                  <a:schemeClr val="lt1"/>
                </a:solidFill>
                <a:latin typeface="Montserrat" panose="00000500000000000000" pitchFamily="2" charset="0"/>
                <a:ea typeface="Lato"/>
                <a:cs typeface="Lato"/>
                <a:sym typeface="Lato"/>
              </a:rPr>
              <a:t>Prvo dokaz, pa tek onda odgovor</a:t>
            </a:r>
            <a:endParaRPr lang="en-GB" sz="2000" dirty="0">
              <a:solidFill>
                <a:schemeClr val="lt1"/>
              </a:solidFill>
              <a:latin typeface="Montserrat" panose="00000500000000000000" pitchFamily="2" charset="0"/>
              <a:ea typeface="Lato"/>
              <a:cs typeface="Lato"/>
              <a:sym typeface="Lato"/>
            </a:endParaRPr>
          </a:p>
        </p:txBody>
      </p:sp>
      <p:sp>
        <p:nvSpPr>
          <p:cNvPr id="3" name="Graphic 4">
            <a:extLst>
              <a:ext uri="{FF2B5EF4-FFF2-40B4-BE49-F238E27FC236}">
                <a16:creationId xmlns:a16="http://schemas.microsoft.com/office/drawing/2014/main" id="{4032E5A3-FA80-43AB-9F94-34A8AC807A06}"/>
              </a:ext>
            </a:extLst>
          </p:cNvPr>
          <p:cNvSpPr/>
          <p:nvPr/>
        </p:nvSpPr>
        <p:spPr>
          <a:xfrm>
            <a:off x="213083" y="343327"/>
            <a:ext cx="180000" cy="180000"/>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alpha val="95000"/>
            </a:srgbClr>
          </a:solidFill>
          <a:ln w="9525" cap="flat">
            <a:noFill/>
            <a:prstDash val="solid"/>
            <a:miter/>
          </a:ln>
        </p:spPr>
        <p:txBody>
          <a:bodyPr/>
          <a:lstStyle/>
          <a:p>
            <a:endParaRPr lang="en-GB"/>
          </a:p>
        </p:txBody>
      </p:sp>
      <p:sp>
        <p:nvSpPr>
          <p:cNvPr id="21" name="_text_main_content">
            <a:extLst>
              <a:ext uri="{FF2B5EF4-FFF2-40B4-BE49-F238E27FC236}">
                <a16:creationId xmlns:a16="http://schemas.microsoft.com/office/drawing/2014/main" id="{E0264961-D2DE-C1C1-4E15-601E8622C653}"/>
              </a:ext>
            </a:extLst>
          </p:cNvPr>
          <p:cNvSpPr txBox="1"/>
          <p:nvPr/>
        </p:nvSpPr>
        <p:spPr>
          <a:xfrm>
            <a:off x="589500" y="1648741"/>
            <a:ext cx="7914900" cy="149781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800"/>
              </a:spcAft>
              <a:buNone/>
            </a:pPr>
            <a:r>
              <a:rPr lang="sr" sz="1200" dirty="0">
                <a:solidFill>
                  <a:srgbClr val="D1E2ED"/>
                </a:solidFill>
                <a:latin typeface="Lato"/>
                <a:ea typeface="Lato"/>
                <a:cs typeface="Lato"/>
                <a:sym typeface="Lato"/>
              </a:rPr>
              <a:t>Svaki odgovor prolazi kroz lanac: chunkovanje određuje koji delovi postoje, retrieval bira neke od njih, a pravilo odgovora odlučuje da li odgovara, šta citira ili odbija. Ako pravi dokaz nije pronađen, nijedno pravilo odgovora ga ne može nadoknaditi.</a:t>
            </a:r>
            <a:endParaRPr sz="1200" dirty="0">
              <a:solidFill>
                <a:srgbClr val="D1E2ED"/>
              </a:solidFill>
              <a:latin typeface="Lato"/>
              <a:ea typeface="Lato"/>
              <a:cs typeface="Lato"/>
              <a:sym typeface="Lato"/>
            </a:endParaRPr>
          </a:p>
        </p:txBody>
      </p:sp>
      <p:pic>
        <p:nvPicPr>
          <p:cNvPr id="131" name="_image_illustration" descr="Četiri koraka provere propusta: dokaz pronađen, ponašanje tačno, citati tačni, bez propusta; svaki „ne“ vodi do tipa propusta"/>
          <p:cNvPicPr>
            <a:picLocks noChangeAspect="1"/>
          </p:cNvPicPr>
          <p:nvPr/>
        </p:nvPicPr>
        <p:blipFill>
          <a:blip r:embed="rId4"/>
          <a:stretch>
            <a:fillRect/>
          </a:stretch>
        </p:blipFill>
        <p:spPr>
          <a:xfrm>
            <a:off x="-35229" y="3703979"/>
            <a:ext cx="9197400" cy="1439342"/>
          </a:xfrm>
          <a:prstGeom prst="rect">
            <a:avLst/>
          </a:prstGeom>
        </p:spPr>
      </p:pic>
      <p:pic>
        <p:nvPicPr>
          <p:cNvPr id="130" name="_image_small_company_logo" descr="EPAM"/>
          <p:cNvPicPr>
            <a:picLocks noChangeAspect="1"/>
          </p:cNvPicPr>
          <p:nvPr/>
        </p:nvPicPr>
        <p:blipFill>
          <a:blip r:embed="rId5"/>
          <a:stretch>
            <a:fillRect/>
          </a:stretch>
        </p:blipFill>
        <p:spPr>
          <a:xfrm>
            <a:off x="490324" y="344427"/>
            <a:ext cx="504923" cy="177800"/>
          </a:xfrm>
          <a:prstGeom prst="rect">
            <a:avLst/>
          </a:prstGeom>
        </p:spPr>
      </p:pic>
      <p:sp>
        <p:nvSpPr>
          <p:cNvPr id="15" name="_text_section">
            <a:extLst>
              <a:ext uri="{FF2B5EF4-FFF2-40B4-BE49-F238E27FC236}">
                <a16:creationId xmlns:a16="http://schemas.microsoft.com/office/drawing/2014/main" id="{C3471E5F-598F-4B48-8378-8D052F40114C}"/>
              </a:ext>
            </a:extLst>
          </p:cNvPr>
          <p:cNvSpPr txBox="1">
            <a:spLocks/>
          </p:cNvSpPr>
          <p:nvPr/>
        </p:nvSpPr>
        <p:spPr>
          <a:xfrm>
            <a:off x="5927725" y="4663806"/>
            <a:ext cx="2564917" cy="15388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9pPr>
          </a:lstStyle>
          <a:p>
            <a:pPr marL="0" indent="0" algn="r"/>
            <a:r>
              <a:rPr lang="sr-Latn-RS" sz="1000" dirty="0">
                <a:solidFill>
                  <a:schemeClr val="lt1"/>
                </a:solidFill>
                <a:latin typeface="Lato"/>
                <a:ea typeface="Lato"/>
                <a:cs typeface="Lato"/>
                <a:sym typeface="Lato"/>
              </a:rPr>
              <a:t>Propusti</a:t>
            </a:r>
            <a:endParaRPr lang="en-GB" sz="1000" dirty="0">
              <a:solidFill>
                <a:schemeClr val="lt1"/>
              </a:solidFill>
              <a:latin typeface="Lato"/>
              <a:ea typeface="Lato"/>
              <a:cs typeface="Lato"/>
              <a:sym typeface="Lato"/>
            </a:endParaRPr>
          </a:p>
        </p:txBody>
      </p:sp>
      <p:sp>
        <p:nvSpPr>
          <p:cNvPr id="13" name="_text_page">
            <a:extLst>
              <a:ext uri="{FF2B5EF4-FFF2-40B4-BE49-F238E27FC236}">
                <a16:creationId xmlns:a16="http://schemas.microsoft.com/office/drawing/2014/main" id="{AD02ABA4-BB62-74A2-1852-A855DF9A799C}"/>
              </a:ext>
            </a:extLst>
          </p:cNvPr>
          <p:cNvSpPr txBox="1"/>
          <p:nvPr/>
        </p:nvSpPr>
        <p:spPr>
          <a:xfrm>
            <a:off x="8492643" y="4500000"/>
            <a:ext cx="469800" cy="481500"/>
          </a:xfrm>
          <a:prstGeom prst="rect">
            <a:avLst/>
          </a:prstGeom>
          <a:noFill/>
          <a:ln>
            <a:noFill/>
          </a:ln>
        </p:spPr>
        <p:txBody>
          <a:bodyPr spcFirstLastPara="1" wrap="square" lIns="0" tIns="91425" rIns="0" bIns="91425" anchor="t" anchorCtr="0">
            <a:noAutofit/>
          </a:bodyPr>
          <a:lstStyle/>
          <a:p>
            <a:pPr marL="0" lvl="0" indent="0" algn="ctr" rtl="0">
              <a:spcBef>
                <a:spcPts val="0"/>
              </a:spcBef>
              <a:spcAft>
                <a:spcPts val="0"/>
              </a:spcAft>
              <a:buNone/>
            </a:pPr>
            <a:r>
              <a:rPr lang="sr" sz="1800" dirty="0">
                <a:solidFill>
                  <a:schemeClr val="lt1"/>
                </a:solidFill>
                <a:latin typeface="Montserrat"/>
                <a:ea typeface="Montserrat"/>
                <a:cs typeface="Montserrat"/>
                <a:sym typeface="Montserrat"/>
              </a:rPr>
              <a:t>11</a:t>
            </a:r>
            <a:endParaRPr sz="1800" dirty="0">
              <a:solidFill>
                <a:schemeClr val="lt1"/>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9000" r="-29000"/>
          </a:stretch>
        </a:blip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2BF515C-563B-979D-9C67-04BB26B2F6A2}"/>
              </a:ext>
            </a:extLst>
          </p:cNvPr>
          <p:cNvSpPr/>
          <p:nvPr/>
        </p:nvSpPr>
        <p:spPr>
          <a:xfrm>
            <a:off x="2717800" y="0"/>
            <a:ext cx="6426201" cy="5143500"/>
          </a:xfrm>
          <a:custGeom>
            <a:avLst/>
            <a:gdLst>
              <a:gd name="csX0" fmla="*/ 905383 w 6426201"/>
              <a:gd name="csY0" fmla="*/ 0 h 5143500"/>
              <a:gd name="csX1" fmla="*/ 2497177 w 6426201"/>
              <a:gd name="csY1" fmla="*/ 0 h 5143500"/>
              <a:gd name="csX2" fmla="*/ 2467862 w 6426201"/>
              <a:gd name="csY2" fmla="*/ 35902 h 5143500"/>
              <a:gd name="csX3" fmla="*/ 2503842 w 6426201"/>
              <a:gd name="csY3" fmla="*/ 389331 h 5143500"/>
              <a:gd name="csX4" fmla="*/ 2901337 w 6426201"/>
              <a:gd name="csY4" fmla="*/ 389331 h 5143500"/>
              <a:gd name="csX5" fmla="*/ 3290630 w 6426201"/>
              <a:gd name="csY5" fmla="*/ 0 h 5143500"/>
              <a:gd name="csX6" fmla="*/ 4880482 w 6426201"/>
              <a:gd name="csY6" fmla="*/ 0 h 5143500"/>
              <a:gd name="csX7" fmla="*/ 1758651 w 6426201"/>
              <a:gd name="csY7" fmla="*/ 3121695 h 5143500"/>
              <a:gd name="csX8" fmla="*/ 1758651 w 6426201"/>
              <a:gd name="csY8" fmla="*/ 3519191 h 5143500"/>
              <a:gd name="csX9" fmla="*/ 2156147 w 6426201"/>
              <a:gd name="csY9" fmla="*/ 3519191 h 5143500"/>
              <a:gd name="csX10" fmla="*/ 5675617 w 6426201"/>
              <a:gd name="csY10" fmla="*/ 0 h 5143500"/>
              <a:gd name="csX11" fmla="*/ 6426201 w 6426201"/>
              <a:gd name="csY11" fmla="*/ 0 h 5143500"/>
              <a:gd name="csX12" fmla="*/ 6426201 w 6426201"/>
              <a:gd name="csY12" fmla="*/ 841724 h 5143500"/>
              <a:gd name="csX13" fmla="*/ 6399107 w 6426201"/>
              <a:gd name="csY13" fmla="*/ 874906 h 5143500"/>
              <a:gd name="csX14" fmla="*/ 6399107 w 6426201"/>
              <a:gd name="csY14" fmla="*/ 1184271 h 5143500"/>
              <a:gd name="csX15" fmla="*/ 6426201 w 6426201"/>
              <a:gd name="csY15" fmla="*/ 1217454 h 5143500"/>
              <a:gd name="csX16" fmla="*/ 6426201 w 6426201"/>
              <a:gd name="csY16" fmla="*/ 3224795 h 5143500"/>
              <a:gd name="csX17" fmla="*/ 5698729 w 6426201"/>
              <a:gd name="csY17" fmla="*/ 3952325 h 5143500"/>
              <a:gd name="csX18" fmla="*/ 5698729 w 6426201"/>
              <a:gd name="csY18" fmla="*/ 4349820 h 5143500"/>
              <a:gd name="csX19" fmla="*/ 6096226 w 6426201"/>
              <a:gd name="csY19" fmla="*/ 4349820 h 5143500"/>
              <a:gd name="csX20" fmla="*/ 6426201 w 6426201"/>
              <a:gd name="csY20" fmla="*/ 4019844 h 5143500"/>
              <a:gd name="csX21" fmla="*/ 6426201 w 6426201"/>
              <a:gd name="csY21" fmla="*/ 5143500 h 5143500"/>
              <a:gd name="csX22" fmla="*/ 5302181 w 6426201"/>
              <a:gd name="csY22" fmla="*/ 5143500 h 5143500"/>
              <a:gd name="csX23" fmla="*/ 5337216 w 6426201"/>
              <a:gd name="csY23" fmla="*/ 5100594 h 5143500"/>
              <a:gd name="csX24" fmla="*/ 5301235 w 6426201"/>
              <a:gd name="csY24" fmla="*/ 4747164 h 5143500"/>
              <a:gd name="csX25" fmla="*/ 4903739 w 6426201"/>
              <a:gd name="csY25" fmla="*/ 4747164 h 5143500"/>
              <a:gd name="csX26" fmla="*/ 4507404 w 6426201"/>
              <a:gd name="csY26" fmla="*/ 5143500 h 5143500"/>
              <a:gd name="csX27" fmla="*/ 2917405 w 6426201"/>
              <a:gd name="csY27" fmla="*/ 5143500 h 5143500"/>
              <a:gd name="csX28" fmla="*/ 6037591 w 6426201"/>
              <a:gd name="csY28" fmla="*/ 2023176 h 5143500"/>
              <a:gd name="csX29" fmla="*/ 6037591 w 6426201"/>
              <a:gd name="csY29" fmla="*/ 1625681 h 5143500"/>
              <a:gd name="csX30" fmla="*/ 5640096 w 6426201"/>
              <a:gd name="csY30" fmla="*/ 1625681 h 5143500"/>
              <a:gd name="csX31" fmla="*/ 2121855 w 6426201"/>
              <a:gd name="csY31" fmla="*/ 5143500 h 5143500"/>
              <a:gd name="csX32" fmla="*/ 896983 w 6426201"/>
              <a:gd name="csY32" fmla="*/ 5143500 h 5143500"/>
              <a:gd name="csX33" fmla="*/ 893618 w 6426201"/>
              <a:gd name="csY33" fmla="*/ 5132153 h 5143500"/>
              <a:gd name="csX34" fmla="*/ 1048034 w 6426201"/>
              <a:gd name="csY34" fmla="*/ 4627306 h 5143500"/>
              <a:gd name="csX35" fmla="*/ 1361157 w 6426201"/>
              <a:gd name="csY35" fmla="*/ 4314183 h 5143500"/>
              <a:gd name="csX36" fmla="*/ 1361157 w 6426201"/>
              <a:gd name="csY36" fmla="*/ 3916686 h 5143500"/>
              <a:gd name="csX37" fmla="*/ 963661 w 6426201"/>
              <a:gd name="csY37" fmla="*/ 3916686 h 5143500"/>
              <a:gd name="csX38" fmla="*/ 959702 w 6426201"/>
              <a:gd name="csY38" fmla="*/ 3920647 h 5143500"/>
              <a:gd name="csX39" fmla="*/ 164711 w 6426201"/>
              <a:gd name="csY39" fmla="*/ 3920647 h 5143500"/>
              <a:gd name="csX40" fmla="*/ 164711 w 6426201"/>
              <a:gd name="csY40" fmla="*/ 3125656 h 5143500"/>
              <a:gd name="csX41" fmla="*/ 2106042 w 6426201"/>
              <a:gd name="csY41" fmla="*/ 1184171 h 5143500"/>
              <a:gd name="csX42" fmla="*/ 2106042 w 6426201"/>
              <a:gd name="csY42" fmla="*/ 786674 h 5143500"/>
              <a:gd name="csX43" fmla="*/ 1708546 w 6426201"/>
              <a:gd name="csY43" fmla="*/ 786674 h 5143500"/>
              <a:gd name="csX44" fmla="*/ 1326585 w 6426201"/>
              <a:gd name="csY44" fmla="*/ 1168636 h 5143500"/>
              <a:gd name="csX45" fmla="*/ 531594 w 6426201"/>
              <a:gd name="csY45" fmla="*/ 1168636 h 5143500"/>
              <a:gd name="csX46" fmla="*/ 531594 w 6426201"/>
              <a:gd name="csY46" fmla="*/ 373644 h 514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426201" h="5143500">
                <a:moveTo>
                  <a:pt x="905383" y="0"/>
                </a:moveTo>
                <a:lnTo>
                  <a:pt x="2497177" y="0"/>
                </a:lnTo>
                <a:lnTo>
                  <a:pt x="2467862" y="35902"/>
                </a:lnTo>
                <a:cubicBezTo>
                  <a:pt x="2395902" y="144966"/>
                  <a:pt x="2407895" y="293384"/>
                  <a:pt x="2503842" y="389331"/>
                </a:cubicBezTo>
                <a:cubicBezTo>
                  <a:pt x="2613496" y="498985"/>
                  <a:pt x="2791683" y="498985"/>
                  <a:pt x="2901337" y="389331"/>
                </a:cubicBezTo>
                <a:lnTo>
                  <a:pt x="3290630" y="0"/>
                </a:lnTo>
                <a:lnTo>
                  <a:pt x="4880482" y="0"/>
                </a:lnTo>
                <a:lnTo>
                  <a:pt x="1758651" y="3121695"/>
                </a:lnTo>
                <a:cubicBezTo>
                  <a:pt x="1648997" y="3231349"/>
                  <a:pt x="1648997" y="3409537"/>
                  <a:pt x="1758651" y="3519191"/>
                </a:cubicBezTo>
                <a:cubicBezTo>
                  <a:pt x="1868305" y="3628845"/>
                  <a:pt x="2046494" y="3628845"/>
                  <a:pt x="2156147" y="3519191"/>
                </a:cubicBezTo>
                <a:lnTo>
                  <a:pt x="5675617" y="0"/>
                </a:lnTo>
                <a:lnTo>
                  <a:pt x="6426201" y="0"/>
                </a:lnTo>
                <a:lnTo>
                  <a:pt x="6426201" y="841724"/>
                </a:lnTo>
                <a:lnTo>
                  <a:pt x="6399107" y="874906"/>
                </a:lnTo>
                <a:cubicBezTo>
                  <a:pt x="6337426" y="968391"/>
                  <a:pt x="6337426" y="1090787"/>
                  <a:pt x="6399107" y="1184271"/>
                </a:cubicBezTo>
                <a:lnTo>
                  <a:pt x="6426201" y="1217454"/>
                </a:lnTo>
                <a:lnTo>
                  <a:pt x="6426201" y="3224795"/>
                </a:lnTo>
                <a:lnTo>
                  <a:pt x="5698729" y="3952325"/>
                </a:lnTo>
                <a:cubicBezTo>
                  <a:pt x="5589076" y="4061979"/>
                  <a:pt x="5589076" y="4240166"/>
                  <a:pt x="5698729" y="4349820"/>
                </a:cubicBezTo>
                <a:cubicBezTo>
                  <a:pt x="5808383" y="4459475"/>
                  <a:pt x="5986572" y="4459475"/>
                  <a:pt x="6096226" y="4349820"/>
                </a:cubicBezTo>
                <a:lnTo>
                  <a:pt x="6426201" y="4019844"/>
                </a:lnTo>
                <a:lnTo>
                  <a:pt x="6426201" y="5143500"/>
                </a:lnTo>
                <a:lnTo>
                  <a:pt x="5302181" y="5143500"/>
                </a:lnTo>
                <a:lnTo>
                  <a:pt x="5337216" y="5100594"/>
                </a:lnTo>
                <a:cubicBezTo>
                  <a:pt x="5409176" y="4991529"/>
                  <a:pt x="5397183" y="4843112"/>
                  <a:pt x="5301235" y="4747164"/>
                </a:cubicBezTo>
                <a:cubicBezTo>
                  <a:pt x="5191581" y="4637510"/>
                  <a:pt x="5013393" y="4637510"/>
                  <a:pt x="4903739" y="4747164"/>
                </a:cubicBezTo>
                <a:lnTo>
                  <a:pt x="4507404" y="5143500"/>
                </a:lnTo>
                <a:lnTo>
                  <a:pt x="2917405" y="5143500"/>
                </a:lnTo>
                <a:lnTo>
                  <a:pt x="6037591" y="2023176"/>
                </a:lnTo>
                <a:cubicBezTo>
                  <a:pt x="6147246" y="1913522"/>
                  <a:pt x="6147246" y="1735335"/>
                  <a:pt x="6037591" y="1625681"/>
                </a:cubicBezTo>
                <a:cubicBezTo>
                  <a:pt x="5927938" y="1516027"/>
                  <a:pt x="5749749" y="1516027"/>
                  <a:pt x="5640096" y="1625681"/>
                </a:cubicBezTo>
                <a:lnTo>
                  <a:pt x="2121855" y="5143500"/>
                </a:lnTo>
                <a:lnTo>
                  <a:pt x="896983" y="5143500"/>
                </a:lnTo>
                <a:lnTo>
                  <a:pt x="893618" y="5132153"/>
                </a:lnTo>
                <a:cubicBezTo>
                  <a:pt x="859304" y="4955007"/>
                  <a:pt x="910776" y="4764564"/>
                  <a:pt x="1048034" y="4627306"/>
                </a:cubicBezTo>
                <a:lnTo>
                  <a:pt x="1361157" y="4314183"/>
                </a:lnTo>
                <a:cubicBezTo>
                  <a:pt x="1470811" y="4204529"/>
                  <a:pt x="1470811" y="4026342"/>
                  <a:pt x="1361157" y="3916686"/>
                </a:cubicBezTo>
                <a:cubicBezTo>
                  <a:pt x="1251503" y="3807032"/>
                  <a:pt x="1073314" y="3807032"/>
                  <a:pt x="963661" y="3916686"/>
                </a:cubicBezTo>
                <a:lnTo>
                  <a:pt x="959702" y="3920647"/>
                </a:lnTo>
                <a:cubicBezTo>
                  <a:pt x="740088" y="4140107"/>
                  <a:pt x="384322" y="4140107"/>
                  <a:pt x="164711" y="3920647"/>
                </a:cubicBezTo>
                <a:cubicBezTo>
                  <a:pt x="-54903" y="3701034"/>
                  <a:pt x="-54903" y="3345115"/>
                  <a:pt x="164711" y="3125656"/>
                </a:cubicBezTo>
                <a:lnTo>
                  <a:pt x="2106042" y="1184171"/>
                </a:lnTo>
                <a:cubicBezTo>
                  <a:pt x="2215696" y="1074517"/>
                  <a:pt x="2215696" y="896328"/>
                  <a:pt x="2106042" y="786674"/>
                </a:cubicBezTo>
                <a:cubicBezTo>
                  <a:pt x="1996388" y="677020"/>
                  <a:pt x="1818200" y="677020"/>
                  <a:pt x="1708546" y="786674"/>
                </a:cubicBezTo>
                <a:lnTo>
                  <a:pt x="1326585" y="1168636"/>
                </a:lnTo>
                <a:cubicBezTo>
                  <a:pt x="1106973" y="1388249"/>
                  <a:pt x="751207" y="1388249"/>
                  <a:pt x="531594" y="1168636"/>
                </a:cubicBezTo>
                <a:cubicBezTo>
                  <a:pt x="311983" y="949024"/>
                  <a:pt x="311983" y="593258"/>
                  <a:pt x="531594" y="373644"/>
                </a:cubicBezTo>
                <a:close/>
              </a:path>
            </a:pathLst>
          </a:custGeom>
          <a:solidFill>
            <a:srgbClr val="FFFF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 name="_text_title">
            <a:extLst>
              <a:ext uri="{FF2B5EF4-FFF2-40B4-BE49-F238E27FC236}">
                <a16:creationId xmlns:a16="http://schemas.microsoft.com/office/drawing/2014/main" id="{6F6B512F-576E-521F-9547-D4EB4DB18981}"/>
              </a:ext>
            </a:extLst>
          </p:cNvPr>
          <p:cNvSpPr txBox="1">
            <a:spLocks/>
          </p:cNvSpPr>
          <p:nvPr/>
        </p:nvSpPr>
        <p:spPr>
          <a:xfrm>
            <a:off x="589500" y="724453"/>
            <a:ext cx="8402846" cy="430887"/>
          </a:xfrm>
          <a:prstGeom prst="rect">
            <a:avLst/>
          </a:prstGeom>
          <a:noFill/>
          <a:ln>
            <a:noFill/>
          </a:ln>
        </p:spPr>
        <p:txBody>
          <a:bodyPr spcFirstLastPara="1" wrap="square" lIns="91425" tIns="0" rIns="91425" bIns="0" anchor="b" anchorCtr="0">
            <a:sp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9pPr>
          </a:lstStyle>
          <a:p>
            <a:pPr algn="l">
              <a:buSzPts val="990"/>
            </a:pPr>
            <a:r>
              <a:rPr lang="en-GB" sz="2800" spc="-150" dirty="0">
                <a:solidFill>
                  <a:schemeClr val="lt1">
                    <a:alpha val="90000"/>
                  </a:schemeClr>
                </a:solidFill>
                <a:latin typeface="Montserrat Black" panose="00000A00000000000000" pitchFamily="2" charset="0"/>
                <a:ea typeface="Montserrat"/>
                <a:cs typeface="Montserrat"/>
                <a:sym typeface="Montserrat"/>
              </a:rPr>
              <a:t>Propusti retrieval-a</a:t>
            </a:r>
          </a:p>
        </p:txBody>
      </p:sp>
      <p:sp>
        <p:nvSpPr>
          <p:cNvPr id="9" name="_text_subtitle">
            <a:extLst>
              <a:ext uri="{FF2B5EF4-FFF2-40B4-BE49-F238E27FC236}">
                <a16:creationId xmlns:a16="http://schemas.microsoft.com/office/drawing/2014/main" id="{C3828B17-F705-5B83-D8D5-9EF6EAA45FB3}"/>
              </a:ext>
            </a:extLst>
          </p:cNvPr>
          <p:cNvSpPr txBox="1">
            <a:spLocks/>
          </p:cNvSpPr>
          <p:nvPr/>
        </p:nvSpPr>
        <p:spPr>
          <a:xfrm>
            <a:off x="589500" y="1158219"/>
            <a:ext cx="8402846" cy="307777"/>
          </a:xfrm>
          <a:prstGeom prst="rect">
            <a:avLst/>
          </a:prstGeom>
          <a:noFill/>
          <a:ln>
            <a:noFill/>
          </a:ln>
        </p:spPr>
        <p:txBody>
          <a:bodyPr spcFirstLastPara="1" wrap="square" lIns="91425" tIns="0" rIns="91425" bIns="0" anchor="t" anchorCtr="0">
            <a:sp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9pPr>
          </a:lstStyle>
          <a:p>
            <a:pPr marL="0" indent="0" algn="l"/>
            <a:r>
              <a:rPr lang="en-GB" sz="2000" dirty="0" err="1">
                <a:solidFill>
                  <a:schemeClr val="lt1"/>
                </a:solidFill>
                <a:latin typeface="Montserrat" panose="00000500000000000000" pitchFamily="2" charset="0"/>
                <a:ea typeface="Lato"/>
                <a:cs typeface="Lato"/>
                <a:sym typeface="Lato"/>
              </a:rPr>
              <a:t>Tri načina da pravi dokaz ne stigne do odgovora</a:t>
            </a:r>
            <a:endParaRPr lang="en-GB" sz="2000" dirty="0">
              <a:solidFill>
                <a:schemeClr val="lt1"/>
              </a:solidFill>
              <a:latin typeface="Montserrat" panose="00000500000000000000" pitchFamily="2" charset="0"/>
              <a:ea typeface="Lato"/>
              <a:cs typeface="Lato"/>
              <a:sym typeface="Lato"/>
            </a:endParaRPr>
          </a:p>
        </p:txBody>
      </p:sp>
      <p:sp>
        <p:nvSpPr>
          <p:cNvPr id="3" name="Graphic 4">
            <a:extLst>
              <a:ext uri="{FF2B5EF4-FFF2-40B4-BE49-F238E27FC236}">
                <a16:creationId xmlns:a16="http://schemas.microsoft.com/office/drawing/2014/main" id="{83415C52-2B7E-8EC2-8808-32366AC9F5A8}"/>
              </a:ext>
            </a:extLst>
          </p:cNvPr>
          <p:cNvSpPr/>
          <p:nvPr/>
        </p:nvSpPr>
        <p:spPr>
          <a:xfrm>
            <a:off x="213083" y="343327"/>
            <a:ext cx="180000" cy="180000"/>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alpha val="95000"/>
            </a:srgbClr>
          </a:solidFill>
          <a:ln w="9525" cap="flat">
            <a:noFill/>
            <a:prstDash val="solid"/>
            <a:miter/>
          </a:ln>
        </p:spPr>
        <p:txBody>
          <a:bodyPr/>
          <a:lstStyle/>
          <a:p>
            <a:endParaRPr lang="en-GB"/>
          </a:p>
        </p:txBody>
      </p:sp>
      <p:sp>
        <p:nvSpPr>
          <p:cNvPr id="10" name="_text_point_3">
            <a:extLst>
              <a:ext uri="{FF2B5EF4-FFF2-40B4-BE49-F238E27FC236}">
                <a16:creationId xmlns:a16="http://schemas.microsoft.com/office/drawing/2014/main" id="{0513BCAD-C3D2-BB2B-4245-2A8888CDFDF6}"/>
              </a:ext>
            </a:extLst>
          </p:cNvPr>
          <p:cNvSpPr/>
          <p:nvPr/>
        </p:nvSpPr>
        <p:spPr>
          <a:xfrm>
            <a:off x="614573" y="3263369"/>
            <a:ext cx="5760000" cy="355635"/>
          </a:xfrm>
          <a:prstGeom prst="roundRect">
            <a:avLst>
              <a:gd name="adj" fmla="val 50000"/>
            </a:avLst>
          </a:prstGeom>
          <a:gradFill>
            <a:gsLst>
              <a:gs pos="0">
                <a:srgbClr val="2F5D8B"/>
              </a:gs>
              <a:gs pos="100000">
                <a:srgbClr val="29091B">
                  <a:alpha val="9000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0" bIns="0" rtlCol="0" anchor="ctr"/>
          <a:lstStyle/>
          <a:p>
            <a:r>
              <a:rPr lang="da-DK" b="1" dirty="0">
                <a:latin typeface="Montserrat"/>
                <a:ea typeface="Montserrat"/>
                <a:cs typeface="Montserrat"/>
                <a:sym typeface="Montserrat"/>
              </a:rPr>
              <a:t>Šum: deli samo česte reči</a:t>
            </a:r>
          </a:p>
        </p:txBody>
      </p:sp>
      <p:sp>
        <p:nvSpPr>
          <p:cNvPr id="11" name="_text_point_2">
            <a:extLst>
              <a:ext uri="{FF2B5EF4-FFF2-40B4-BE49-F238E27FC236}">
                <a16:creationId xmlns:a16="http://schemas.microsoft.com/office/drawing/2014/main" id="{4631E6EC-547A-488C-F3DA-980D2BC26D9F}"/>
              </a:ext>
            </a:extLst>
          </p:cNvPr>
          <p:cNvSpPr/>
          <p:nvPr/>
        </p:nvSpPr>
        <p:spPr>
          <a:xfrm>
            <a:off x="611243" y="2765705"/>
            <a:ext cx="6480000" cy="355635"/>
          </a:xfrm>
          <a:prstGeom prst="roundRect">
            <a:avLst>
              <a:gd name="adj" fmla="val 50000"/>
            </a:avLst>
          </a:prstGeom>
          <a:gradFill>
            <a:gsLst>
              <a:gs pos="0">
                <a:srgbClr val="2F5D8B"/>
              </a:gs>
              <a:gs pos="100000">
                <a:srgbClr val="29091B">
                  <a:alpha val="9000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0" bIns="0" rtlCol="0" anchor="ctr"/>
          <a:lstStyle/>
          <a:p>
            <a:r>
              <a:rPr lang="da-DK" b="1" dirty="0" err="1">
                <a:latin typeface="Montserrat"/>
                <a:ea typeface="Montserrat"/>
                <a:cs typeface="Montserrat"/>
                <a:sym typeface="Montserrat"/>
              </a:rPr>
              <a:t>Pogrešno</a:t>
            </a:r>
            <a:r>
              <a:rPr lang="da-DK" b="1" dirty="0">
                <a:latin typeface="Montserrat"/>
                <a:ea typeface="Montserrat"/>
                <a:cs typeface="Montserrat"/>
                <a:sym typeface="Montserrat"/>
              </a:rPr>
              <a:t> </a:t>
            </a:r>
            <a:r>
              <a:rPr lang="da-DK" b="1" dirty="0" err="1">
                <a:latin typeface="Montserrat"/>
                <a:ea typeface="Montserrat"/>
                <a:cs typeface="Montserrat"/>
                <a:sym typeface="Montserrat"/>
              </a:rPr>
              <a:t>rangiranje</a:t>
            </a:r>
            <a:r>
              <a:rPr lang="da-DK" b="1" dirty="0">
                <a:latin typeface="Montserrat"/>
                <a:ea typeface="Montserrat"/>
                <a:cs typeface="Montserrat"/>
                <a:sym typeface="Montserrat"/>
              </a:rPr>
              <a:t>: </a:t>
            </a:r>
            <a:r>
              <a:rPr lang="da-DK" b="1" dirty="0" err="1">
                <a:latin typeface="Montserrat"/>
                <a:ea typeface="Montserrat"/>
                <a:cs typeface="Montserrat"/>
                <a:sym typeface="Montserrat"/>
              </a:rPr>
              <a:t>dokaz</a:t>
            </a:r>
            <a:r>
              <a:rPr lang="da-DK" b="1" dirty="0">
                <a:latin typeface="Montserrat"/>
                <a:ea typeface="Montserrat"/>
                <a:cs typeface="Montserrat"/>
                <a:sym typeface="Montserrat"/>
              </a:rPr>
              <a:t> </a:t>
            </a:r>
            <a:r>
              <a:rPr lang="da-DK" b="1" dirty="0" err="1">
                <a:latin typeface="Montserrat"/>
                <a:ea typeface="Montserrat"/>
                <a:cs typeface="Montserrat"/>
                <a:sym typeface="Montserrat"/>
              </a:rPr>
              <a:t>je</a:t>
            </a:r>
            <a:r>
              <a:rPr lang="da-DK" b="1" dirty="0">
                <a:latin typeface="Montserrat"/>
                <a:ea typeface="Montserrat"/>
                <a:cs typeface="Montserrat"/>
                <a:sym typeface="Montserrat"/>
              </a:rPr>
              <a:t> </a:t>
            </a:r>
            <a:r>
              <a:rPr lang="da-DK" b="1" dirty="0" err="1">
                <a:latin typeface="Montserrat"/>
                <a:ea typeface="Montserrat"/>
                <a:cs typeface="Montserrat"/>
                <a:sym typeface="Montserrat"/>
              </a:rPr>
              <a:t>ispod</a:t>
            </a:r>
            <a:r>
              <a:rPr lang="da-DK" b="1" dirty="0">
                <a:latin typeface="Montserrat"/>
                <a:ea typeface="Montserrat"/>
                <a:cs typeface="Montserrat"/>
                <a:sym typeface="Montserrat"/>
              </a:rPr>
              <a:t> </a:t>
            </a:r>
            <a:r>
              <a:rPr lang="da-DK" b="1" dirty="0" err="1">
                <a:latin typeface="Montserrat"/>
                <a:ea typeface="Montserrat"/>
                <a:cs typeface="Montserrat"/>
                <a:sym typeface="Montserrat"/>
              </a:rPr>
              <a:t>šuma</a:t>
            </a:r>
            <a:endParaRPr lang="da-DK" b="1" dirty="0">
              <a:latin typeface="Montserrat"/>
              <a:ea typeface="Montserrat"/>
              <a:cs typeface="Montserrat"/>
              <a:sym typeface="Montserrat"/>
            </a:endParaRPr>
          </a:p>
        </p:txBody>
      </p:sp>
      <p:sp>
        <p:nvSpPr>
          <p:cNvPr id="12" name="_text_point_1">
            <a:extLst>
              <a:ext uri="{FF2B5EF4-FFF2-40B4-BE49-F238E27FC236}">
                <a16:creationId xmlns:a16="http://schemas.microsoft.com/office/drawing/2014/main" id="{88AE20C2-9F43-D1C4-22DF-E2CD72F63BB1}"/>
              </a:ext>
            </a:extLst>
          </p:cNvPr>
          <p:cNvSpPr/>
          <p:nvPr/>
        </p:nvSpPr>
        <p:spPr>
          <a:xfrm>
            <a:off x="640143" y="2268040"/>
            <a:ext cx="7200000" cy="355635"/>
          </a:xfrm>
          <a:prstGeom prst="roundRect">
            <a:avLst>
              <a:gd name="adj" fmla="val 50000"/>
            </a:avLst>
          </a:prstGeom>
          <a:gradFill>
            <a:gsLst>
              <a:gs pos="0">
                <a:srgbClr val="2F5D8B"/>
              </a:gs>
              <a:gs pos="100000">
                <a:srgbClr val="29091B">
                  <a:alpha val="9000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0" bIns="0" rtlCol="0" anchor="ctr"/>
          <a:lstStyle/>
          <a:p>
            <a:r>
              <a:rPr lang="da-DK" b="1" dirty="0">
                <a:latin typeface="Montserrat"/>
                <a:ea typeface="Montserrat"/>
                <a:cs typeface="Montserrat"/>
                <a:sym typeface="Montserrat"/>
              </a:rPr>
              <a:t>Promašaj: relevantan chunk nije u top-k</a:t>
            </a:r>
          </a:p>
        </p:txBody>
      </p:sp>
      <p:sp>
        <p:nvSpPr>
          <p:cNvPr id="25" name="_text_main_content">
            <a:extLst>
              <a:ext uri="{FF2B5EF4-FFF2-40B4-BE49-F238E27FC236}">
                <a16:creationId xmlns:a16="http://schemas.microsoft.com/office/drawing/2014/main" id="{23A1A0AD-C92A-17E4-83CF-2CEFF6083FB6}"/>
              </a:ext>
            </a:extLst>
          </p:cNvPr>
          <p:cNvSpPr txBox="1"/>
          <p:nvPr/>
        </p:nvSpPr>
        <p:spPr>
          <a:xfrm>
            <a:off x="589500" y="1648741"/>
            <a:ext cx="7914900" cy="65656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800"/>
              </a:spcAft>
              <a:buNone/>
            </a:pPr>
            <a:r>
              <a:rPr lang="sr" sz="1200" dirty="0">
                <a:solidFill>
                  <a:srgbClr val="D1E2ED"/>
                </a:solidFill>
                <a:latin typeface="Lato"/>
                <a:ea typeface="Lato"/>
                <a:cs typeface="Lato"/>
                <a:sym typeface="Lato"/>
              </a:rPr>
              <a:t>Leksički retrieval ocenjuje chunk po tome koliko reči iz pitanja sadrži. Brz je, lokalan i objašnjiv, ali ne razume sinonime.</a:t>
            </a:r>
            <a:endParaRPr sz="1200" dirty="0">
              <a:solidFill>
                <a:srgbClr val="D1E2ED"/>
              </a:solidFill>
              <a:latin typeface="Lato"/>
              <a:ea typeface="Lato"/>
              <a:cs typeface="Lato"/>
              <a:sym typeface="Lato"/>
            </a:endParaRPr>
          </a:p>
        </p:txBody>
      </p:sp>
      <p:pic>
        <p:nvPicPr>
          <p:cNvPr id="26" name="_image_small_company_logo" descr="EPAM"/>
          <p:cNvPicPr>
            <a:picLocks noChangeAspect="1"/>
          </p:cNvPicPr>
          <p:nvPr/>
        </p:nvPicPr>
        <p:blipFill>
          <a:blip r:embed="rId4"/>
          <a:stretch>
            <a:fillRect/>
          </a:stretch>
        </p:blipFill>
        <p:spPr>
          <a:xfrm>
            <a:off x="490324" y="344427"/>
            <a:ext cx="504923" cy="177800"/>
          </a:xfrm>
          <a:prstGeom prst="rect">
            <a:avLst/>
          </a:prstGeom>
        </p:spPr>
      </p:pic>
      <p:sp>
        <p:nvSpPr>
          <p:cNvPr id="23" name="_text_section">
            <a:extLst>
              <a:ext uri="{FF2B5EF4-FFF2-40B4-BE49-F238E27FC236}">
                <a16:creationId xmlns:a16="http://schemas.microsoft.com/office/drawing/2014/main" id="{DC5D0AAC-CEA8-99E1-4378-3862874FD819}"/>
              </a:ext>
            </a:extLst>
          </p:cNvPr>
          <p:cNvSpPr txBox="1">
            <a:spLocks/>
          </p:cNvSpPr>
          <p:nvPr/>
        </p:nvSpPr>
        <p:spPr>
          <a:xfrm>
            <a:off x="5927725" y="4663806"/>
            <a:ext cx="2564917" cy="15388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9pPr>
          </a:lstStyle>
          <a:p>
            <a:pPr marL="0" indent="0" algn="r"/>
            <a:r>
              <a:rPr lang="sr-Latn-RS" sz="1000" dirty="0">
                <a:solidFill>
                  <a:schemeClr val="lt1"/>
                </a:solidFill>
                <a:latin typeface="Lato"/>
                <a:ea typeface="Lato"/>
                <a:cs typeface="Lato"/>
                <a:sym typeface="Lato"/>
              </a:rPr>
              <a:t>Propusti</a:t>
            </a:r>
            <a:endParaRPr lang="en-GB" sz="1000" dirty="0">
              <a:solidFill>
                <a:schemeClr val="lt1"/>
              </a:solidFill>
              <a:latin typeface="Lato"/>
              <a:ea typeface="Lato"/>
              <a:cs typeface="Lato"/>
              <a:sym typeface="Lato"/>
            </a:endParaRPr>
          </a:p>
        </p:txBody>
      </p:sp>
      <p:sp>
        <p:nvSpPr>
          <p:cNvPr id="21" name="_text_page">
            <a:extLst>
              <a:ext uri="{FF2B5EF4-FFF2-40B4-BE49-F238E27FC236}">
                <a16:creationId xmlns:a16="http://schemas.microsoft.com/office/drawing/2014/main" id="{6E189432-53E3-417C-F7BA-53BE1AA41F10}"/>
              </a:ext>
            </a:extLst>
          </p:cNvPr>
          <p:cNvSpPr txBox="1"/>
          <p:nvPr/>
        </p:nvSpPr>
        <p:spPr>
          <a:xfrm>
            <a:off x="8492643" y="4500000"/>
            <a:ext cx="469800" cy="481500"/>
          </a:xfrm>
          <a:prstGeom prst="rect">
            <a:avLst/>
          </a:prstGeom>
          <a:noFill/>
          <a:ln>
            <a:noFill/>
          </a:ln>
        </p:spPr>
        <p:txBody>
          <a:bodyPr spcFirstLastPara="1" wrap="square" lIns="0" tIns="91425" rIns="0" bIns="91425" anchor="t" anchorCtr="0">
            <a:noAutofit/>
          </a:bodyPr>
          <a:lstStyle/>
          <a:p>
            <a:pPr marL="0" lvl="0" indent="0" algn="ctr" rtl="0">
              <a:spcBef>
                <a:spcPts val="0"/>
              </a:spcBef>
              <a:spcAft>
                <a:spcPts val="0"/>
              </a:spcAft>
              <a:buNone/>
            </a:pPr>
            <a:r>
              <a:rPr lang="sr" sz="1800" dirty="0">
                <a:solidFill>
                  <a:schemeClr val="lt1"/>
                </a:solidFill>
                <a:latin typeface="Montserrat"/>
                <a:ea typeface="Montserrat"/>
                <a:cs typeface="Montserrat"/>
                <a:sym typeface="Montserrat"/>
              </a:rPr>
              <a:t>1</a:t>
            </a:r>
            <a:r>
              <a:rPr lang="en-US" sz="1800" dirty="0">
                <a:solidFill>
                  <a:schemeClr val="lt1"/>
                </a:solidFill>
                <a:latin typeface="Montserrat"/>
                <a:ea typeface="Montserrat"/>
                <a:cs typeface="Montserrat"/>
                <a:sym typeface="Montserrat"/>
              </a:rPr>
              <a:t>3</a:t>
            </a:r>
            <a:endParaRPr sz="1800" dirty="0">
              <a:solidFill>
                <a:schemeClr val="lt1"/>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9000" r="-29000"/>
          </a:stretch>
        </a:blip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CCEE615A-F458-2EA3-D615-19C3FED6FB9A}"/>
              </a:ext>
            </a:extLst>
          </p:cNvPr>
          <p:cNvSpPr/>
          <p:nvPr/>
        </p:nvSpPr>
        <p:spPr>
          <a:xfrm>
            <a:off x="2717800" y="0"/>
            <a:ext cx="6426201" cy="5143500"/>
          </a:xfrm>
          <a:custGeom>
            <a:avLst/>
            <a:gdLst>
              <a:gd name="csX0" fmla="*/ 905383 w 6426201"/>
              <a:gd name="csY0" fmla="*/ 0 h 5143500"/>
              <a:gd name="csX1" fmla="*/ 2497177 w 6426201"/>
              <a:gd name="csY1" fmla="*/ 0 h 5143500"/>
              <a:gd name="csX2" fmla="*/ 2467862 w 6426201"/>
              <a:gd name="csY2" fmla="*/ 35902 h 5143500"/>
              <a:gd name="csX3" fmla="*/ 2503842 w 6426201"/>
              <a:gd name="csY3" fmla="*/ 389331 h 5143500"/>
              <a:gd name="csX4" fmla="*/ 2901337 w 6426201"/>
              <a:gd name="csY4" fmla="*/ 389331 h 5143500"/>
              <a:gd name="csX5" fmla="*/ 3290630 w 6426201"/>
              <a:gd name="csY5" fmla="*/ 0 h 5143500"/>
              <a:gd name="csX6" fmla="*/ 4880482 w 6426201"/>
              <a:gd name="csY6" fmla="*/ 0 h 5143500"/>
              <a:gd name="csX7" fmla="*/ 1758651 w 6426201"/>
              <a:gd name="csY7" fmla="*/ 3121695 h 5143500"/>
              <a:gd name="csX8" fmla="*/ 1758651 w 6426201"/>
              <a:gd name="csY8" fmla="*/ 3519191 h 5143500"/>
              <a:gd name="csX9" fmla="*/ 2156147 w 6426201"/>
              <a:gd name="csY9" fmla="*/ 3519191 h 5143500"/>
              <a:gd name="csX10" fmla="*/ 5675617 w 6426201"/>
              <a:gd name="csY10" fmla="*/ 0 h 5143500"/>
              <a:gd name="csX11" fmla="*/ 6426201 w 6426201"/>
              <a:gd name="csY11" fmla="*/ 0 h 5143500"/>
              <a:gd name="csX12" fmla="*/ 6426201 w 6426201"/>
              <a:gd name="csY12" fmla="*/ 841724 h 5143500"/>
              <a:gd name="csX13" fmla="*/ 6399107 w 6426201"/>
              <a:gd name="csY13" fmla="*/ 874906 h 5143500"/>
              <a:gd name="csX14" fmla="*/ 6399107 w 6426201"/>
              <a:gd name="csY14" fmla="*/ 1184271 h 5143500"/>
              <a:gd name="csX15" fmla="*/ 6426201 w 6426201"/>
              <a:gd name="csY15" fmla="*/ 1217454 h 5143500"/>
              <a:gd name="csX16" fmla="*/ 6426201 w 6426201"/>
              <a:gd name="csY16" fmla="*/ 3224795 h 5143500"/>
              <a:gd name="csX17" fmla="*/ 5698729 w 6426201"/>
              <a:gd name="csY17" fmla="*/ 3952325 h 5143500"/>
              <a:gd name="csX18" fmla="*/ 5698729 w 6426201"/>
              <a:gd name="csY18" fmla="*/ 4349820 h 5143500"/>
              <a:gd name="csX19" fmla="*/ 6096226 w 6426201"/>
              <a:gd name="csY19" fmla="*/ 4349820 h 5143500"/>
              <a:gd name="csX20" fmla="*/ 6426201 w 6426201"/>
              <a:gd name="csY20" fmla="*/ 4019844 h 5143500"/>
              <a:gd name="csX21" fmla="*/ 6426201 w 6426201"/>
              <a:gd name="csY21" fmla="*/ 5143500 h 5143500"/>
              <a:gd name="csX22" fmla="*/ 5302181 w 6426201"/>
              <a:gd name="csY22" fmla="*/ 5143500 h 5143500"/>
              <a:gd name="csX23" fmla="*/ 5337216 w 6426201"/>
              <a:gd name="csY23" fmla="*/ 5100594 h 5143500"/>
              <a:gd name="csX24" fmla="*/ 5301235 w 6426201"/>
              <a:gd name="csY24" fmla="*/ 4747164 h 5143500"/>
              <a:gd name="csX25" fmla="*/ 4903739 w 6426201"/>
              <a:gd name="csY25" fmla="*/ 4747164 h 5143500"/>
              <a:gd name="csX26" fmla="*/ 4507404 w 6426201"/>
              <a:gd name="csY26" fmla="*/ 5143500 h 5143500"/>
              <a:gd name="csX27" fmla="*/ 2917405 w 6426201"/>
              <a:gd name="csY27" fmla="*/ 5143500 h 5143500"/>
              <a:gd name="csX28" fmla="*/ 6037591 w 6426201"/>
              <a:gd name="csY28" fmla="*/ 2023176 h 5143500"/>
              <a:gd name="csX29" fmla="*/ 6037591 w 6426201"/>
              <a:gd name="csY29" fmla="*/ 1625681 h 5143500"/>
              <a:gd name="csX30" fmla="*/ 5640096 w 6426201"/>
              <a:gd name="csY30" fmla="*/ 1625681 h 5143500"/>
              <a:gd name="csX31" fmla="*/ 2121855 w 6426201"/>
              <a:gd name="csY31" fmla="*/ 5143500 h 5143500"/>
              <a:gd name="csX32" fmla="*/ 896983 w 6426201"/>
              <a:gd name="csY32" fmla="*/ 5143500 h 5143500"/>
              <a:gd name="csX33" fmla="*/ 893618 w 6426201"/>
              <a:gd name="csY33" fmla="*/ 5132153 h 5143500"/>
              <a:gd name="csX34" fmla="*/ 1048034 w 6426201"/>
              <a:gd name="csY34" fmla="*/ 4627306 h 5143500"/>
              <a:gd name="csX35" fmla="*/ 1361157 w 6426201"/>
              <a:gd name="csY35" fmla="*/ 4314183 h 5143500"/>
              <a:gd name="csX36" fmla="*/ 1361157 w 6426201"/>
              <a:gd name="csY36" fmla="*/ 3916686 h 5143500"/>
              <a:gd name="csX37" fmla="*/ 963661 w 6426201"/>
              <a:gd name="csY37" fmla="*/ 3916686 h 5143500"/>
              <a:gd name="csX38" fmla="*/ 959702 w 6426201"/>
              <a:gd name="csY38" fmla="*/ 3920647 h 5143500"/>
              <a:gd name="csX39" fmla="*/ 164711 w 6426201"/>
              <a:gd name="csY39" fmla="*/ 3920647 h 5143500"/>
              <a:gd name="csX40" fmla="*/ 164711 w 6426201"/>
              <a:gd name="csY40" fmla="*/ 3125656 h 5143500"/>
              <a:gd name="csX41" fmla="*/ 2106042 w 6426201"/>
              <a:gd name="csY41" fmla="*/ 1184171 h 5143500"/>
              <a:gd name="csX42" fmla="*/ 2106042 w 6426201"/>
              <a:gd name="csY42" fmla="*/ 786674 h 5143500"/>
              <a:gd name="csX43" fmla="*/ 1708546 w 6426201"/>
              <a:gd name="csY43" fmla="*/ 786674 h 5143500"/>
              <a:gd name="csX44" fmla="*/ 1326585 w 6426201"/>
              <a:gd name="csY44" fmla="*/ 1168636 h 5143500"/>
              <a:gd name="csX45" fmla="*/ 531594 w 6426201"/>
              <a:gd name="csY45" fmla="*/ 1168636 h 5143500"/>
              <a:gd name="csX46" fmla="*/ 531594 w 6426201"/>
              <a:gd name="csY46" fmla="*/ 373644 h 514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426201" h="5143500">
                <a:moveTo>
                  <a:pt x="905383" y="0"/>
                </a:moveTo>
                <a:lnTo>
                  <a:pt x="2497177" y="0"/>
                </a:lnTo>
                <a:lnTo>
                  <a:pt x="2467862" y="35902"/>
                </a:lnTo>
                <a:cubicBezTo>
                  <a:pt x="2395902" y="144966"/>
                  <a:pt x="2407895" y="293384"/>
                  <a:pt x="2503842" y="389331"/>
                </a:cubicBezTo>
                <a:cubicBezTo>
                  <a:pt x="2613496" y="498985"/>
                  <a:pt x="2791683" y="498985"/>
                  <a:pt x="2901337" y="389331"/>
                </a:cubicBezTo>
                <a:lnTo>
                  <a:pt x="3290630" y="0"/>
                </a:lnTo>
                <a:lnTo>
                  <a:pt x="4880482" y="0"/>
                </a:lnTo>
                <a:lnTo>
                  <a:pt x="1758651" y="3121695"/>
                </a:lnTo>
                <a:cubicBezTo>
                  <a:pt x="1648997" y="3231349"/>
                  <a:pt x="1648997" y="3409537"/>
                  <a:pt x="1758651" y="3519191"/>
                </a:cubicBezTo>
                <a:cubicBezTo>
                  <a:pt x="1868305" y="3628845"/>
                  <a:pt x="2046494" y="3628845"/>
                  <a:pt x="2156147" y="3519191"/>
                </a:cubicBezTo>
                <a:lnTo>
                  <a:pt x="5675617" y="0"/>
                </a:lnTo>
                <a:lnTo>
                  <a:pt x="6426201" y="0"/>
                </a:lnTo>
                <a:lnTo>
                  <a:pt x="6426201" y="841724"/>
                </a:lnTo>
                <a:lnTo>
                  <a:pt x="6399107" y="874906"/>
                </a:lnTo>
                <a:cubicBezTo>
                  <a:pt x="6337426" y="968391"/>
                  <a:pt x="6337426" y="1090787"/>
                  <a:pt x="6399107" y="1184271"/>
                </a:cubicBezTo>
                <a:lnTo>
                  <a:pt x="6426201" y="1217454"/>
                </a:lnTo>
                <a:lnTo>
                  <a:pt x="6426201" y="3224795"/>
                </a:lnTo>
                <a:lnTo>
                  <a:pt x="5698729" y="3952325"/>
                </a:lnTo>
                <a:cubicBezTo>
                  <a:pt x="5589076" y="4061979"/>
                  <a:pt x="5589076" y="4240166"/>
                  <a:pt x="5698729" y="4349820"/>
                </a:cubicBezTo>
                <a:cubicBezTo>
                  <a:pt x="5808383" y="4459475"/>
                  <a:pt x="5986572" y="4459475"/>
                  <a:pt x="6096226" y="4349820"/>
                </a:cubicBezTo>
                <a:lnTo>
                  <a:pt x="6426201" y="4019844"/>
                </a:lnTo>
                <a:lnTo>
                  <a:pt x="6426201" y="5143500"/>
                </a:lnTo>
                <a:lnTo>
                  <a:pt x="5302181" y="5143500"/>
                </a:lnTo>
                <a:lnTo>
                  <a:pt x="5337216" y="5100594"/>
                </a:lnTo>
                <a:cubicBezTo>
                  <a:pt x="5409176" y="4991529"/>
                  <a:pt x="5397183" y="4843112"/>
                  <a:pt x="5301235" y="4747164"/>
                </a:cubicBezTo>
                <a:cubicBezTo>
                  <a:pt x="5191581" y="4637510"/>
                  <a:pt x="5013393" y="4637510"/>
                  <a:pt x="4903739" y="4747164"/>
                </a:cubicBezTo>
                <a:lnTo>
                  <a:pt x="4507404" y="5143500"/>
                </a:lnTo>
                <a:lnTo>
                  <a:pt x="2917405" y="5143500"/>
                </a:lnTo>
                <a:lnTo>
                  <a:pt x="6037591" y="2023176"/>
                </a:lnTo>
                <a:cubicBezTo>
                  <a:pt x="6147246" y="1913522"/>
                  <a:pt x="6147246" y="1735335"/>
                  <a:pt x="6037591" y="1625681"/>
                </a:cubicBezTo>
                <a:cubicBezTo>
                  <a:pt x="5927938" y="1516027"/>
                  <a:pt x="5749749" y="1516027"/>
                  <a:pt x="5640096" y="1625681"/>
                </a:cubicBezTo>
                <a:lnTo>
                  <a:pt x="2121855" y="5143500"/>
                </a:lnTo>
                <a:lnTo>
                  <a:pt x="896983" y="5143500"/>
                </a:lnTo>
                <a:lnTo>
                  <a:pt x="893618" y="5132153"/>
                </a:lnTo>
                <a:cubicBezTo>
                  <a:pt x="859304" y="4955007"/>
                  <a:pt x="910776" y="4764564"/>
                  <a:pt x="1048034" y="4627306"/>
                </a:cubicBezTo>
                <a:lnTo>
                  <a:pt x="1361157" y="4314183"/>
                </a:lnTo>
                <a:cubicBezTo>
                  <a:pt x="1470811" y="4204529"/>
                  <a:pt x="1470811" y="4026342"/>
                  <a:pt x="1361157" y="3916686"/>
                </a:cubicBezTo>
                <a:cubicBezTo>
                  <a:pt x="1251503" y="3807032"/>
                  <a:pt x="1073314" y="3807032"/>
                  <a:pt x="963661" y="3916686"/>
                </a:cubicBezTo>
                <a:lnTo>
                  <a:pt x="959702" y="3920647"/>
                </a:lnTo>
                <a:cubicBezTo>
                  <a:pt x="740088" y="4140107"/>
                  <a:pt x="384322" y="4140107"/>
                  <a:pt x="164711" y="3920647"/>
                </a:cubicBezTo>
                <a:cubicBezTo>
                  <a:pt x="-54903" y="3701034"/>
                  <a:pt x="-54903" y="3345115"/>
                  <a:pt x="164711" y="3125656"/>
                </a:cubicBezTo>
                <a:lnTo>
                  <a:pt x="2106042" y="1184171"/>
                </a:lnTo>
                <a:cubicBezTo>
                  <a:pt x="2215696" y="1074517"/>
                  <a:pt x="2215696" y="896328"/>
                  <a:pt x="2106042" y="786674"/>
                </a:cubicBezTo>
                <a:cubicBezTo>
                  <a:pt x="1996388" y="677020"/>
                  <a:pt x="1818200" y="677020"/>
                  <a:pt x="1708546" y="786674"/>
                </a:cubicBezTo>
                <a:lnTo>
                  <a:pt x="1326585" y="1168636"/>
                </a:lnTo>
                <a:cubicBezTo>
                  <a:pt x="1106973" y="1388249"/>
                  <a:pt x="751207" y="1388249"/>
                  <a:pt x="531594" y="1168636"/>
                </a:cubicBezTo>
                <a:cubicBezTo>
                  <a:pt x="311983" y="949024"/>
                  <a:pt x="311983" y="593258"/>
                  <a:pt x="531594" y="373644"/>
                </a:cubicBezTo>
                <a:close/>
              </a:path>
            </a:pathLst>
          </a:custGeom>
          <a:solidFill>
            <a:srgbClr val="FFFF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5" name="_text_title">
            <a:extLst>
              <a:ext uri="{FF2B5EF4-FFF2-40B4-BE49-F238E27FC236}">
                <a16:creationId xmlns:a16="http://schemas.microsoft.com/office/drawing/2014/main" id="{9A9350D6-202F-DCA6-04C4-F3F8A523D648}"/>
              </a:ext>
            </a:extLst>
          </p:cNvPr>
          <p:cNvSpPr txBox="1">
            <a:spLocks noGrp="1"/>
          </p:cNvSpPr>
          <p:nvPr>
            <p:ph type="ctrTitle"/>
          </p:nvPr>
        </p:nvSpPr>
        <p:spPr>
          <a:xfrm>
            <a:off x="589500" y="724453"/>
            <a:ext cx="8402846" cy="430887"/>
          </a:xfrm>
          <a:prstGeom prst="rect">
            <a:avLst/>
          </a:prstGeom>
        </p:spPr>
        <p:txBody>
          <a:bodyPr spcFirstLastPara="1" wrap="square" lIns="91425" tIns="0" rIns="91425" bIns="0" anchor="b" anchorCtr="0">
            <a:spAutoFit/>
          </a:bodyPr>
          <a:lstStyle/>
          <a:p>
            <a:pPr marL="0" lvl="0" indent="0" algn="l" rtl="0">
              <a:spcBef>
                <a:spcPts val="0"/>
              </a:spcBef>
              <a:spcAft>
                <a:spcPts val="0"/>
              </a:spcAft>
              <a:buSzPts val="990"/>
              <a:buNone/>
            </a:pPr>
            <a:r>
              <a:rPr lang="sr" sz="2800" spc="-150" dirty="0">
                <a:solidFill>
                  <a:schemeClr val="lt1">
                    <a:alpha val="90000"/>
                  </a:schemeClr>
                </a:solidFill>
                <a:latin typeface="Montserrat Black" panose="00000A00000000000000" pitchFamily="2" charset="0"/>
                <a:ea typeface="Montserrat"/>
                <a:cs typeface="Montserrat"/>
                <a:sym typeface="Montserrat"/>
              </a:rPr>
              <a:t>Leksički ili embedding retrieval</a:t>
            </a:r>
            <a:endParaRPr sz="2800" spc="-150" dirty="0">
              <a:solidFill>
                <a:schemeClr val="lt1">
                  <a:alpha val="90000"/>
                </a:schemeClr>
              </a:solidFill>
              <a:latin typeface="Montserrat Black" panose="00000A00000000000000" pitchFamily="2" charset="0"/>
              <a:ea typeface="Montserrat"/>
              <a:cs typeface="Montserrat"/>
              <a:sym typeface="Montserrat"/>
            </a:endParaRPr>
          </a:p>
        </p:txBody>
      </p:sp>
      <p:sp>
        <p:nvSpPr>
          <p:cNvPr id="76" name="_text_subtitle">
            <a:extLst>
              <a:ext uri="{FF2B5EF4-FFF2-40B4-BE49-F238E27FC236}">
                <a16:creationId xmlns:a16="http://schemas.microsoft.com/office/drawing/2014/main" id="{89B0C66B-98BD-4D0C-58A2-B37A07AD43A4}"/>
              </a:ext>
            </a:extLst>
          </p:cNvPr>
          <p:cNvSpPr txBox="1">
            <a:spLocks noGrp="1"/>
          </p:cNvSpPr>
          <p:nvPr>
            <p:ph type="subTitle" idx="1"/>
          </p:nvPr>
        </p:nvSpPr>
        <p:spPr>
          <a:xfrm>
            <a:off x="589500" y="1158219"/>
            <a:ext cx="8402846" cy="307777"/>
          </a:xfrm>
          <a:prstGeom prst="rect">
            <a:avLst/>
          </a:prstGeom>
        </p:spPr>
        <p:txBody>
          <a:bodyPr spcFirstLastPara="1" wrap="square" lIns="91425" tIns="0" rIns="91425" bIns="0" anchor="t" anchorCtr="0">
            <a:spAutoFit/>
          </a:bodyPr>
          <a:lstStyle/>
          <a:p>
            <a:pPr marL="0" lvl="0" indent="0" algn="l" rtl="0">
              <a:spcBef>
                <a:spcPts val="0"/>
              </a:spcBef>
              <a:spcAft>
                <a:spcPts val="0"/>
              </a:spcAft>
              <a:buNone/>
            </a:pPr>
            <a:r>
              <a:rPr lang="sr" sz="2000" dirty="0">
                <a:solidFill>
                  <a:schemeClr val="lt1"/>
                </a:solidFill>
                <a:latin typeface="Montserrat" panose="00000500000000000000" pitchFamily="2" charset="0"/>
                <a:ea typeface="Lato"/>
                <a:cs typeface="Lato"/>
                <a:sym typeface="Lato"/>
              </a:rPr>
              <a:t>Zašto ove nedelje ostajemo lokalni</a:t>
            </a:r>
            <a:endParaRPr sz="2000" dirty="0">
              <a:solidFill>
                <a:schemeClr val="lt1"/>
              </a:solidFill>
              <a:latin typeface="Montserrat" panose="00000500000000000000" pitchFamily="2" charset="0"/>
              <a:ea typeface="Lato"/>
              <a:cs typeface="Lato"/>
              <a:sym typeface="Lato"/>
            </a:endParaRPr>
          </a:p>
        </p:txBody>
      </p:sp>
      <p:sp>
        <p:nvSpPr>
          <p:cNvPr id="77" name="_text_main_content">
            <a:extLst>
              <a:ext uri="{FF2B5EF4-FFF2-40B4-BE49-F238E27FC236}">
                <a16:creationId xmlns:a16="http://schemas.microsoft.com/office/drawing/2014/main" id="{01CCEE04-B5AA-8998-D5AD-F320F727EDBA}"/>
              </a:ext>
            </a:extLst>
          </p:cNvPr>
          <p:cNvSpPr txBox="1"/>
          <p:nvPr/>
        </p:nvSpPr>
        <p:spPr>
          <a:xfrm>
            <a:off x="589500" y="1648741"/>
            <a:ext cx="7914900" cy="141574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800"/>
              </a:spcAft>
              <a:buNone/>
            </a:pPr>
            <a:r>
              <a:rPr lang="sr" sz="1200" dirty="0">
                <a:solidFill>
                  <a:srgbClr val="D1E2ED"/>
                </a:solidFill>
                <a:latin typeface="Lato"/>
                <a:ea typeface="Lato"/>
                <a:cs typeface="Lato"/>
                <a:sym typeface="Lato"/>
              </a:rPr>
              <a:t>Sistem ove nedelje koristi leksički retrieval: ocena zavisi od toga koliko reči iz pitanja postoji u chunk-u. To je jednostavno, brzo, ponovljivo i radi bez API ključa. Slabost je što ne razume sinonime i lako ga zavaraju česte reči.</a:t>
            </a:r>
            <a:endParaRPr sz="1200" dirty="0">
              <a:solidFill>
                <a:srgbClr val="D1E2ED"/>
              </a:solidFill>
              <a:latin typeface="Lato"/>
              <a:ea typeface="Lato"/>
              <a:cs typeface="Lato"/>
              <a:sym typeface="Lato"/>
            </a:endParaRPr>
          </a:p>
          <a:p>
            <a:pPr marL="0" lvl="0" indent="0" algn="l" rtl="0">
              <a:spcBef>
                <a:spcPts val="0"/>
              </a:spcBef>
              <a:spcAft>
                <a:spcPts val="800"/>
              </a:spcAft>
              <a:buNone/>
            </a:pPr>
            <a:endParaRPr sz="1200" dirty="0">
              <a:solidFill>
                <a:srgbClr val="D1E2ED"/>
              </a:solidFill>
              <a:latin typeface="Lato"/>
              <a:ea typeface="Lato"/>
              <a:cs typeface="Lato"/>
              <a:sym typeface="Lato"/>
            </a:endParaRPr>
          </a:p>
          <a:p>
            <a:pPr marL="0" lvl="0" indent="0" algn="l" rtl="0">
              <a:spcBef>
                <a:spcPts val="0"/>
              </a:spcBef>
              <a:spcAft>
                <a:spcPts val="800"/>
              </a:spcAft>
              <a:buNone/>
            </a:pPr>
            <a:r>
              <a:rPr lang="sr" sz="1200" dirty="0">
                <a:solidFill>
                  <a:srgbClr val="D1E2ED"/>
                </a:solidFill>
                <a:latin typeface="Lato"/>
                <a:ea typeface="Lato"/>
                <a:cs typeface="Lato"/>
                <a:sym typeface="Lato"/>
              </a:rPr>
              <a:t>Embedding retrieval pretražuje po značenju preko vektora i rešava deo tih problema. Ali uvodi trošak, zavisnost od modela i greške koje se teže objašnjavaju.</a:t>
            </a:r>
            <a:r>
              <a:rPr lang="en-US" sz="1200" dirty="0">
                <a:solidFill>
                  <a:srgbClr val="D1E2ED"/>
                </a:solidFill>
                <a:latin typeface="Lato"/>
                <a:ea typeface="Lato"/>
                <a:cs typeface="Lato"/>
                <a:sym typeface="Lato"/>
              </a:rPr>
              <a:t> ALI…</a:t>
            </a:r>
            <a:endParaRPr sz="1200" dirty="0">
              <a:solidFill>
                <a:srgbClr val="D1E2ED"/>
              </a:solidFill>
              <a:latin typeface="Lato"/>
              <a:ea typeface="Lato"/>
              <a:cs typeface="Lato"/>
              <a:sym typeface="Lato"/>
            </a:endParaRPr>
          </a:p>
        </p:txBody>
      </p:sp>
      <p:sp>
        <p:nvSpPr>
          <p:cNvPr id="3" name="Graphic 4">
            <a:extLst>
              <a:ext uri="{FF2B5EF4-FFF2-40B4-BE49-F238E27FC236}">
                <a16:creationId xmlns:a16="http://schemas.microsoft.com/office/drawing/2014/main" id="{196CB132-CCD2-8F8E-0354-6FEF50E45CED}"/>
              </a:ext>
            </a:extLst>
          </p:cNvPr>
          <p:cNvSpPr/>
          <p:nvPr/>
        </p:nvSpPr>
        <p:spPr>
          <a:xfrm>
            <a:off x="213083" y="343327"/>
            <a:ext cx="180000" cy="180000"/>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alpha val="95000"/>
            </a:srgbClr>
          </a:solidFill>
          <a:ln w="9525" cap="flat">
            <a:noFill/>
            <a:prstDash val="solid"/>
            <a:miter/>
          </a:ln>
        </p:spPr>
        <p:txBody>
          <a:bodyPr/>
          <a:lstStyle/>
          <a:p>
            <a:endParaRPr lang="en-GB"/>
          </a:p>
        </p:txBody>
      </p:sp>
      <p:pic>
        <p:nvPicPr>
          <p:cNvPr id="78" name="_image_small_company_logo" descr="EPAM"/>
          <p:cNvPicPr>
            <a:picLocks noChangeAspect="1"/>
          </p:cNvPicPr>
          <p:nvPr/>
        </p:nvPicPr>
        <p:blipFill>
          <a:blip r:embed="rId4"/>
          <a:stretch>
            <a:fillRect/>
          </a:stretch>
        </p:blipFill>
        <p:spPr>
          <a:xfrm>
            <a:off x="490324" y="344427"/>
            <a:ext cx="504923" cy="177800"/>
          </a:xfrm>
          <a:prstGeom prst="rect">
            <a:avLst/>
          </a:prstGeom>
        </p:spPr>
      </p:pic>
      <p:sp>
        <p:nvSpPr>
          <p:cNvPr id="9" name="_text_section">
            <a:extLst>
              <a:ext uri="{FF2B5EF4-FFF2-40B4-BE49-F238E27FC236}">
                <a16:creationId xmlns:a16="http://schemas.microsoft.com/office/drawing/2014/main" id="{EB8B8E35-59BE-97C9-309E-BC2EEE79BB0D}"/>
              </a:ext>
            </a:extLst>
          </p:cNvPr>
          <p:cNvSpPr txBox="1">
            <a:spLocks/>
          </p:cNvSpPr>
          <p:nvPr/>
        </p:nvSpPr>
        <p:spPr>
          <a:xfrm>
            <a:off x="5927725" y="4663806"/>
            <a:ext cx="2564917" cy="15388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9pPr>
          </a:lstStyle>
          <a:p>
            <a:pPr marL="0" indent="0" algn="r"/>
            <a:r>
              <a:rPr lang="sr-Latn-RS" sz="1000" dirty="0">
                <a:solidFill>
                  <a:schemeClr val="lt1"/>
                </a:solidFill>
                <a:latin typeface="Lato"/>
                <a:ea typeface="Lato"/>
                <a:cs typeface="Lato"/>
                <a:sym typeface="Lato"/>
              </a:rPr>
              <a:t>Propusti</a:t>
            </a:r>
            <a:endParaRPr lang="en-GB" sz="1000" dirty="0">
              <a:solidFill>
                <a:schemeClr val="lt1"/>
              </a:solidFill>
              <a:latin typeface="Lato"/>
              <a:ea typeface="Lato"/>
              <a:cs typeface="Lato"/>
              <a:sym typeface="Lato"/>
            </a:endParaRPr>
          </a:p>
        </p:txBody>
      </p:sp>
      <p:sp>
        <p:nvSpPr>
          <p:cNvPr id="5" name="_text_page">
            <a:extLst>
              <a:ext uri="{FF2B5EF4-FFF2-40B4-BE49-F238E27FC236}">
                <a16:creationId xmlns:a16="http://schemas.microsoft.com/office/drawing/2014/main" id="{3C682F78-0194-56CA-EE15-FF0DD081B353}"/>
              </a:ext>
            </a:extLst>
          </p:cNvPr>
          <p:cNvSpPr txBox="1"/>
          <p:nvPr/>
        </p:nvSpPr>
        <p:spPr>
          <a:xfrm>
            <a:off x="8492643" y="4500000"/>
            <a:ext cx="469800" cy="481500"/>
          </a:xfrm>
          <a:prstGeom prst="rect">
            <a:avLst/>
          </a:prstGeom>
          <a:noFill/>
          <a:ln>
            <a:noFill/>
          </a:ln>
        </p:spPr>
        <p:txBody>
          <a:bodyPr spcFirstLastPara="1" wrap="square" lIns="0" tIns="91425" rIns="0" bIns="91425" anchor="t" anchorCtr="0">
            <a:noAutofit/>
          </a:bodyPr>
          <a:lstStyle/>
          <a:p>
            <a:pPr marL="0" lvl="0" indent="0" algn="ctr" rtl="0">
              <a:spcBef>
                <a:spcPts val="0"/>
              </a:spcBef>
              <a:spcAft>
                <a:spcPts val="0"/>
              </a:spcAft>
              <a:buNone/>
            </a:pPr>
            <a:r>
              <a:rPr lang="sr" sz="1800" dirty="0">
                <a:solidFill>
                  <a:schemeClr val="lt1"/>
                </a:solidFill>
                <a:latin typeface="Montserrat"/>
                <a:ea typeface="Montserrat"/>
                <a:cs typeface="Montserrat"/>
                <a:sym typeface="Montserrat"/>
              </a:rPr>
              <a:t>1</a:t>
            </a:r>
            <a:r>
              <a:rPr lang="en-US" sz="1800" dirty="0">
                <a:solidFill>
                  <a:schemeClr val="lt1"/>
                </a:solidFill>
                <a:latin typeface="Montserrat"/>
                <a:ea typeface="Montserrat"/>
                <a:cs typeface="Montserrat"/>
                <a:sym typeface="Montserrat"/>
              </a:rPr>
              <a:t>4</a:t>
            </a:r>
            <a:endParaRPr sz="1800" dirty="0">
              <a:solidFill>
                <a:schemeClr val="lt1"/>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9000" r="-29000"/>
          </a:stretch>
        </a:blip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F436A335-E91F-DFEE-542E-F305787FDDEE}"/>
              </a:ext>
            </a:extLst>
          </p:cNvPr>
          <p:cNvSpPr/>
          <p:nvPr/>
        </p:nvSpPr>
        <p:spPr>
          <a:xfrm>
            <a:off x="2717800" y="0"/>
            <a:ext cx="6426201" cy="5143500"/>
          </a:xfrm>
          <a:custGeom>
            <a:avLst/>
            <a:gdLst>
              <a:gd name="csX0" fmla="*/ 905383 w 6426201"/>
              <a:gd name="csY0" fmla="*/ 0 h 5143500"/>
              <a:gd name="csX1" fmla="*/ 2497177 w 6426201"/>
              <a:gd name="csY1" fmla="*/ 0 h 5143500"/>
              <a:gd name="csX2" fmla="*/ 2467862 w 6426201"/>
              <a:gd name="csY2" fmla="*/ 35902 h 5143500"/>
              <a:gd name="csX3" fmla="*/ 2503842 w 6426201"/>
              <a:gd name="csY3" fmla="*/ 389331 h 5143500"/>
              <a:gd name="csX4" fmla="*/ 2901337 w 6426201"/>
              <a:gd name="csY4" fmla="*/ 389331 h 5143500"/>
              <a:gd name="csX5" fmla="*/ 3290630 w 6426201"/>
              <a:gd name="csY5" fmla="*/ 0 h 5143500"/>
              <a:gd name="csX6" fmla="*/ 4880482 w 6426201"/>
              <a:gd name="csY6" fmla="*/ 0 h 5143500"/>
              <a:gd name="csX7" fmla="*/ 1758651 w 6426201"/>
              <a:gd name="csY7" fmla="*/ 3121695 h 5143500"/>
              <a:gd name="csX8" fmla="*/ 1758651 w 6426201"/>
              <a:gd name="csY8" fmla="*/ 3519191 h 5143500"/>
              <a:gd name="csX9" fmla="*/ 2156147 w 6426201"/>
              <a:gd name="csY9" fmla="*/ 3519191 h 5143500"/>
              <a:gd name="csX10" fmla="*/ 5675617 w 6426201"/>
              <a:gd name="csY10" fmla="*/ 0 h 5143500"/>
              <a:gd name="csX11" fmla="*/ 6426201 w 6426201"/>
              <a:gd name="csY11" fmla="*/ 0 h 5143500"/>
              <a:gd name="csX12" fmla="*/ 6426201 w 6426201"/>
              <a:gd name="csY12" fmla="*/ 841724 h 5143500"/>
              <a:gd name="csX13" fmla="*/ 6399107 w 6426201"/>
              <a:gd name="csY13" fmla="*/ 874906 h 5143500"/>
              <a:gd name="csX14" fmla="*/ 6399107 w 6426201"/>
              <a:gd name="csY14" fmla="*/ 1184271 h 5143500"/>
              <a:gd name="csX15" fmla="*/ 6426201 w 6426201"/>
              <a:gd name="csY15" fmla="*/ 1217454 h 5143500"/>
              <a:gd name="csX16" fmla="*/ 6426201 w 6426201"/>
              <a:gd name="csY16" fmla="*/ 3224795 h 5143500"/>
              <a:gd name="csX17" fmla="*/ 5698729 w 6426201"/>
              <a:gd name="csY17" fmla="*/ 3952325 h 5143500"/>
              <a:gd name="csX18" fmla="*/ 5698729 w 6426201"/>
              <a:gd name="csY18" fmla="*/ 4349820 h 5143500"/>
              <a:gd name="csX19" fmla="*/ 6096226 w 6426201"/>
              <a:gd name="csY19" fmla="*/ 4349820 h 5143500"/>
              <a:gd name="csX20" fmla="*/ 6426201 w 6426201"/>
              <a:gd name="csY20" fmla="*/ 4019844 h 5143500"/>
              <a:gd name="csX21" fmla="*/ 6426201 w 6426201"/>
              <a:gd name="csY21" fmla="*/ 5143500 h 5143500"/>
              <a:gd name="csX22" fmla="*/ 5302181 w 6426201"/>
              <a:gd name="csY22" fmla="*/ 5143500 h 5143500"/>
              <a:gd name="csX23" fmla="*/ 5337216 w 6426201"/>
              <a:gd name="csY23" fmla="*/ 5100594 h 5143500"/>
              <a:gd name="csX24" fmla="*/ 5301235 w 6426201"/>
              <a:gd name="csY24" fmla="*/ 4747164 h 5143500"/>
              <a:gd name="csX25" fmla="*/ 4903739 w 6426201"/>
              <a:gd name="csY25" fmla="*/ 4747164 h 5143500"/>
              <a:gd name="csX26" fmla="*/ 4507404 w 6426201"/>
              <a:gd name="csY26" fmla="*/ 5143500 h 5143500"/>
              <a:gd name="csX27" fmla="*/ 2917405 w 6426201"/>
              <a:gd name="csY27" fmla="*/ 5143500 h 5143500"/>
              <a:gd name="csX28" fmla="*/ 6037591 w 6426201"/>
              <a:gd name="csY28" fmla="*/ 2023176 h 5143500"/>
              <a:gd name="csX29" fmla="*/ 6037591 w 6426201"/>
              <a:gd name="csY29" fmla="*/ 1625681 h 5143500"/>
              <a:gd name="csX30" fmla="*/ 5640096 w 6426201"/>
              <a:gd name="csY30" fmla="*/ 1625681 h 5143500"/>
              <a:gd name="csX31" fmla="*/ 2121855 w 6426201"/>
              <a:gd name="csY31" fmla="*/ 5143500 h 5143500"/>
              <a:gd name="csX32" fmla="*/ 896983 w 6426201"/>
              <a:gd name="csY32" fmla="*/ 5143500 h 5143500"/>
              <a:gd name="csX33" fmla="*/ 893618 w 6426201"/>
              <a:gd name="csY33" fmla="*/ 5132153 h 5143500"/>
              <a:gd name="csX34" fmla="*/ 1048034 w 6426201"/>
              <a:gd name="csY34" fmla="*/ 4627306 h 5143500"/>
              <a:gd name="csX35" fmla="*/ 1361157 w 6426201"/>
              <a:gd name="csY35" fmla="*/ 4314183 h 5143500"/>
              <a:gd name="csX36" fmla="*/ 1361157 w 6426201"/>
              <a:gd name="csY36" fmla="*/ 3916686 h 5143500"/>
              <a:gd name="csX37" fmla="*/ 963661 w 6426201"/>
              <a:gd name="csY37" fmla="*/ 3916686 h 5143500"/>
              <a:gd name="csX38" fmla="*/ 959702 w 6426201"/>
              <a:gd name="csY38" fmla="*/ 3920647 h 5143500"/>
              <a:gd name="csX39" fmla="*/ 164711 w 6426201"/>
              <a:gd name="csY39" fmla="*/ 3920647 h 5143500"/>
              <a:gd name="csX40" fmla="*/ 164711 w 6426201"/>
              <a:gd name="csY40" fmla="*/ 3125656 h 5143500"/>
              <a:gd name="csX41" fmla="*/ 2106042 w 6426201"/>
              <a:gd name="csY41" fmla="*/ 1184171 h 5143500"/>
              <a:gd name="csX42" fmla="*/ 2106042 w 6426201"/>
              <a:gd name="csY42" fmla="*/ 786674 h 5143500"/>
              <a:gd name="csX43" fmla="*/ 1708546 w 6426201"/>
              <a:gd name="csY43" fmla="*/ 786674 h 5143500"/>
              <a:gd name="csX44" fmla="*/ 1326585 w 6426201"/>
              <a:gd name="csY44" fmla="*/ 1168636 h 5143500"/>
              <a:gd name="csX45" fmla="*/ 531594 w 6426201"/>
              <a:gd name="csY45" fmla="*/ 1168636 h 5143500"/>
              <a:gd name="csX46" fmla="*/ 531594 w 6426201"/>
              <a:gd name="csY46" fmla="*/ 373644 h 514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426201" h="5143500">
                <a:moveTo>
                  <a:pt x="905383" y="0"/>
                </a:moveTo>
                <a:lnTo>
                  <a:pt x="2497177" y="0"/>
                </a:lnTo>
                <a:lnTo>
                  <a:pt x="2467862" y="35902"/>
                </a:lnTo>
                <a:cubicBezTo>
                  <a:pt x="2395902" y="144966"/>
                  <a:pt x="2407895" y="293384"/>
                  <a:pt x="2503842" y="389331"/>
                </a:cubicBezTo>
                <a:cubicBezTo>
                  <a:pt x="2613496" y="498985"/>
                  <a:pt x="2791683" y="498985"/>
                  <a:pt x="2901337" y="389331"/>
                </a:cubicBezTo>
                <a:lnTo>
                  <a:pt x="3290630" y="0"/>
                </a:lnTo>
                <a:lnTo>
                  <a:pt x="4880482" y="0"/>
                </a:lnTo>
                <a:lnTo>
                  <a:pt x="1758651" y="3121695"/>
                </a:lnTo>
                <a:cubicBezTo>
                  <a:pt x="1648997" y="3231349"/>
                  <a:pt x="1648997" y="3409537"/>
                  <a:pt x="1758651" y="3519191"/>
                </a:cubicBezTo>
                <a:cubicBezTo>
                  <a:pt x="1868305" y="3628845"/>
                  <a:pt x="2046494" y="3628845"/>
                  <a:pt x="2156147" y="3519191"/>
                </a:cubicBezTo>
                <a:lnTo>
                  <a:pt x="5675617" y="0"/>
                </a:lnTo>
                <a:lnTo>
                  <a:pt x="6426201" y="0"/>
                </a:lnTo>
                <a:lnTo>
                  <a:pt x="6426201" y="841724"/>
                </a:lnTo>
                <a:lnTo>
                  <a:pt x="6399107" y="874906"/>
                </a:lnTo>
                <a:cubicBezTo>
                  <a:pt x="6337426" y="968391"/>
                  <a:pt x="6337426" y="1090787"/>
                  <a:pt x="6399107" y="1184271"/>
                </a:cubicBezTo>
                <a:lnTo>
                  <a:pt x="6426201" y="1217454"/>
                </a:lnTo>
                <a:lnTo>
                  <a:pt x="6426201" y="3224795"/>
                </a:lnTo>
                <a:lnTo>
                  <a:pt x="5698729" y="3952325"/>
                </a:lnTo>
                <a:cubicBezTo>
                  <a:pt x="5589076" y="4061979"/>
                  <a:pt x="5589076" y="4240166"/>
                  <a:pt x="5698729" y="4349820"/>
                </a:cubicBezTo>
                <a:cubicBezTo>
                  <a:pt x="5808383" y="4459475"/>
                  <a:pt x="5986572" y="4459475"/>
                  <a:pt x="6096226" y="4349820"/>
                </a:cubicBezTo>
                <a:lnTo>
                  <a:pt x="6426201" y="4019844"/>
                </a:lnTo>
                <a:lnTo>
                  <a:pt x="6426201" y="5143500"/>
                </a:lnTo>
                <a:lnTo>
                  <a:pt x="5302181" y="5143500"/>
                </a:lnTo>
                <a:lnTo>
                  <a:pt x="5337216" y="5100594"/>
                </a:lnTo>
                <a:cubicBezTo>
                  <a:pt x="5409176" y="4991529"/>
                  <a:pt x="5397183" y="4843112"/>
                  <a:pt x="5301235" y="4747164"/>
                </a:cubicBezTo>
                <a:cubicBezTo>
                  <a:pt x="5191581" y="4637510"/>
                  <a:pt x="5013393" y="4637510"/>
                  <a:pt x="4903739" y="4747164"/>
                </a:cubicBezTo>
                <a:lnTo>
                  <a:pt x="4507404" y="5143500"/>
                </a:lnTo>
                <a:lnTo>
                  <a:pt x="2917405" y="5143500"/>
                </a:lnTo>
                <a:lnTo>
                  <a:pt x="6037591" y="2023176"/>
                </a:lnTo>
                <a:cubicBezTo>
                  <a:pt x="6147246" y="1913522"/>
                  <a:pt x="6147246" y="1735335"/>
                  <a:pt x="6037591" y="1625681"/>
                </a:cubicBezTo>
                <a:cubicBezTo>
                  <a:pt x="5927938" y="1516027"/>
                  <a:pt x="5749749" y="1516027"/>
                  <a:pt x="5640096" y="1625681"/>
                </a:cubicBezTo>
                <a:lnTo>
                  <a:pt x="2121855" y="5143500"/>
                </a:lnTo>
                <a:lnTo>
                  <a:pt x="896983" y="5143500"/>
                </a:lnTo>
                <a:lnTo>
                  <a:pt x="893618" y="5132153"/>
                </a:lnTo>
                <a:cubicBezTo>
                  <a:pt x="859304" y="4955007"/>
                  <a:pt x="910776" y="4764564"/>
                  <a:pt x="1048034" y="4627306"/>
                </a:cubicBezTo>
                <a:lnTo>
                  <a:pt x="1361157" y="4314183"/>
                </a:lnTo>
                <a:cubicBezTo>
                  <a:pt x="1470811" y="4204529"/>
                  <a:pt x="1470811" y="4026342"/>
                  <a:pt x="1361157" y="3916686"/>
                </a:cubicBezTo>
                <a:cubicBezTo>
                  <a:pt x="1251503" y="3807032"/>
                  <a:pt x="1073314" y="3807032"/>
                  <a:pt x="963661" y="3916686"/>
                </a:cubicBezTo>
                <a:lnTo>
                  <a:pt x="959702" y="3920647"/>
                </a:lnTo>
                <a:cubicBezTo>
                  <a:pt x="740088" y="4140107"/>
                  <a:pt x="384322" y="4140107"/>
                  <a:pt x="164711" y="3920647"/>
                </a:cubicBezTo>
                <a:cubicBezTo>
                  <a:pt x="-54903" y="3701034"/>
                  <a:pt x="-54903" y="3345115"/>
                  <a:pt x="164711" y="3125656"/>
                </a:cubicBezTo>
                <a:lnTo>
                  <a:pt x="2106042" y="1184171"/>
                </a:lnTo>
                <a:cubicBezTo>
                  <a:pt x="2215696" y="1074517"/>
                  <a:pt x="2215696" y="896328"/>
                  <a:pt x="2106042" y="786674"/>
                </a:cubicBezTo>
                <a:cubicBezTo>
                  <a:pt x="1996388" y="677020"/>
                  <a:pt x="1818200" y="677020"/>
                  <a:pt x="1708546" y="786674"/>
                </a:cubicBezTo>
                <a:lnTo>
                  <a:pt x="1326585" y="1168636"/>
                </a:lnTo>
                <a:cubicBezTo>
                  <a:pt x="1106973" y="1388249"/>
                  <a:pt x="751207" y="1388249"/>
                  <a:pt x="531594" y="1168636"/>
                </a:cubicBezTo>
                <a:cubicBezTo>
                  <a:pt x="311983" y="949024"/>
                  <a:pt x="311983" y="593258"/>
                  <a:pt x="531594" y="373644"/>
                </a:cubicBezTo>
                <a:close/>
              </a:path>
            </a:pathLst>
          </a:custGeom>
          <a:solidFill>
            <a:srgbClr val="FFFF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6" name="Graphic 4">
            <a:extLst>
              <a:ext uri="{FF2B5EF4-FFF2-40B4-BE49-F238E27FC236}">
                <a16:creationId xmlns:a16="http://schemas.microsoft.com/office/drawing/2014/main" id="{8E7A8867-8EAA-6C57-2018-D03183288FCE}"/>
              </a:ext>
            </a:extLst>
          </p:cNvPr>
          <p:cNvSpPr/>
          <p:nvPr/>
        </p:nvSpPr>
        <p:spPr>
          <a:xfrm>
            <a:off x="213083" y="343327"/>
            <a:ext cx="180000" cy="180000"/>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alpha val="95000"/>
            </a:srgbClr>
          </a:solidFill>
          <a:ln w="9525" cap="flat">
            <a:noFill/>
            <a:prstDash val="solid"/>
            <a:miter/>
          </a:ln>
        </p:spPr>
        <p:txBody>
          <a:bodyPr/>
          <a:lstStyle/>
          <a:p>
            <a:endParaRPr lang="en-GB"/>
          </a:p>
        </p:txBody>
      </p:sp>
      <p:sp>
        <p:nvSpPr>
          <p:cNvPr id="10" name="_text_title">
            <a:extLst>
              <a:ext uri="{FF2B5EF4-FFF2-40B4-BE49-F238E27FC236}">
                <a16:creationId xmlns:a16="http://schemas.microsoft.com/office/drawing/2014/main" id="{F27B2C81-B052-2B33-6A07-165F6EAFA341}"/>
              </a:ext>
            </a:extLst>
          </p:cNvPr>
          <p:cNvSpPr txBox="1">
            <a:spLocks/>
          </p:cNvSpPr>
          <p:nvPr/>
        </p:nvSpPr>
        <p:spPr>
          <a:xfrm>
            <a:off x="589500" y="724453"/>
            <a:ext cx="8402846" cy="430887"/>
          </a:xfrm>
          <a:prstGeom prst="rect">
            <a:avLst/>
          </a:prstGeom>
          <a:noFill/>
          <a:ln>
            <a:noFill/>
          </a:ln>
        </p:spPr>
        <p:txBody>
          <a:bodyPr spcFirstLastPara="1" wrap="square" lIns="91425" tIns="0" rIns="91425" bIns="0" anchor="b" anchorCtr="0">
            <a:sp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9pPr>
          </a:lstStyle>
          <a:p>
            <a:pPr algn="l">
              <a:buSzPts val="990"/>
            </a:pPr>
            <a:r>
              <a:rPr lang="en-GB" sz="2800" spc="-150" dirty="0">
                <a:solidFill>
                  <a:schemeClr val="lt1">
                    <a:alpha val="90000"/>
                  </a:schemeClr>
                </a:solidFill>
                <a:latin typeface="Montserrat Black" panose="00000A00000000000000" pitchFamily="2" charset="0"/>
                <a:ea typeface="Montserrat"/>
                <a:cs typeface="Montserrat"/>
                <a:sym typeface="Montserrat"/>
              </a:rPr>
              <a:t>Kompromisi chunkovanja</a:t>
            </a:r>
            <a:endParaRPr lang="sr-Latn-RS" sz="2800" spc="-150" dirty="0">
              <a:solidFill>
                <a:schemeClr val="lt1">
                  <a:alpha val="90000"/>
                </a:schemeClr>
              </a:solidFill>
              <a:latin typeface="Montserrat Black" panose="00000A00000000000000" pitchFamily="2" charset="0"/>
              <a:ea typeface="Montserrat"/>
              <a:cs typeface="Montserrat"/>
              <a:sym typeface="Montserrat"/>
            </a:endParaRPr>
          </a:p>
        </p:txBody>
      </p:sp>
      <p:sp>
        <p:nvSpPr>
          <p:cNvPr id="14" name="_text_subtitle">
            <a:extLst>
              <a:ext uri="{FF2B5EF4-FFF2-40B4-BE49-F238E27FC236}">
                <a16:creationId xmlns:a16="http://schemas.microsoft.com/office/drawing/2014/main" id="{349F65FA-2F05-CFC0-2A35-8E55C6D4939C}"/>
              </a:ext>
            </a:extLst>
          </p:cNvPr>
          <p:cNvSpPr txBox="1">
            <a:spLocks/>
          </p:cNvSpPr>
          <p:nvPr/>
        </p:nvSpPr>
        <p:spPr>
          <a:xfrm>
            <a:off x="589500" y="1158219"/>
            <a:ext cx="8402846" cy="307777"/>
          </a:xfrm>
          <a:prstGeom prst="rect">
            <a:avLst/>
          </a:prstGeom>
          <a:noFill/>
          <a:ln>
            <a:noFill/>
          </a:ln>
        </p:spPr>
        <p:txBody>
          <a:bodyPr spcFirstLastPara="1" wrap="square" lIns="91425" tIns="0" rIns="91425" bIns="0" anchor="t" anchorCtr="0">
            <a:sp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9pPr>
          </a:lstStyle>
          <a:p>
            <a:pPr marL="0" indent="0" algn="l"/>
            <a:r>
              <a:rPr lang="en-GB" sz="2000" dirty="0" err="1">
                <a:solidFill>
                  <a:schemeClr val="lt1"/>
                </a:solidFill>
                <a:latin typeface="Montserrat" panose="00000500000000000000" pitchFamily="2" charset="0"/>
                <a:ea typeface="Lato"/>
                <a:cs typeface="Lato"/>
                <a:sym typeface="Lato"/>
              </a:rPr>
              <a:t>Način sečenja određuje šta retrieval uopšte može da nađe</a:t>
            </a:r>
            <a:endParaRPr lang="en-GB" sz="2000" dirty="0">
              <a:solidFill>
                <a:schemeClr val="lt1"/>
              </a:solidFill>
              <a:latin typeface="Montserrat" panose="00000500000000000000" pitchFamily="2" charset="0"/>
              <a:ea typeface="Lato"/>
              <a:cs typeface="Lato"/>
              <a:sym typeface="Lato"/>
            </a:endParaRPr>
          </a:p>
        </p:txBody>
      </p:sp>
      <p:sp>
        <p:nvSpPr>
          <p:cNvPr id="25" name="_text_item_1">
            <a:extLst>
              <a:ext uri="{FF2B5EF4-FFF2-40B4-BE49-F238E27FC236}">
                <a16:creationId xmlns:a16="http://schemas.microsoft.com/office/drawing/2014/main" id="{2BF3604B-6E06-8A69-5835-2EFCDC54DD14}"/>
              </a:ext>
            </a:extLst>
          </p:cNvPr>
          <p:cNvSpPr txBox="1"/>
          <p:nvPr/>
        </p:nvSpPr>
        <p:spPr>
          <a:xfrm>
            <a:off x="5134484" y="1826910"/>
            <a:ext cx="3594649" cy="335769"/>
          </a:xfrm>
          <a:prstGeom prst="rect">
            <a:avLst/>
          </a:prstGeom>
          <a:noFill/>
          <a:ln>
            <a:noFill/>
          </a:ln>
        </p:spPr>
        <p:txBody>
          <a:bodyPr spcFirstLastPara="1" wrap="square" lIns="91425" tIns="0" rIns="91425" bIns="0" anchor="ctr" anchorCtr="0">
            <a:noAutofit/>
          </a:bodyPr>
          <a:lstStyle/>
          <a:p>
            <a:pPr marL="0" lvl="0" indent="0" rtl="0">
              <a:spcBef>
                <a:spcPts val="0"/>
              </a:spcBef>
              <a:spcAft>
                <a:spcPts val="0"/>
              </a:spcAft>
              <a:buNone/>
            </a:pPr>
            <a:r>
              <a:rPr lang="sr" sz="1600" dirty="0">
                <a:solidFill>
                  <a:schemeClr val="lt1">
                    <a:alpha val="90000"/>
                  </a:schemeClr>
                </a:solidFill>
                <a:latin typeface="Montserrat Black" panose="00000A00000000000000" pitchFamily="2" charset="0"/>
                <a:ea typeface="Montserrat Black"/>
                <a:cs typeface="Montserrat Black"/>
                <a:sym typeface="Montserrat Black"/>
              </a:rPr>
              <a:t>Premali chunk</a:t>
            </a:r>
            <a:endParaRPr sz="1600" dirty="0">
              <a:solidFill>
                <a:schemeClr val="lt1">
                  <a:alpha val="90000"/>
                </a:schemeClr>
              </a:solidFill>
              <a:latin typeface="Montserrat Black" panose="00000A00000000000000" pitchFamily="2" charset="0"/>
              <a:ea typeface="Montserrat Black"/>
              <a:cs typeface="Montserrat Black"/>
              <a:sym typeface="Montserrat Black"/>
            </a:endParaRPr>
          </a:p>
        </p:txBody>
      </p:sp>
      <p:sp>
        <p:nvSpPr>
          <p:cNvPr id="27" name="_img_bullet_1">
            <a:extLst>
              <a:ext uri="{FF2B5EF4-FFF2-40B4-BE49-F238E27FC236}">
                <a16:creationId xmlns:a16="http://schemas.microsoft.com/office/drawing/2014/main" id="{6215C57A-7AE1-272D-49F6-6BA47CA585B7}"/>
              </a:ext>
            </a:extLst>
          </p:cNvPr>
          <p:cNvSpPr/>
          <p:nvPr/>
        </p:nvSpPr>
        <p:spPr>
          <a:xfrm>
            <a:off x="4779434" y="1876383"/>
            <a:ext cx="230470" cy="239992"/>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solidFill>
          <a:ln w="9525" cap="flat">
            <a:noFill/>
            <a:prstDash val="solid"/>
            <a:miter/>
          </a:ln>
        </p:spPr>
        <p:txBody>
          <a:bodyPr/>
          <a:lstStyle/>
          <a:p>
            <a:endParaRPr lang="en-GB"/>
          </a:p>
        </p:txBody>
      </p:sp>
      <p:sp>
        <p:nvSpPr>
          <p:cNvPr id="29" name="_text_item_2">
            <a:extLst>
              <a:ext uri="{FF2B5EF4-FFF2-40B4-BE49-F238E27FC236}">
                <a16:creationId xmlns:a16="http://schemas.microsoft.com/office/drawing/2014/main" id="{13D0246B-410E-37C0-37A0-8693BC5BB1DA}"/>
              </a:ext>
            </a:extLst>
          </p:cNvPr>
          <p:cNvSpPr txBox="1"/>
          <p:nvPr/>
        </p:nvSpPr>
        <p:spPr>
          <a:xfrm>
            <a:off x="5134484" y="2320179"/>
            <a:ext cx="3594649" cy="335769"/>
          </a:xfrm>
          <a:prstGeom prst="rect">
            <a:avLst/>
          </a:prstGeom>
          <a:noFill/>
          <a:ln>
            <a:noFill/>
          </a:ln>
        </p:spPr>
        <p:txBody>
          <a:bodyPr spcFirstLastPara="1" wrap="square" lIns="91425" tIns="0" rIns="91425" bIns="0" anchor="ctr" anchorCtr="0">
            <a:noAutofit/>
          </a:bodyPr>
          <a:lstStyle/>
          <a:p>
            <a:pPr marL="0" lvl="0" indent="0" rtl="0">
              <a:spcBef>
                <a:spcPts val="0"/>
              </a:spcBef>
              <a:spcAft>
                <a:spcPts val="0"/>
              </a:spcAft>
              <a:buNone/>
            </a:pPr>
            <a:r>
              <a:rPr lang="sr" sz="1600" dirty="0">
                <a:solidFill>
                  <a:schemeClr val="lt1">
                    <a:alpha val="90000"/>
                  </a:schemeClr>
                </a:solidFill>
                <a:latin typeface="Montserrat Black" panose="00000A00000000000000" pitchFamily="2" charset="0"/>
                <a:ea typeface="Montserrat Black"/>
                <a:cs typeface="Montserrat Black"/>
                <a:sym typeface="Montserrat Black"/>
              </a:rPr>
              <a:t>Preveliki chunk</a:t>
            </a:r>
            <a:endParaRPr sz="1600" dirty="0">
              <a:solidFill>
                <a:schemeClr val="lt1">
                  <a:alpha val="90000"/>
                </a:schemeClr>
              </a:solidFill>
              <a:latin typeface="Montserrat Black" panose="00000A00000000000000" pitchFamily="2" charset="0"/>
              <a:ea typeface="Montserrat Black"/>
              <a:cs typeface="Montserrat Black"/>
              <a:sym typeface="Montserrat Black"/>
            </a:endParaRPr>
          </a:p>
        </p:txBody>
      </p:sp>
      <p:sp>
        <p:nvSpPr>
          <p:cNvPr id="31" name="_img_bullet_2">
            <a:extLst>
              <a:ext uri="{FF2B5EF4-FFF2-40B4-BE49-F238E27FC236}">
                <a16:creationId xmlns:a16="http://schemas.microsoft.com/office/drawing/2014/main" id="{B96B7868-1BC5-02B4-C8D1-A66D905EA564}"/>
              </a:ext>
            </a:extLst>
          </p:cNvPr>
          <p:cNvSpPr/>
          <p:nvPr/>
        </p:nvSpPr>
        <p:spPr>
          <a:xfrm>
            <a:off x="4779434" y="2369652"/>
            <a:ext cx="230470" cy="239992"/>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solidFill>
          <a:ln w="9525" cap="flat">
            <a:noFill/>
            <a:prstDash val="solid"/>
            <a:miter/>
          </a:ln>
        </p:spPr>
        <p:txBody>
          <a:bodyPr/>
          <a:lstStyle/>
          <a:p>
            <a:endParaRPr lang="en-GB"/>
          </a:p>
        </p:txBody>
      </p:sp>
      <p:sp>
        <p:nvSpPr>
          <p:cNvPr id="33" name="_text_item_3">
            <a:extLst>
              <a:ext uri="{FF2B5EF4-FFF2-40B4-BE49-F238E27FC236}">
                <a16:creationId xmlns:a16="http://schemas.microsoft.com/office/drawing/2014/main" id="{D47BD6A9-BD46-9248-E90E-D88BC9630088}"/>
              </a:ext>
            </a:extLst>
          </p:cNvPr>
          <p:cNvSpPr txBox="1"/>
          <p:nvPr/>
        </p:nvSpPr>
        <p:spPr>
          <a:xfrm>
            <a:off x="5134484" y="2813448"/>
            <a:ext cx="3594649" cy="344275"/>
          </a:xfrm>
          <a:prstGeom prst="rect">
            <a:avLst/>
          </a:prstGeom>
          <a:noFill/>
          <a:ln>
            <a:noFill/>
          </a:ln>
        </p:spPr>
        <p:txBody>
          <a:bodyPr spcFirstLastPara="1" wrap="square" lIns="91425" tIns="0" rIns="91425" bIns="0" anchor="ctr" anchorCtr="0">
            <a:noAutofit/>
          </a:bodyPr>
          <a:lstStyle/>
          <a:p>
            <a:pPr marL="0" lvl="0" indent="0" rtl="0">
              <a:spcBef>
                <a:spcPts val="0"/>
              </a:spcBef>
              <a:spcAft>
                <a:spcPts val="0"/>
              </a:spcAft>
              <a:buNone/>
            </a:pPr>
            <a:r>
              <a:rPr lang="sr" sz="1600" dirty="0">
                <a:solidFill>
                  <a:schemeClr val="lt1">
                    <a:alpha val="90000"/>
                  </a:schemeClr>
                </a:solidFill>
                <a:latin typeface="Montserrat Black" panose="00000A00000000000000" pitchFamily="2" charset="0"/>
                <a:ea typeface="Montserrat Black"/>
                <a:cs typeface="Montserrat Black"/>
                <a:sym typeface="Montserrat Black"/>
              </a:rPr>
              <a:t>Preklapanje (overlap)</a:t>
            </a:r>
            <a:endParaRPr sz="1600" dirty="0">
              <a:solidFill>
                <a:schemeClr val="lt1">
                  <a:alpha val="90000"/>
                </a:schemeClr>
              </a:solidFill>
              <a:latin typeface="Montserrat Black" panose="00000A00000000000000" pitchFamily="2" charset="0"/>
              <a:ea typeface="Montserrat Black"/>
              <a:cs typeface="Montserrat Black"/>
              <a:sym typeface="Montserrat Black"/>
            </a:endParaRPr>
          </a:p>
        </p:txBody>
      </p:sp>
      <p:sp>
        <p:nvSpPr>
          <p:cNvPr id="35" name="_img_bullet_3">
            <a:extLst>
              <a:ext uri="{FF2B5EF4-FFF2-40B4-BE49-F238E27FC236}">
                <a16:creationId xmlns:a16="http://schemas.microsoft.com/office/drawing/2014/main" id="{8FA00B31-B49D-8325-0ADF-ED44C9A7A0E1}"/>
              </a:ext>
            </a:extLst>
          </p:cNvPr>
          <p:cNvSpPr/>
          <p:nvPr/>
        </p:nvSpPr>
        <p:spPr>
          <a:xfrm>
            <a:off x="4779434" y="2866090"/>
            <a:ext cx="230470" cy="239992"/>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solidFill>
          <a:ln w="9525" cap="flat">
            <a:noFill/>
            <a:prstDash val="solid"/>
            <a:miter/>
          </a:ln>
        </p:spPr>
        <p:txBody>
          <a:bodyPr/>
          <a:lstStyle/>
          <a:p>
            <a:endParaRPr lang="en-GB"/>
          </a:p>
        </p:txBody>
      </p:sp>
      <p:sp>
        <p:nvSpPr>
          <p:cNvPr id="37" name="_text_item_4">
            <a:extLst>
              <a:ext uri="{FF2B5EF4-FFF2-40B4-BE49-F238E27FC236}">
                <a16:creationId xmlns:a16="http://schemas.microsoft.com/office/drawing/2014/main" id="{273220C5-22EE-8022-F39D-A4557C1CFEF8}"/>
              </a:ext>
            </a:extLst>
          </p:cNvPr>
          <p:cNvSpPr txBox="1"/>
          <p:nvPr/>
        </p:nvSpPr>
        <p:spPr>
          <a:xfrm>
            <a:off x="5134484" y="3315223"/>
            <a:ext cx="3594649" cy="344275"/>
          </a:xfrm>
          <a:prstGeom prst="rect">
            <a:avLst/>
          </a:prstGeom>
          <a:noFill/>
          <a:ln>
            <a:noFill/>
          </a:ln>
        </p:spPr>
        <p:txBody>
          <a:bodyPr spcFirstLastPara="1" wrap="square" lIns="91425" tIns="0" rIns="91425" bIns="0" anchor="ctr" anchorCtr="0">
            <a:noAutofit/>
          </a:bodyPr>
          <a:lstStyle/>
          <a:p>
            <a:pPr marL="0" lvl="0" indent="0" rtl="0">
              <a:spcBef>
                <a:spcPts val="0"/>
              </a:spcBef>
              <a:spcAft>
                <a:spcPts val="0"/>
              </a:spcAft>
              <a:buNone/>
            </a:pPr>
            <a:r>
              <a:rPr lang="sr" sz="1600" dirty="0">
                <a:solidFill>
                  <a:schemeClr val="lt1">
                    <a:alpha val="90000"/>
                  </a:schemeClr>
                </a:solidFill>
                <a:latin typeface="Montserrat Black" panose="00000A00000000000000" pitchFamily="2" charset="0"/>
                <a:ea typeface="Montserrat Black"/>
                <a:cs typeface="Montserrat Black"/>
                <a:sym typeface="Montserrat Black"/>
              </a:rPr>
              <a:t>Granice rečenica</a:t>
            </a:r>
            <a:endParaRPr sz="1600" dirty="0">
              <a:solidFill>
                <a:schemeClr val="lt1">
                  <a:alpha val="90000"/>
                </a:schemeClr>
              </a:solidFill>
              <a:latin typeface="Montserrat Black" panose="00000A00000000000000" pitchFamily="2" charset="0"/>
              <a:ea typeface="Montserrat Black"/>
              <a:cs typeface="Montserrat Black"/>
              <a:sym typeface="Montserrat Black"/>
            </a:endParaRPr>
          </a:p>
        </p:txBody>
      </p:sp>
      <p:sp>
        <p:nvSpPr>
          <p:cNvPr id="39" name="_img_bullet_4">
            <a:extLst>
              <a:ext uri="{FF2B5EF4-FFF2-40B4-BE49-F238E27FC236}">
                <a16:creationId xmlns:a16="http://schemas.microsoft.com/office/drawing/2014/main" id="{CCA9E342-3767-225B-CFC9-3615DB0D12D6}"/>
              </a:ext>
            </a:extLst>
          </p:cNvPr>
          <p:cNvSpPr/>
          <p:nvPr/>
        </p:nvSpPr>
        <p:spPr>
          <a:xfrm>
            <a:off x="4779434" y="3367865"/>
            <a:ext cx="230470" cy="239992"/>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solidFill>
          <a:ln w="9525" cap="flat">
            <a:noFill/>
            <a:prstDash val="solid"/>
            <a:miter/>
          </a:ln>
        </p:spPr>
        <p:txBody>
          <a:bodyPr/>
          <a:lstStyle/>
          <a:p>
            <a:endParaRPr lang="en-GB"/>
          </a:p>
        </p:txBody>
      </p:sp>
      <p:sp>
        <p:nvSpPr>
          <p:cNvPr id="49" name="_text_main_content">
            <a:extLst>
              <a:ext uri="{FF2B5EF4-FFF2-40B4-BE49-F238E27FC236}">
                <a16:creationId xmlns:a16="http://schemas.microsoft.com/office/drawing/2014/main" id="{9CD26AB8-6295-70AF-8BAB-EE4D1C2211AA}"/>
              </a:ext>
            </a:extLst>
          </p:cNvPr>
          <p:cNvSpPr txBox="1"/>
          <p:nvPr/>
        </p:nvSpPr>
        <p:spPr>
          <a:xfrm>
            <a:off x="589500" y="1648741"/>
            <a:ext cx="3982500" cy="2605811"/>
          </a:xfrm>
          <a:prstGeom prst="rect">
            <a:avLst/>
          </a:prstGeom>
          <a:noFill/>
          <a:ln>
            <a:noFill/>
          </a:ln>
        </p:spPr>
        <p:txBody>
          <a:bodyPr spcFirstLastPara="1" wrap="square" lIns="91425" tIns="91425" rIns="360000" bIns="91425" anchor="t" anchorCtr="0">
            <a:spAutoFit/>
          </a:bodyPr>
          <a:lstStyle/>
          <a:p>
            <a:pPr marL="0" lvl="0" indent="0" algn="l" rtl="0">
              <a:spcBef>
                <a:spcPts val="0"/>
              </a:spcBef>
              <a:spcAft>
                <a:spcPts val="800"/>
              </a:spcAft>
              <a:buNone/>
            </a:pPr>
            <a:r>
              <a:rPr lang="sr" sz="1200" dirty="0">
                <a:solidFill>
                  <a:srgbClr val="D1E2ED"/>
                </a:solidFill>
                <a:latin typeface="Lato"/>
                <a:ea typeface="Lato"/>
                <a:cs typeface="Lato"/>
                <a:sym typeface="Lato"/>
              </a:rPr>
              <a:t>Premali chunk seče činjenicu na dva dela. Preveliki spaja više tema i čini citat nepreciznim. Preklapanje smanjuje sečenje, ali pravi duplikate. Sečenje na fiksnom broju znakova ne poštuje rečenice. Dobra veličina se proverava na eval skupu.</a:t>
            </a:r>
            <a:endParaRPr sz="1200" dirty="0">
              <a:solidFill>
                <a:srgbClr val="D1E2ED"/>
              </a:solidFill>
              <a:latin typeface="Lato"/>
              <a:ea typeface="Lato"/>
              <a:cs typeface="Lato"/>
              <a:sym typeface="Lato"/>
            </a:endParaRPr>
          </a:p>
        </p:txBody>
      </p:sp>
      <p:pic>
        <p:nvPicPr>
          <p:cNvPr id="50" name="_image_small_company_logo" descr="EPAM"/>
          <p:cNvPicPr>
            <a:picLocks noChangeAspect="1"/>
          </p:cNvPicPr>
          <p:nvPr/>
        </p:nvPicPr>
        <p:blipFill>
          <a:blip r:embed="rId4"/>
          <a:stretch>
            <a:fillRect/>
          </a:stretch>
        </p:blipFill>
        <p:spPr>
          <a:xfrm>
            <a:off x="490324" y="344427"/>
            <a:ext cx="504923" cy="177800"/>
          </a:xfrm>
          <a:prstGeom prst="rect">
            <a:avLst/>
          </a:prstGeom>
        </p:spPr>
      </p:pic>
      <p:sp>
        <p:nvSpPr>
          <p:cNvPr id="47" name="_text_section">
            <a:extLst>
              <a:ext uri="{FF2B5EF4-FFF2-40B4-BE49-F238E27FC236}">
                <a16:creationId xmlns:a16="http://schemas.microsoft.com/office/drawing/2014/main" id="{7B42A645-2990-3E2F-79CB-7F037CAC30AE}"/>
              </a:ext>
            </a:extLst>
          </p:cNvPr>
          <p:cNvSpPr txBox="1">
            <a:spLocks/>
          </p:cNvSpPr>
          <p:nvPr/>
        </p:nvSpPr>
        <p:spPr>
          <a:xfrm>
            <a:off x="5927725" y="4663806"/>
            <a:ext cx="2564917" cy="15388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9pPr>
          </a:lstStyle>
          <a:p>
            <a:pPr marL="0" indent="0" algn="r"/>
            <a:r>
              <a:rPr lang="sr-Latn-RS" sz="1000" dirty="0">
                <a:solidFill>
                  <a:schemeClr val="lt1"/>
                </a:solidFill>
                <a:latin typeface="Lato"/>
                <a:ea typeface="Lato"/>
                <a:cs typeface="Lato"/>
                <a:sym typeface="Lato"/>
              </a:rPr>
              <a:t>Propusti</a:t>
            </a:r>
            <a:endParaRPr lang="en-GB" sz="1000" dirty="0">
              <a:solidFill>
                <a:schemeClr val="lt1"/>
              </a:solidFill>
              <a:latin typeface="Lato"/>
              <a:ea typeface="Lato"/>
              <a:cs typeface="Lato"/>
              <a:sym typeface="Lato"/>
            </a:endParaRPr>
          </a:p>
        </p:txBody>
      </p:sp>
      <p:sp>
        <p:nvSpPr>
          <p:cNvPr id="45" name="_text_page">
            <a:extLst>
              <a:ext uri="{FF2B5EF4-FFF2-40B4-BE49-F238E27FC236}">
                <a16:creationId xmlns:a16="http://schemas.microsoft.com/office/drawing/2014/main" id="{51A1F65A-7AB2-6F31-7EDA-F277BE44D479}"/>
              </a:ext>
            </a:extLst>
          </p:cNvPr>
          <p:cNvSpPr txBox="1"/>
          <p:nvPr/>
        </p:nvSpPr>
        <p:spPr>
          <a:xfrm>
            <a:off x="8492643" y="4500000"/>
            <a:ext cx="469800" cy="481500"/>
          </a:xfrm>
          <a:prstGeom prst="rect">
            <a:avLst/>
          </a:prstGeom>
          <a:noFill/>
          <a:ln>
            <a:noFill/>
          </a:ln>
        </p:spPr>
        <p:txBody>
          <a:bodyPr spcFirstLastPara="1" wrap="square" lIns="0" tIns="91425" rIns="0" bIns="91425" anchor="t" anchorCtr="0">
            <a:noAutofit/>
          </a:bodyPr>
          <a:lstStyle/>
          <a:p>
            <a:pPr marL="0" lvl="0" indent="0" algn="ctr" rtl="0">
              <a:spcBef>
                <a:spcPts val="0"/>
              </a:spcBef>
              <a:spcAft>
                <a:spcPts val="0"/>
              </a:spcAft>
              <a:buNone/>
            </a:pPr>
            <a:r>
              <a:rPr lang="sr" sz="1800" dirty="0">
                <a:solidFill>
                  <a:schemeClr val="lt1"/>
                </a:solidFill>
                <a:latin typeface="Montserrat"/>
                <a:ea typeface="Montserrat"/>
                <a:cs typeface="Montserrat"/>
                <a:sym typeface="Montserrat"/>
              </a:rPr>
              <a:t>1</a:t>
            </a:r>
            <a:r>
              <a:rPr lang="en-US" sz="1800" dirty="0">
                <a:solidFill>
                  <a:schemeClr val="lt1"/>
                </a:solidFill>
                <a:latin typeface="Montserrat"/>
                <a:ea typeface="Montserrat"/>
                <a:cs typeface="Montserrat"/>
                <a:sym typeface="Montserrat"/>
              </a:rPr>
              <a:t>5</a:t>
            </a:r>
            <a:endParaRPr sz="1800" dirty="0">
              <a:solidFill>
                <a:schemeClr val="lt1"/>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9000" r="-29000"/>
          </a:stretch>
        </a:blip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F436A335-E91F-DFEE-542E-F305787FDDEE}"/>
              </a:ext>
            </a:extLst>
          </p:cNvPr>
          <p:cNvSpPr/>
          <p:nvPr/>
        </p:nvSpPr>
        <p:spPr>
          <a:xfrm>
            <a:off x="2717800" y="0"/>
            <a:ext cx="6426201" cy="5143500"/>
          </a:xfrm>
          <a:custGeom>
            <a:avLst/>
            <a:gdLst>
              <a:gd name="csX0" fmla="*/ 905383 w 6426201"/>
              <a:gd name="csY0" fmla="*/ 0 h 5143500"/>
              <a:gd name="csX1" fmla="*/ 2497177 w 6426201"/>
              <a:gd name="csY1" fmla="*/ 0 h 5143500"/>
              <a:gd name="csX2" fmla="*/ 2467862 w 6426201"/>
              <a:gd name="csY2" fmla="*/ 35902 h 5143500"/>
              <a:gd name="csX3" fmla="*/ 2503842 w 6426201"/>
              <a:gd name="csY3" fmla="*/ 389331 h 5143500"/>
              <a:gd name="csX4" fmla="*/ 2901337 w 6426201"/>
              <a:gd name="csY4" fmla="*/ 389331 h 5143500"/>
              <a:gd name="csX5" fmla="*/ 3290630 w 6426201"/>
              <a:gd name="csY5" fmla="*/ 0 h 5143500"/>
              <a:gd name="csX6" fmla="*/ 4880482 w 6426201"/>
              <a:gd name="csY6" fmla="*/ 0 h 5143500"/>
              <a:gd name="csX7" fmla="*/ 1758651 w 6426201"/>
              <a:gd name="csY7" fmla="*/ 3121695 h 5143500"/>
              <a:gd name="csX8" fmla="*/ 1758651 w 6426201"/>
              <a:gd name="csY8" fmla="*/ 3519191 h 5143500"/>
              <a:gd name="csX9" fmla="*/ 2156147 w 6426201"/>
              <a:gd name="csY9" fmla="*/ 3519191 h 5143500"/>
              <a:gd name="csX10" fmla="*/ 5675617 w 6426201"/>
              <a:gd name="csY10" fmla="*/ 0 h 5143500"/>
              <a:gd name="csX11" fmla="*/ 6426201 w 6426201"/>
              <a:gd name="csY11" fmla="*/ 0 h 5143500"/>
              <a:gd name="csX12" fmla="*/ 6426201 w 6426201"/>
              <a:gd name="csY12" fmla="*/ 841724 h 5143500"/>
              <a:gd name="csX13" fmla="*/ 6399107 w 6426201"/>
              <a:gd name="csY13" fmla="*/ 874906 h 5143500"/>
              <a:gd name="csX14" fmla="*/ 6399107 w 6426201"/>
              <a:gd name="csY14" fmla="*/ 1184271 h 5143500"/>
              <a:gd name="csX15" fmla="*/ 6426201 w 6426201"/>
              <a:gd name="csY15" fmla="*/ 1217454 h 5143500"/>
              <a:gd name="csX16" fmla="*/ 6426201 w 6426201"/>
              <a:gd name="csY16" fmla="*/ 3224795 h 5143500"/>
              <a:gd name="csX17" fmla="*/ 5698729 w 6426201"/>
              <a:gd name="csY17" fmla="*/ 3952325 h 5143500"/>
              <a:gd name="csX18" fmla="*/ 5698729 w 6426201"/>
              <a:gd name="csY18" fmla="*/ 4349820 h 5143500"/>
              <a:gd name="csX19" fmla="*/ 6096226 w 6426201"/>
              <a:gd name="csY19" fmla="*/ 4349820 h 5143500"/>
              <a:gd name="csX20" fmla="*/ 6426201 w 6426201"/>
              <a:gd name="csY20" fmla="*/ 4019844 h 5143500"/>
              <a:gd name="csX21" fmla="*/ 6426201 w 6426201"/>
              <a:gd name="csY21" fmla="*/ 5143500 h 5143500"/>
              <a:gd name="csX22" fmla="*/ 5302181 w 6426201"/>
              <a:gd name="csY22" fmla="*/ 5143500 h 5143500"/>
              <a:gd name="csX23" fmla="*/ 5337216 w 6426201"/>
              <a:gd name="csY23" fmla="*/ 5100594 h 5143500"/>
              <a:gd name="csX24" fmla="*/ 5301235 w 6426201"/>
              <a:gd name="csY24" fmla="*/ 4747164 h 5143500"/>
              <a:gd name="csX25" fmla="*/ 4903739 w 6426201"/>
              <a:gd name="csY25" fmla="*/ 4747164 h 5143500"/>
              <a:gd name="csX26" fmla="*/ 4507404 w 6426201"/>
              <a:gd name="csY26" fmla="*/ 5143500 h 5143500"/>
              <a:gd name="csX27" fmla="*/ 2917405 w 6426201"/>
              <a:gd name="csY27" fmla="*/ 5143500 h 5143500"/>
              <a:gd name="csX28" fmla="*/ 6037591 w 6426201"/>
              <a:gd name="csY28" fmla="*/ 2023176 h 5143500"/>
              <a:gd name="csX29" fmla="*/ 6037591 w 6426201"/>
              <a:gd name="csY29" fmla="*/ 1625681 h 5143500"/>
              <a:gd name="csX30" fmla="*/ 5640096 w 6426201"/>
              <a:gd name="csY30" fmla="*/ 1625681 h 5143500"/>
              <a:gd name="csX31" fmla="*/ 2121855 w 6426201"/>
              <a:gd name="csY31" fmla="*/ 5143500 h 5143500"/>
              <a:gd name="csX32" fmla="*/ 896983 w 6426201"/>
              <a:gd name="csY32" fmla="*/ 5143500 h 5143500"/>
              <a:gd name="csX33" fmla="*/ 893618 w 6426201"/>
              <a:gd name="csY33" fmla="*/ 5132153 h 5143500"/>
              <a:gd name="csX34" fmla="*/ 1048034 w 6426201"/>
              <a:gd name="csY34" fmla="*/ 4627306 h 5143500"/>
              <a:gd name="csX35" fmla="*/ 1361157 w 6426201"/>
              <a:gd name="csY35" fmla="*/ 4314183 h 5143500"/>
              <a:gd name="csX36" fmla="*/ 1361157 w 6426201"/>
              <a:gd name="csY36" fmla="*/ 3916686 h 5143500"/>
              <a:gd name="csX37" fmla="*/ 963661 w 6426201"/>
              <a:gd name="csY37" fmla="*/ 3916686 h 5143500"/>
              <a:gd name="csX38" fmla="*/ 959702 w 6426201"/>
              <a:gd name="csY38" fmla="*/ 3920647 h 5143500"/>
              <a:gd name="csX39" fmla="*/ 164711 w 6426201"/>
              <a:gd name="csY39" fmla="*/ 3920647 h 5143500"/>
              <a:gd name="csX40" fmla="*/ 164711 w 6426201"/>
              <a:gd name="csY40" fmla="*/ 3125656 h 5143500"/>
              <a:gd name="csX41" fmla="*/ 2106042 w 6426201"/>
              <a:gd name="csY41" fmla="*/ 1184171 h 5143500"/>
              <a:gd name="csX42" fmla="*/ 2106042 w 6426201"/>
              <a:gd name="csY42" fmla="*/ 786674 h 5143500"/>
              <a:gd name="csX43" fmla="*/ 1708546 w 6426201"/>
              <a:gd name="csY43" fmla="*/ 786674 h 5143500"/>
              <a:gd name="csX44" fmla="*/ 1326585 w 6426201"/>
              <a:gd name="csY44" fmla="*/ 1168636 h 5143500"/>
              <a:gd name="csX45" fmla="*/ 531594 w 6426201"/>
              <a:gd name="csY45" fmla="*/ 1168636 h 5143500"/>
              <a:gd name="csX46" fmla="*/ 531594 w 6426201"/>
              <a:gd name="csY46" fmla="*/ 373644 h 514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426201" h="5143500">
                <a:moveTo>
                  <a:pt x="905383" y="0"/>
                </a:moveTo>
                <a:lnTo>
                  <a:pt x="2497177" y="0"/>
                </a:lnTo>
                <a:lnTo>
                  <a:pt x="2467862" y="35902"/>
                </a:lnTo>
                <a:cubicBezTo>
                  <a:pt x="2395902" y="144966"/>
                  <a:pt x="2407895" y="293384"/>
                  <a:pt x="2503842" y="389331"/>
                </a:cubicBezTo>
                <a:cubicBezTo>
                  <a:pt x="2613496" y="498985"/>
                  <a:pt x="2791683" y="498985"/>
                  <a:pt x="2901337" y="389331"/>
                </a:cubicBezTo>
                <a:lnTo>
                  <a:pt x="3290630" y="0"/>
                </a:lnTo>
                <a:lnTo>
                  <a:pt x="4880482" y="0"/>
                </a:lnTo>
                <a:lnTo>
                  <a:pt x="1758651" y="3121695"/>
                </a:lnTo>
                <a:cubicBezTo>
                  <a:pt x="1648997" y="3231349"/>
                  <a:pt x="1648997" y="3409537"/>
                  <a:pt x="1758651" y="3519191"/>
                </a:cubicBezTo>
                <a:cubicBezTo>
                  <a:pt x="1868305" y="3628845"/>
                  <a:pt x="2046494" y="3628845"/>
                  <a:pt x="2156147" y="3519191"/>
                </a:cubicBezTo>
                <a:lnTo>
                  <a:pt x="5675617" y="0"/>
                </a:lnTo>
                <a:lnTo>
                  <a:pt x="6426201" y="0"/>
                </a:lnTo>
                <a:lnTo>
                  <a:pt x="6426201" y="841724"/>
                </a:lnTo>
                <a:lnTo>
                  <a:pt x="6399107" y="874906"/>
                </a:lnTo>
                <a:cubicBezTo>
                  <a:pt x="6337426" y="968391"/>
                  <a:pt x="6337426" y="1090787"/>
                  <a:pt x="6399107" y="1184271"/>
                </a:cubicBezTo>
                <a:lnTo>
                  <a:pt x="6426201" y="1217454"/>
                </a:lnTo>
                <a:lnTo>
                  <a:pt x="6426201" y="3224795"/>
                </a:lnTo>
                <a:lnTo>
                  <a:pt x="5698729" y="3952325"/>
                </a:lnTo>
                <a:cubicBezTo>
                  <a:pt x="5589076" y="4061979"/>
                  <a:pt x="5589076" y="4240166"/>
                  <a:pt x="5698729" y="4349820"/>
                </a:cubicBezTo>
                <a:cubicBezTo>
                  <a:pt x="5808383" y="4459475"/>
                  <a:pt x="5986572" y="4459475"/>
                  <a:pt x="6096226" y="4349820"/>
                </a:cubicBezTo>
                <a:lnTo>
                  <a:pt x="6426201" y="4019844"/>
                </a:lnTo>
                <a:lnTo>
                  <a:pt x="6426201" y="5143500"/>
                </a:lnTo>
                <a:lnTo>
                  <a:pt x="5302181" y="5143500"/>
                </a:lnTo>
                <a:lnTo>
                  <a:pt x="5337216" y="5100594"/>
                </a:lnTo>
                <a:cubicBezTo>
                  <a:pt x="5409176" y="4991529"/>
                  <a:pt x="5397183" y="4843112"/>
                  <a:pt x="5301235" y="4747164"/>
                </a:cubicBezTo>
                <a:cubicBezTo>
                  <a:pt x="5191581" y="4637510"/>
                  <a:pt x="5013393" y="4637510"/>
                  <a:pt x="4903739" y="4747164"/>
                </a:cubicBezTo>
                <a:lnTo>
                  <a:pt x="4507404" y="5143500"/>
                </a:lnTo>
                <a:lnTo>
                  <a:pt x="2917405" y="5143500"/>
                </a:lnTo>
                <a:lnTo>
                  <a:pt x="6037591" y="2023176"/>
                </a:lnTo>
                <a:cubicBezTo>
                  <a:pt x="6147246" y="1913522"/>
                  <a:pt x="6147246" y="1735335"/>
                  <a:pt x="6037591" y="1625681"/>
                </a:cubicBezTo>
                <a:cubicBezTo>
                  <a:pt x="5927938" y="1516027"/>
                  <a:pt x="5749749" y="1516027"/>
                  <a:pt x="5640096" y="1625681"/>
                </a:cubicBezTo>
                <a:lnTo>
                  <a:pt x="2121855" y="5143500"/>
                </a:lnTo>
                <a:lnTo>
                  <a:pt x="896983" y="5143500"/>
                </a:lnTo>
                <a:lnTo>
                  <a:pt x="893618" y="5132153"/>
                </a:lnTo>
                <a:cubicBezTo>
                  <a:pt x="859304" y="4955007"/>
                  <a:pt x="910776" y="4764564"/>
                  <a:pt x="1048034" y="4627306"/>
                </a:cubicBezTo>
                <a:lnTo>
                  <a:pt x="1361157" y="4314183"/>
                </a:lnTo>
                <a:cubicBezTo>
                  <a:pt x="1470811" y="4204529"/>
                  <a:pt x="1470811" y="4026342"/>
                  <a:pt x="1361157" y="3916686"/>
                </a:cubicBezTo>
                <a:cubicBezTo>
                  <a:pt x="1251503" y="3807032"/>
                  <a:pt x="1073314" y="3807032"/>
                  <a:pt x="963661" y="3916686"/>
                </a:cubicBezTo>
                <a:lnTo>
                  <a:pt x="959702" y="3920647"/>
                </a:lnTo>
                <a:cubicBezTo>
                  <a:pt x="740088" y="4140107"/>
                  <a:pt x="384322" y="4140107"/>
                  <a:pt x="164711" y="3920647"/>
                </a:cubicBezTo>
                <a:cubicBezTo>
                  <a:pt x="-54903" y="3701034"/>
                  <a:pt x="-54903" y="3345115"/>
                  <a:pt x="164711" y="3125656"/>
                </a:cubicBezTo>
                <a:lnTo>
                  <a:pt x="2106042" y="1184171"/>
                </a:lnTo>
                <a:cubicBezTo>
                  <a:pt x="2215696" y="1074517"/>
                  <a:pt x="2215696" y="896328"/>
                  <a:pt x="2106042" y="786674"/>
                </a:cubicBezTo>
                <a:cubicBezTo>
                  <a:pt x="1996388" y="677020"/>
                  <a:pt x="1818200" y="677020"/>
                  <a:pt x="1708546" y="786674"/>
                </a:cubicBezTo>
                <a:lnTo>
                  <a:pt x="1326585" y="1168636"/>
                </a:lnTo>
                <a:cubicBezTo>
                  <a:pt x="1106973" y="1388249"/>
                  <a:pt x="751207" y="1388249"/>
                  <a:pt x="531594" y="1168636"/>
                </a:cubicBezTo>
                <a:cubicBezTo>
                  <a:pt x="311983" y="949024"/>
                  <a:pt x="311983" y="593258"/>
                  <a:pt x="531594" y="373644"/>
                </a:cubicBezTo>
                <a:close/>
              </a:path>
            </a:pathLst>
          </a:custGeom>
          <a:solidFill>
            <a:srgbClr val="FFFF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6" name="Graphic 4">
            <a:extLst>
              <a:ext uri="{FF2B5EF4-FFF2-40B4-BE49-F238E27FC236}">
                <a16:creationId xmlns:a16="http://schemas.microsoft.com/office/drawing/2014/main" id="{8E7A8867-8EAA-6C57-2018-D03183288FCE}"/>
              </a:ext>
            </a:extLst>
          </p:cNvPr>
          <p:cNvSpPr/>
          <p:nvPr/>
        </p:nvSpPr>
        <p:spPr>
          <a:xfrm>
            <a:off x="213083" y="343327"/>
            <a:ext cx="180000" cy="180000"/>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alpha val="95000"/>
            </a:srgbClr>
          </a:solidFill>
          <a:ln w="9525" cap="flat">
            <a:noFill/>
            <a:prstDash val="solid"/>
            <a:miter/>
          </a:ln>
        </p:spPr>
        <p:txBody>
          <a:bodyPr/>
          <a:lstStyle/>
          <a:p>
            <a:endParaRPr lang="en-GB"/>
          </a:p>
        </p:txBody>
      </p:sp>
      <p:sp>
        <p:nvSpPr>
          <p:cNvPr id="10" name="_text_title">
            <a:extLst>
              <a:ext uri="{FF2B5EF4-FFF2-40B4-BE49-F238E27FC236}">
                <a16:creationId xmlns:a16="http://schemas.microsoft.com/office/drawing/2014/main" id="{F27B2C81-B052-2B33-6A07-165F6EAFA341}"/>
              </a:ext>
            </a:extLst>
          </p:cNvPr>
          <p:cNvSpPr txBox="1">
            <a:spLocks/>
          </p:cNvSpPr>
          <p:nvPr/>
        </p:nvSpPr>
        <p:spPr>
          <a:xfrm>
            <a:off x="589500" y="724453"/>
            <a:ext cx="8402846" cy="430887"/>
          </a:xfrm>
          <a:prstGeom prst="rect">
            <a:avLst/>
          </a:prstGeom>
          <a:noFill/>
          <a:ln>
            <a:noFill/>
          </a:ln>
        </p:spPr>
        <p:txBody>
          <a:bodyPr spcFirstLastPara="1" wrap="square" lIns="91425" tIns="0" rIns="91425" bIns="0" anchor="b" anchorCtr="0">
            <a:sp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9pPr>
          </a:lstStyle>
          <a:p>
            <a:pPr algn="l">
              <a:buSzPts val="990"/>
            </a:pPr>
            <a:r>
              <a:rPr lang="en-GB" sz="2800" spc="-150" dirty="0">
                <a:solidFill>
                  <a:schemeClr val="lt1">
                    <a:alpha val="90000"/>
                  </a:schemeClr>
                </a:solidFill>
                <a:latin typeface="Montserrat Black" panose="00000A00000000000000" pitchFamily="2" charset="0"/>
                <a:ea typeface="Montserrat"/>
                <a:cs typeface="Montserrat"/>
                <a:sym typeface="Montserrat"/>
              </a:rPr>
              <a:t>Uloga metapodataka</a:t>
            </a:r>
            <a:endParaRPr lang="sr-Latn-RS" sz="2800" spc="-150" dirty="0">
              <a:solidFill>
                <a:schemeClr val="lt1">
                  <a:alpha val="90000"/>
                </a:schemeClr>
              </a:solidFill>
              <a:latin typeface="Montserrat Black" panose="00000A00000000000000" pitchFamily="2" charset="0"/>
              <a:ea typeface="Montserrat"/>
              <a:cs typeface="Montserrat"/>
              <a:sym typeface="Montserrat"/>
            </a:endParaRPr>
          </a:p>
        </p:txBody>
      </p:sp>
      <p:sp>
        <p:nvSpPr>
          <p:cNvPr id="14" name="_text_subtitle">
            <a:extLst>
              <a:ext uri="{FF2B5EF4-FFF2-40B4-BE49-F238E27FC236}">
                <a16:creationId xmlns:a16="http://schemas.microsoft.com/office/drawing/2014/main" id="{349F65FA-2F05-CFC0-2A35-8E55C6D4939C}"/>
              </a:ext>
            </a:extLst>
          </p:cNvPr>
          <p:cNvSpPr txBox="1">
            <a:spLocks/>
          </p:cNvSpPr>
          <p:nvPr/>
        </p:nvSpPr>
        <p:spPr>
          <a:xfrm>
            <a:off x="589500" y="1158219"/>
            <a:ext cx="8402846" cy="307777"/>
          </a:xfrm>
          <a:prstGeom prst="rect">
            <a:avLst/>
          </a:prstGeom>
          <a:noFill/>
          <a:ln>
            <a:noFill/>
          </a:ln>
        </p:spPr>
        <p:txBody>
          <a:bodyPr spcFirstLastPara="1" wrap="square" lIns="91425" tIns="0" rIns="91425" bIns="0" anchor="t" anchorCtr="0">
            <a:sp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9pPr>
          </a:lstStyle>
          <a:p>
            <a:pPr marL="0" indent="0" algn="l"/>
            <a:r>
              <a:rPr lang="en-GB" sz="2000" dirty="0" err="1">
                <a:solidFill>
                  <a:schemeClr val="lt1"/>
                </a:solidFill>
                <a:latin typeface="Montserrat" panose="00000500000000000000" pitchFamily="2" charset="0"/>
                <a:ea typeface="Lato"/>
                <a:cs typeface="Lato"/>
                <a:sym typeface="Lato"/>
              </a:rPr>
              <a:t>Podaci o dokumentu, ne njegov tekst</a:t>
            </a:r>
            <a:endParaRPr lang="en-GB" sz="2000" dirty="0">
              <a:solidFill>
                <a:schemeClr val="lt1"/>
              </a:solidFill>
              <a:latin typeface="Montserrat" panose="00000500000000000000" pitchFamily="2" charset="0"/>
              <a:ea typeface="Lato"/>
              <a:cs typeface="Lato"/>
              <a:sym typeface="Lato"/>
            </a:endParaRPr>
          </a:p>
        </p:txBody>
      </p:sp>
      <p:sp>
        <p:nvSpPr>
          <p:cNvPr id="25" name="_text_item_1">
            <a:extLst>
              <a:ext uri="{FF2B5EF4-FFF2-40B4-BE49-F238E27FC236}">
                <a16:creationId xmlns:a16="http://schemas.microsoft.com/office/drawing/2014/main" id="{2BF3604B-6E06-8A69-5835-2EFCDC54DD14}"/>
              </a:ext>
            </a:extLst>
          </p:cNvPr>
          <p:cNvSpPr txBox="1"/>
          <p:nvPr/>
        </p:nvSpPr>
        <p:spPr>
          <a:xfrm>
            <a:off x="5134484" y="1826910"/>
            <a:ext cx="3594649" cy="335769"/>
          </a:xfrm>
          <a:prstGeom prst="rect">
            <a:avLst/>
          </a:prstGeom>
          <a:noFill/>
          <a:ln>
            <a:noFill/>
          </a:ln>
        </p:spPr>
        <p:txBody>
          <a:bodyPr spcFirstLastPara="1" wrap="square" lIns="91425" tIns="0" rIns="91425" bIns="0" anchor="ctr" anchorCtr="0">
            <a:noAutofit/>
          </a:bodyPr>
          <a:lstStyle/>
          <a:p>
            <a:pPr marL="0" lvl="0" indent="0" rtl="0">
              <a:spcBef>
                <a:spcPts val="0"/>
              </a:spcBef>
              <a:spcAft>
                <a:spcPts val="0"/>
              </a:spcAft>
              <a:buNone/>
            </a:pPr>
            <a:r>
              <a:rPr lang="sr" sz="1600" dirty="0">
                <a:solidFill>
                  <a:schemeClr val="lt1">
                    <a:alpha val="90000"/>
                  </a:schemeClr>
                </a:solidFill>
                <a:latin typeface="Montserrat Black" panose="00000A00000000000000" pitchFamily="2" charset="0"/>
                <a:ea typeface="Montserrat Black"/>
                <a:cs typeface="Montserrat Black"/>
                <a:sym typeface="Montserrat Black"/>
              </a:rPr>
              <a:t>Filtriranje</a:t>
            </a:r>
            <a:endParaRPr sz="1600" dirty="0">
              <a:solidFill>
                <a:schemeClr val="lt1">
                  <a:alpha val="90000"/>
                </a:schemeClr>
              </a:solidFill>
              <a:latin typeface="Montserrat Black" panose="00000A00000000000000" pitchFamily="2" charset="0"/>
              <a:ea typeface="Montserrat Black"/>
              <a:cs typeface="Montserrat Black"/>
              <a:sym typeface="Montserrat Black"/>
            </a:endParaRPr>
          </a:p>
        </p:txBody>
      </p:sp>
      <p:sp>
        <p:nvSpPr>
          <p:cNvPr id="27" name="_img_bullet_1">
            <a:extLst>
              <a:ext uri="{FF2B5EF4-FFF2-40B4-BE49-F238E27FC236}">
                <a16:creationId xmlns:a16="http://schemas.microsoft.com/office/drawing/2014/main" id="{6215C57A-7AE1-272D-49F6-6BA47CA585B7}"/>
              </a:ext>
            </a:extLst>
          </p:cNvPr>
          <p:cNvSpPr/>
          <p:nvPr/>
        </p:nvSpPr>
        <p:spPr>
          <a:xfrm>
            <a:off x="4779434" y="1876383"/>
            <a:ext cx="230470" cy="239992"/>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solidFill>
          <a:ln w="9525" cap="flat">
            <a:noFill/>
            <a:prstDash val="solid"/>
            <a:miter/>
          </a:ln>
        </p:spPr>
        <p:txBody>
          <a:bodyPr/>
          <a:lstStyle/>
          <a:p>
            <a:endParaRPr lang="en-GB"/>
          </a:p>
        </p:txBody>
      </p:sp>
      <p:sp>
        <p:nvSpPr>
          <p:cNvPr id="29" name="_text_item_2">
            <a:extLst>
              <a:ext uri="{FF2B5EF4-FFF2-40B4-BE49-F238E27FC236}">
                <a16:creationId xmlns:a16="http://schemas.microsoft.com/office/drawing/2014/main" id="{13D0246B-410E-37C0-37A0-8693BC5BB1DA}"/>
              </a:ext>
            </a:extLst>
          </p:cNvPr>
          <p:cNvSpPr txBox="1"/>
          <p:nvPr/>
        </p:nvSpPr>
        <p:spPr>
          <a:xfrm>
            <a:off x="5134484" y="2320179"/>
            <a:ext cx="3594649" cy="335769"/>
          </a:xfrm>
          <a:prstGeom prst="rect">
            <a:avLst/>
          </a:prstGeom>
          <a:noFill/>
          <a:ln>
            <a:noFill/>
          </a:ln>
        </p:spPr>
        <p:txBody>
          <a:bodyPr spcFirstLastPara="1" wrap="square" lIns="91425" tIns="0" rIns="91425" bIns="0" anchor="ctr" anchorCtr="0">
            <a:noAutofit/>
          </a:bodyPr>
          <a:lstStyle/>
          <a:p>
            <a:pPr marL="0" lvl="0" indent="0" rtl="0">
              <a:spcBef>
                <a:spcPts val="0"/>
              </a:spcBef>
              <a:spcAft>
                <a:spcPts val="0"/>
              </a:spcAft>
              <a:buNone/>
            </a:pPr>
            <a:r>
              <a:rPr lang="sr" sz="1600" dirty="0">
                <a:solidFill>
                  <a:schemeClr val="lt1">
                    <a:alpha val="90000"/>
                  </a:schemeClr>
                </a:solidFill>
                <a:latin typeface="Montserrat Black" panose="00000A00000000000000" pitchFamily="2" charset="0"/>
                <a:ea typeface="Montserrat Black"/>
                <a:cs typeface="Montserrat Black"/>
                <a:sym typeface="Montserrat Black"/>
              </a:rPr>
              <a:t>Rangiranje</a:t>
            </a:r>
            <a:endParaRPr sz="1600" dirty="0">
              <a:solidFill>
                <a:schemeClr val="lt1">
                  <a:alpha val="90000"/>
                </a:schemeClr>
              </a:solidFill>
              <a:latin typeface="Montserrat Black" panose="00000A00000000000000" pitchFamily="2" charset="0"/>
              <a:ea typeface="Montserrat Black"/>
              <a:cs typeface="Montserrat Black"/>
              <a:sym typeface="Montserrat Black"/>
            </a:endParaRPr>
          </a:p>
        </p:txBody>
      </p:sp>
      <p:sp>
        <p:nvSpPr>
          <p:cNvPr id="31" name="_img_bullet_2">
            <a:extLst>
              <a:ext uri="{FF2B5EF4-FFF2-40B4-BE49-F238E27FC236}">
                <a16:creationId xmlns:a16="http://schemas.microsoft.com/office/drawing/2014/main" id="{B96B7868-1BC5-02B4-C8D1-A66D905EA564}"/>
              </a:ext>
            </a:extLst>
          </p:cNvPr>
          <p:cNvSpPr/>
          <p:nvPr/>
        </p:nvSpPr>
        <p:spPr>
          <a:xfrm>
            <a:off x="4779434" y="2369652"/>
            <a:ext cx="230470" cy="239992"/>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solidFill>
          <a:ln w="9525" cap="flat">
            <a:noFill/>
            <a:prstDash val="solid"/>
            <a:miter/>
          </a:ln>
        </p:spPr>
        <p:txBody>
          <a:bodyPr/>
          <a:lstStyle/>
          <a:p>
            <a:endParaRPr lang="en-GB"/>
          </a:p>
        </p:txBody>
      </p:sp>
      <p:sp>
        <p:nvSpPr>
          <p:cNvPr id="33" name="_text_item_3">
            <a:extLst>
              <a:ext uri="{FF2B5EF4-FFF2-40B4-BE49-F238E27FC236}">
                <a16:creationId xmlns:a16="http://schemas.microsoft.com/office/drawing/2014/main" id="{D47BD6A9-BD46-9248-E90E-D88BC9630088}"/>
              </a:ext>
            </a:extLst>
          </p:cNvPr>
          <p:cNvSpPr txBox="1"/>
          <p:nvPr/>
        </p:nvSpPr>
        <p:spPr>
          <a:xfrm>
            <a:off x="5134484" y="2813448"/>
            <a:ext cx="3594649" cy="344275"/>
          </a:xfrm>
          <a:prstGeom prst="rect">
            <a:avLst/>
          </a:prstGeom>
          <a:noFill/>
          <a:ln>
            <a:noFill/>
          </a:ln>
        </p:spPr>
        <p:txBody>
          <a:bodyPr spcFirstLastPara="1" wrap="square" lIns="91425" tIns="0" rIns="91425" bIns="0" anchor="ctr" anchorCtr="0">
            <a:noAutofit/>
          </a:bodyPr>
          <a:lstStyle/>
          <a:p>
            <a:pPr marL="0" lvl="0" indent="0" rtl="0">
              <a:spcBef>
                <a:spcPts val="0"/>
              </a:spcBef>
              <a:spcAft>
                <a:spcPts val="0"/>
              </a:spcAft>
              <a:buNone/>
            </a:pPr>
            <a:r>
              <a:rPr lang="sr" sz="1600" dirty="0">
                <a:solidFill>
                  <a:schemeClr val="lt1">
                    <a:alpha val="90000"/>
                  </a:schemeClr>
                </a:solidFill>
                <a:latin typeface="Montserrat Black" panose="00000A00000000000000" pitchFamily="2" charset="0"/>
                <a:ea typeface="Montserrat Black"/>
                <a:cs typeface="Montserrat Black"/>
                <a:sym typeface="Montserrat Black"/>
              </a:rPr>
              <a:t>Sledljivost</a:t>
            </a:r>
            <a:endParaRPr sz="1600" dirty="0">
              <a:solidFill>
                <a:schemeClr val="lt1">
                  <a:alpha val="90000"/>
                </a:schemeClr>
              </a:solidFill>
              <a:latin typeface="Montserrat Black" panose="00000A00000000000000" pitchFamily="2" charset="0"/>
              <a:ea typeface="Montserrat Black"/>
              <a:cs typeface="Montserrat Black"/>
              <a:sym typeface="Montserrat Black"/>
            </a:endParaRPr>
          </a:p>
        </p:txBody>
      </p:sp>
      <p:sp>
        <p:nvSpPr>
          <p:cNvPr id="35" name="_img_bullet_3">
            <a:extLst>
              <a:ext uri="{FF2B5EF4-FFF2-40B4-BE49-F238E27FC236}">
                <a16:creationId xmlns:a16="http://schemas.microsoft.com/office/drawing/2014/main" id="{8FA00B31-B49D-8325-0ADF-ED44C9A7A0E1}"/>
              </a:ext>
            </a:extLst>
          </p:cNvPr>
          <p:cNvSpPr/>
          <p:nvPr/>
        </p:nvSpPr>
        <p:spPr>
          <a:xfrm>
            <a:off x="4779434" y="2866090"/>
            <a:ext cx="230470" cy="239992"/>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solidFill>
          <a:ln w="9525" cap="flat">
            <a:noFill/>
            <a:prstDash val="solid"/>
            <a:miter/>
          </a:ln>
        </p:spPr>
        <p:txBody>
          <a:bodyPr/>
          <a:lstStyle/>
          <a:p>
            <a:endParaRPr lang="en-GB"/>
          </a:p>
        </p:txBody>
      </p:sp>
      <p:sp>
        <p:nvSpPr>
          <p:cNvPr id="49" name="_text_main_content">
            <a:extLst>
              <a:ext uri="{FF2B5EF4-FFF2-40B4-BE49-F238E27FC236}">
                <a16:creationId xmlns:a16="http://schemas.microsoft.com/office/drawing/2014/main" id="{9CD26AB8-6295-70AF-8BAB-EE4D1C2211AA}"/>
              </a:ext>
            </a:extLst>
          </p:cNvPr>
          <p:cNvSpPr txBox="1"/>
          <p:nvPr/>
        </p:nvSpPr>
        <p:spPr>
          <a:xfrm>
            <a:off x="589500" y="1648741"/>
            <a:ext cx="3982500" cy="2605811"/>
          </a:xfrm>
          <a:prstGeom prst="rect">
            <a:avLst/>
          </a:prstGeom>
          <a:noFill/>
          <a:ln>
            <a:noFill/>
          </a:ln>
        </p:spPr>
        <p:txBody>
          <a:bodyPr spcFirstLastPara="1" wrap="square" lIns="91425" tIns="91425" rIns="360000" bIns="91425" anchor="t" anchorCtr="0">
            <a:spAutoFit/>
          </a:bodyPr>
          <a:lstStyle/>
          <a:p>
            <a:pPr marL="0" lvl="0" indent="0" algn="l" rtl="0">
              <a:spcBef>
                <a:spcPts val="0"/>
              </a:spcBef>
              <a:spcAft>
                <a:spcPts val="800"/>
              </a:spcAft>
              <a:buNone/>
            </a:pPr>
            <a:r>
              <a:rPr lang="sr" sz="1200" dirty="0">
                <a:solidFill>
                  <a:srgbClr val="D1E2ED"/>
                </a:solidFill>
                <a:latin typeface="Lato"/>
                <a:ea typeface="Lato"/>
                <a:cs typeface="Lato"/>
                <a:sym typeface="Lato"/>
              </a:rPr>
              <a:t>Naslov, sekcija, verzija i datum važenja pomažu na tri načina. Primer propusta: korpus ima politiku rada od kuće iz 2024. i iz 2026. Tekstovi su gotovo isti, a sistem citira staru verziju jer je njen chunk kraći i ima višu ocenu.</a:t>
            </a:r>
            <a:endParaRPr sz="1200" dirty="0">
              <a:solidFill>
                <a:srgbClr val="D1E2ED"/>
              </a:solidFill>
              <a:latin typeface="Lato"/>
              <a:ea typeface="Lato"/>
              <a:cs typeface="Lato"/>
              <a:sym typeface="Lato"/>
            </a:endParaRPr>
          </a:p>
        </p:txBody>
      </p:sp>
      <p:pic>
        <p:nvPicPr>
          <p:cNvPr id="50" name="_image_small_company_logo" descr="EPAM"/>
          <p:cNvPicPr>
            <a:picLocks noChangeAspect="1"/>
          </p:cNvPicPr>
          <p:nvPr/>
        </p:nvPicPr>
        <p:blipFill>
          <a:blip r:embed="rId4"/>
          <a:stretch>
            <a:fillRect/>
          </a:stretch>
        </p:blipFill>
        <p:spPr>
          <a:xfrm>
            <a:off x="490324" y="344427"/>
            <a:ext cx="504923" cy="177800"/>
          </a:xfrm>
          <a:prstGeom prst="rect">
            <a:avLst/>
          </a:prstGeom>
        </p:spPr>
      </p:pic>
      <p:sp>
        <p:nvSpPr>
          <p:cNvPr id="47" name="_text_section">
            <a:extLst>
              <a:ext uri="{FF2B5EF4-FFF2-40B4-BE49-F238E27FC236}">
                <a16:creationId xmlns:a16="http://schemas.microsoft.com/office/drawing/2014/main" id="{7B42A645-2990-3E2F-79CB-7F037CAC30AE}"/>
              </a:ext>
            </a:extLst>
          </p:cNvPr>
          <p:cNvSpPr txBox="1">
            <a:spLocks/>
          </p:cNvSpPr>
          <p:nvPr/>
        </p:nvSpPr>
        <p:spPr>
          <a:xfrm>
            <a:off x="5927725" y="4663806"/>
            <a:ext cx="2564917" cy="15388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9pPr>
          </a:lstStyle>
          <a:p>
            <a:pPr marL="0" indent="0" algn="r"/>
            <a:r>
              <a:rPr lang="sr-Latn-RS" sz="1000" dirty="0">
                <a:solidFill>
                  <a:schemeClr val="lt1"/>
                </a:solidFill>
                <a:latin typeface="Lato"/>
                <a:ea typeface="Lato"/>
                <a:cs typeface="Lato"/>
                <a:sym typeface="Lato"/>
              </a:rPr>
              <a:t>Propusti</a:t>
            </a:r>
            <a:endParaRPr lang="en-GB" sz="1000" dirty="0">
              <a:solidFill>
                <a:schemeClr val="lt1"/>
              </a:solidFill>
              <a:latin typeface="Lato"/>
              <a:ea typeface="Lato"/>
              <a:cs typeface="Lato"/>
              <a:sym typeface="Lato"/>
            </a:endParaRPr>
          </a:p>
        </p:txBody>
      </p:sp>
      <p:sp>
        <p:nvSpPr>
          <p:cNvPr id="45" name="_text_page">
            <a:extLst>
              <a:ext uri="{FF2B5EF4-FFF2-40B4-BE49-F238E27FC236}">
                <a16:creationId xmlns:a16="http://schemas.microsoft.com/office/drawing/2014/main" id="{51A1F65A-7AB2-6F31-7EDA-F277BE44D479}"/>
              </a:ext>
            </a:extLst>
          </p:cNvPr>
          <p:cNvSpPr txBox="1"/>
          <p:nvPr/>
        </p:nvSpPr>
        <p:spPr>
          <a:xfrm>
            <a:off x="8492643" y="4500000"/>
            <a:ext cx="469800" cy="481500"/>
          </a:xfrm>
          <a:prstGeom prst="rect">
            <a:avLst/>
          </a:prstGeom>
          <a:noFill/>
          <a:ln>
            <a:noFill/>
          </a:ln>
        </p:spPr>
        <p:txBody>
          <a:bodyPr spcFirstLastPara="1" wrap="square" lIns="0" tIns="91425" rIns="0" bIns="91425" anchor="t" anchorCtr="0">
            <a:noAutofit/>
          </a:bodyPr>
          <a:lstStyle/>
          <a:p>
            <a:pPr marL="0" lvl="0" indent="0" algn="ctr" rtl="0">
              <a:spcBef>
                <a:spcPts val="0"/>
              </a:spcBef>
              <a:spcAft>
                <a:spcPts val="0"/>
              </a:spcAft>
              <a:buNone/>
            </a:pPr>
            <a:r>
              <a:rPr lang="sr" sz="1800" dirty="0">
                <a:solidFill>
                  <a:schemeClr val="lt1"/>
                </a:solidFill>
                <a:latin typeface="Montserrat"/>
                <a:ea typeface="Montserrat"/>
                <a:cs typeface="Montserrat"/>
                <a:sym typeface="Montserrat"/>
              </a:rPr>
              <a:t>1</a:t>
            </a:r>
            <a:r>
              <a:rPr lang="en-US" sz="1800" dirty="0">
                <a:solidFill>
                  <a:schemeClr val="lt1"/>
                </a:solidFill>
                <a:latin typeface="Montserrat"/>
                <a:ea typeface="Montserrat"/>
                <a:cs typeface="Montserrat"/>
                <a:sym typeface="Montserrat"/>
              </a:rPr>
              <a:t>6</a:t>
            </a:r>
            <a:endParaRPr sz="1800" dirty="0">
              <a:solidFill>
                <a:schemeClr val="lt1"/>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9000" r="-29000"/>
          </a:stretch>
        </a:blip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CCEE615A-F458-2EA3-D615-19C3FED6FB9A}"/>
              </a:ext>
            </a:extLst>
          </p:cNvPr>
          <p:cNvSpPr/>
          <p:nvPr/>
        </p:nvSpPr>
        <p:spPr>
          <a:xfrm>
            <a:off x="2717800" y="0"/>
            <a:ext cx="6426201" cy="5143500"/>
          </a:xfrm>
          <a:custGeom>
            <a:avLst/>
            <a:gdLst>
              <a:gd name="csX0" fmla="*/ 905383 w 6426201"/>
              <a:gd name="csY0" fmla="*/ 0 h 5143500"/>
              <a:gd name="csX1" fmla="*/ 2497177 w 6426201"/>
              <a:gd name="csY1" fmla="*/ 0 h 5143500"/>
              <a:gd name="csX2" fmla="*/ 2467862 w 6426201"/>
              <a:gd name="csY2" fmla="*/ 35902 h 5143500"/>
              <a:gd name="csX3" fmla="*/ 2503842 w 6426201"/>
              <a:gd name="csY3" fmla="*/ 389331 h 5143500"/>
              <a:gd name="csX4" fmla="*/ 2901337 w 6426201"/>
              <a:gd name="csY4" fmla="*/ 389331 h 5143500"/>
              <a:gd name="csX5" fmla="*/ 3290630 w 6426201"/>
              <a:gd name="csY5" fmla="*/ 0 h 5143500"/>
              <a:gd name="csX6" fmla="*/ 4880482 w 6426201"/>
              <a:gd name="csY6" fmla="*/ 0 h 5143500"/>
              <a:gd name="csX7" fmla="*/ 1758651 w 6426201"/>
              <a:gd name="csY7" fmla="*/ 3121695 h 5143500"/>
              <a:gd name="csX8" fmla="*/ 1758651 w 6426201"/>
              <a:gd name="csY8" fmla="*/ 3519191 h 5143500"/>
              <a:gd name="csX9" fmla="*/ 2156147 w 6426201"/>
              <a:gd name="csY9" fmla="*/ 3519191 h 5143500"/>
              <a:gd name="csX10" fmla="*/ 5675617 w 6426201"/>
              <a:gd name="csY10" fmla="*/ 0 h 5143500"/>
              <a:gd name="csX11" fmla="*/ 6426201 w 6426201"/>
              <a:gd name="csY11" fmla="*/ 0 h 5143500"/>
              <a:gd name="csX12" fmla="*/ 6426201 w 6426201"/>
              <a:gd name="csY12" fmla="*/ 841724 h 5143500"/>
              <a:gd name="csX13" fmla="*/ 6399107 w 6426201"/>
              <a:gd name="csY13" fmla="*/ 874906 h 5143500"/>
              <a:gd name="csX14" fmla="*/ 6399107 w 6426201"/>
              <a:gd name="csY14" fmla="*/ 1184271 h 5143500"/>
              <a:gd name="csX15" fmla="*/ 6426201 w 6426201"/>
              <a:gd name="csY15" fmla="*/ 1217454 h 5143500"/>
              <a:gd name="csX16" fmla="*/ 6426201 w 6426201"/>
              <a:gd name="csY16" fmla="*/ 3224795 h 5143500"/>
              <a:gd name="csX17" fmla="*/ 5698729 w 6426201"/>
              <a:gd name="csY17" fmla="*/ 3952325 h 5143500"/>
              <a:gd name="csX18" fmla="*/ 5698729 w 6426201"/>
              <a:gd name="csY18" fmla="*/ 4349820 h 5143500"/>
              <a:gd name="csX19" fmla="*/ 6096226 w 6426201"/>
              <a:gd name="csY19" fmla="*/ 4349820 h 5143500"/>
              <a:gd name="csX20" fmla="*/ 6426201 w 6426201"/>
              <a:gd name="csY20" fmla="*/ 4019844 h 5143500"/>
              <a:gd name="csX21" fmla="*/ 6426201 w 6426201"/>
              <a:gd name="csY21" fmla="*/ 5143500 h 5143500"/>
              <a:gd name="csX22" fmla="*/ 5302181 w 6426201"/>
              <a:gd name="csY22" fmla="*/ 5143500 h 5143500"/>
              <a:gd name="csX23" fmla="*/ 5337216 w 6426201"/>
              <a:gd name="csY23" fmla="*/ 5100594 h 5143500"/>
              <a:gd name="csX24" fmla="*/ 5301235 w 6426201"/>
              <a:gd name="csY24" fmla="*/ 4747164 h 5143500"/>
              <a:gd name="csX25" fmla="*/ 4903739 w 6426201"/>
              <a:gd name="csY25" fmla="*/ 4747164 h 5143500"/>
              <a:gd name="csX26" fmla="*/ 4507404 w 6426201"/>
              <a:gd name="csY26" fmla="*/ 5143500 h 5143500"/>
              <a:gd name="csX27" fmla="*/ 2917405 w 6426201"/>
              <a:gd name="csY27" fmla="*/ 5143500 h 5143500"/>
              <a:gd name="csX28" fmla="*/ 6037591 w 6426201"/>
              <a:gd name="csY28" fmla="*/ 2023176 h 5143500"/>
              <a:gd name="csX29" fmla="*/ 6037591 w 6426201"/>
              <a:gd name="csY29" fmla="*/ 1625681 h 5143500"/>
              <a:gd name="csX30" fmla="*/ 5640096 w 6426201"/>
              <a:gd name="csY30" fmla="*/ 1625681 h 5143500"/>
              <a:gd name="csX31" fmla="*/ 2121855 w 6426201"/>
              <a:gd name="csY31" fmla="*/ 5143500 h 5143500"/>
              <a:gd name="csX32" fmla="*/ 896983 w 6426201"/>
              <a:gd name="csY32" fmla="*/ 5143500 h 5143500"/>
              <a:gd name="csX33" fmla="*/ 893618 w 6426201"/>
              <a:gd name="csY33" fmla="*/ 5132153 h 5143500"/>
              <a:gd name="csX34" fmla="*/ 1048034 w 6426201"/>
              <a:gd name="csY34" fmla="*/ 4627306 h 5143500"/>
              <a:gd name="csX35" fmla="*/ 1361157 w 6426201"/>
              <a:gd name="csY35" fmla="*/ 4314183 h 5143500"/>
              <a:gd name="csX36" fmla="*/ 1361157 w 6426201"/>
              <a:gd name="csY36" fmla="*/ 3916686 h 5143500"/>
              <a:gd name="csX37" fmla="*/ 963661 w 6426201"/>
              <a:gd name="csY37" fmla="*/ 3916686 h 5143500"/>
              <a:gd name="csX38" fmla="*/ 959702 w 6426201"/>
              <a:gd name="csY38" fmla="*/ 3920647 h 5143500"/>
              <a:gd name="csX39" fmla="*/ 164711 w 6426201"/>
              <a:gd name="csY39" fmla="*/ 3920647 h 5143500"/>
              <a:gd name="csX40" fmla="*/ 164711 w 6426201"/>
              <a:gd name="csY40" fmla="*/ 3125656 h 5143500"/>
              <a:gd name="csX41" fmla="*/ 2106042 w 6426201"/>
              <a:gd name="csY41" fmla="*/ 1184171 h 5143500"/>
              <a:gd name="csX42" fmla="*/ 2106042 w 6426201"/>
              <a:gd name="csY42" fmla="*/ 786674 h 5143500"/>
              <a:gd name="csX43" fmla="*/ 1708546 w 6426201"/>
              <a:gd name="csY43" fmla="*/ 786674 h 5143500"/>
              <a:gd name="csX44" fmla="*/ 1326585 w 6426201"/>
              <a:gd name="csY44" fmla="*/ 1168636 h 5143500"/>
              <a:gd name="csX45" fmla="*/ 531594 w 6426201"/>
              <a:gd name="csY45" fmla="*/ 1168636 h 5143500"/>
              <a:gd name="csX46" fmla="*/ 531594 w 6426201"/>
              <a:gd name="csY46" fmla="*/ 373644 h 514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426201" h="5143500">
                <a:moveTo>
                  <a:pt x="905383" y="0"/>
                </a:moveTo>
                <a:lnTo>
                  <a:pt x="2497177" y="0"/>
                </a:lnTo>
                <a:lnTo>
                  <a:pt x="2467862" y="35902"/>
                </a:lnTo>
                <a:cubicBezTo>
                  <a:pt x="2395902" y="144966"/>
                  <a:pt x="2407895" y="293384"/>
                  <a:pt x="2503842" y="389331"/>
                </a:cubicBezTo>
                <a:cubicBezTo>
                  <a:pt x="2613496" y="498985"/>
                  <a:pt x="2791683" y="498985"/>
                  <a:pt x="2901337" y="389331"/>
                </a:cubicBezTo>
                <a:lnTo>
                  <a:pt x="3290630" y="0"/>
                </a:lnTo>
                <a:lnTo>
                  <a:pt x="4880482" y="0"/>
                </a:lnTo>
                <a:lnTo>
                  <a:pt x="1758651" y="3121695"/>
                </a:lnTo>
                <a:cubicBezTo>
                  <a:pt x="1648997" y="3231349"/>
                  <a:pt x="1648997" y="3409537"/>
                  <a:pt x="1758651" y="3519191"/>
                </a:cubicBezTo>
                <a:cubicBezTo>
                  <a:pt x="1868305" y="3628845"/>
                  <a:pt x="2046494" y="3628845"/>
                  <a:pt x="2156147" y="3519191"/>
                </a:cubicBezTo>
                <a:lnTo>
                  <a:pt x="5675617" y="0"/>
                </a:lnTo>
                <a:lnTo>
                  <a:pt x="6426201" y="0"/>
                </a:lnTo>
                <a:lnTo>
                  <a:pt x="6426201" y="841724"/>
                </a:lnTo>
                <a:lnTo>
                  <a:pt x="6399107" y="874906"/>
                </a:lnTo>
                <a:cubicBezTo>
                  <a:pt x="6337426" y="968391"/>
                  <a:pt x="6337426" y="1090787"/>
                  <a:pt x="6399107" y="1184271"/>
                </a:cubicBezTo>
                <a:lnTo>
                  <a:pt x="6426201" y="1217454"/>
                </a:lnTo>
                <a:lnTo>
                  <a:pt x="6426201" y="3224795"/>
                </a:lnTo>
                <a:lnTo>
                  <a:pt x="5698729" y="3952325"/>
                </a:lnTo>
                <a:cubicBezTo>
                  <a:pt x="5589076" y="4061979"/>
                  <a:pt x="5589076" y="4240166"/>
                  <a:pt x="5698729" y="4349820"/>
                </a:cubicBezTo>
                <a:cubicBezTo>
                  <a:pt x="5808383" y="4459475"/>
                  <a:pt x="5986572" y="4459475"/>
                  <a:pt x="6096226" y="4349820"/>
                </a:cubicBezTo>
                <a:lnTo>
                  <a:pt x="6426201" y="4019844"/>
                </a:lnTo>
                <a:lnTo>
                  <a:pt x="6426201" y="5143500"/>
                </a:lnTo>
                <a:lnTo>
                  <a:pt x="5302181" y="5143500"/>
                </a:lnTo>
                <a:lnTo>
                  <a:pt x="5337216" y="5100594"/>
                </a:lnTo>
                <a:cubicBezTo>
                  <a:pt x="5409176" y="4991529"/>
                  <a:pt x="5397183" y="4843112"/>
                  <a:pt x="5301235" y="4747164"/>
                </a:cubicBezTo>
                <a:cubicBezTo>
                  <a:pt x="5191581" y="4637510"/>
                  <a:pt x="5013393" y="4637510"/>
                  <a:pt x="4903739" y="4747164"/>
                </a:cubicBezTo>
                <a:lnTo>
                  <a:pt x="4507404" y="5143500"/>
                </a:lnTo>
                <a:lnTo>
                  <a:pt x="2917405" y="5143500"/>
                </a:lnTo>
                <a:lnTo>
                  <a:pt x="6037591" y="2023176"/>
                </a:lnTo>
                <a:cubicBezTo>
                  <a:pt x="6147246" y="1913522"/>
                  <a:pt x="6147246" y="1735335"/>
                  <a:pt x="6037591" y="1625681"/>
                </a:cubicBezTo>
                <a:cubicBezTo>
                  <a:pt x="5927938" y="1516027"/>
                  <a:pt x="5749749" y="1516027"/>
                  <a:pt x="5640096" y="1625681"/>
                </a:cubicBezTo>
                <a:lnTo>
                  <a:pt x="2121855" y="5143500"/>
                </a:lnTo>
                <a:lnTo>
                  <a:pt x="896983" y="5143500"/>
                </a:lnTo>
                <a:lnTo>
                  <a:pt x="893618" y="5132153"/>
                </a:lnTo>
                <a:cubicBezTo>
                  <a:pt x="859304" y="4955007"/>
                  <a:pt x="910776" y="4764564"/>
                  <a:pt x="1048034" y="4627306"/>
                </a:cubicBezTo>
                <a:lnTo>
                  <a:pt x="1361157" y="4314183"/>
                </a:lnTo>
                <a:cubicBezTo>
                  <a:pt x="1470811" y="4204529"/>
                  <a:pt x="1470811" y="4026342"/>
                  <a:pt x="1361157" y="3916686"/>
                </a:cubicBezTo>
                <a:cubicBezTo>
                  <a:pt x="1251503" y="3807032"/>
                  <a:pt x="1073314" y="3807032"/>
                  <a:pt x="963661" y="3916686"/>
                </a:cubicBezTo>
                <a:lnTo>
                  <a:pt x="959702" y="3920647"/>
                </a:lnTo>
                <a:cubicBezTo>
                  <a:pt x="740088" y="4140107"/>
                  <a:pt x="384322" y="4140107"/>
                  <a:pt x="164711" y="3920647"/>
                </a:cubicBezTo>
                <a:cubicBezTo>
                  <a:pt x="-54903" y="3701034"/>
                  <a:pt x="-54903" y="3345115"/>
                  <a:pt x="164711" y="3125656"/>
                </a:cubicBezTo>
                <a:lnTo>
                  <a:pt x="2106042" y="1184171"/>
                </a:lnTo>
                <a:cubicBezTo>
                  <a:pt x="2215696" y="1074517"/>
                  <a:pt x="2215696" y="896328"/>
                  <a:pt x="2106042" y="786674"/>
                </a:cubicBezTo>
                <a:cubicBezTo>
                  <a:pt x="1996388" y="677020"/>
                  <a:pt x="1818200" y="677020"/>
                  <a:pt x="1708546" y="786674"/>
                </a:cubicBezTo>
                <a:lnTo>
                  <a:pt x="1326585" y="1168636"/>
                </a:lnTo>
                <a:cubicBezTo>
                  <a:pt x="1106973" y="1388249"/>
                  <a:pt x="751207" y="1388249"/>
                  <a:pt x="531594" y="1168636"/>
                </a:cubicBezTo>
                <a:cubicBezTo>
                  <a:pt x="311983" y="949024"/>
                  <a:pt x="311983" y="593258"/>
                  <a:pt x="531594" y="373644"/>
                </a:cubicBezTo>
                <a:close/>
              </a:path>
            </a:pathLst>
          </a:custGeom>
          <a:solidFill>
            <a:srgbClr val="FFFF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5" name="_text_title">
            <a:extLst>
              <a:ext uri="{FF2B5EF4-FFF2-40B4-BE49-F238E27FC236}">
                <a16:creationId xmlns:a16="http://schemas.microsoft.com/office/drawing/2014/main" id="{9A9350D6-202F-DCA6-04C4-F3F8A523D648}"/>
              </a:ext>
            </a:extLst>
          </p:cNvPr>
          <p:cNvSpPr txBox="1">
            <a:spLocks noGrp="1"/>
          </p:cNvSpPr>
          <p:nvPr>
            <p:ph type="ctrTitle"/>
          </p:nvPr>
        </p:nvSpPr>
        <p:spPr>
          <a:xfrm>
            <a:off x="589500" y="724453"/>
            <a:ext cx="8402846" cy="430887"/>
          </a:xfrm>
          <a:prstGeom prst="rect">
            <a:avLst/>
          </a:prstGeom>
        </p:spPr>
        <p:txBody>
          <a:bodyPr spcFirstLastPara="1" wrap="square" lIns="91425" tIns="0" rIns="91425" bIns="0" anchor="b" anchorCtr="0">
            <a:spAutoFit/>
          </a:bodyPr>
          <a:lstStyle/>
          <a:p>
            <a:pPr marL="0" lvl="0" indent="0" algn="l" rtl="0">
              <a:spcBef>
                <a:spcPts val="0"/>
              </a:spcBef>
              <a:spcAft>
                <a:spcPts val="0"/>
              </a:spcAft>
              <a:buSzPts val="990"/>
              <a:buNone/>
            </a:pPr>
            <a:r>
              <a:rPr lang="sr" sz="2800" spc="-150" dirty="0">
                <a:solidFill>
                  <a:schemeClr val="lt1">
                    <a:alpha val="90000"/>
                  </a:schemeClr>
                </a:solidFill>
                <a:latin typeface="Montserrat Black" panose="00000A00000000000000" pitchFamily="2" charset="0"/>
                <a:ea typeface="Montserrat"/>
                <a:cs typeface="Montserrat"/>
                <a:sym typeface="Montserrat"/>
              </a:rPr>
              <a:t>Kvalitet citata</a:t>
            </a:r>
            <a:endParaRPr sz="2800" spc="-150" dirty="0">
              <a:solidFill>
                <a:schemeClr val="lt1">
                  <a:alpha val="90000"/>
                </a:schemeClr>
              </a:solidFill>
              <a:latin typeface="Montserrat Black" panose="00000A00000000000000" pitchFamily="2" charset="0"/>
              <a:ea typeface="Montserrat"/>
              <a:cs typeface="Montserrat"/>
              <a:sym typeface="Montserrat"/>
            </a:endParaRPr>
          </a:p>
        </p:txBody>
      </p:sp>
      <p:sp>
        <p:nvSpPr>
          <p:cNvPr id="76" name="_text_subtitle">
            <a:extLst>
              <a:ext uri="{FF2B5EF4-FFF2-40B4-BE49-F238E27FC236}">
                <a16:creationId xmlns:a16="http://schemas.microsoft.com/office/drawing/2014/main" id="{89B0C66B-98BD-4D0C-58A2-B37A07AD43A4}"/>
              </a:ext>
            </a:extLst>
          </p:cNvPr>
          <p:cNvSpPr txBox="1">
            <a:spLocks noGrp="1"/>
          </p:cNvSpPr>
          <p:nvPr>
            <p:ph type="subTitle" idx="1"/>
          </p:nvPr>
        </p:nvSpPr>
        <p:spPr>
          <a:xfrm>
            <a:off x="589500" y="1158219"/>
            <a:ext cx="8402846" cy="307777"/>
          </a:xfrm>
          <a:prstGeom prst="rect">
            <a:avLst/>
          </a:prstGeom>
        </p:spPr>
        <p:txBody>
          <a:bodyPr spcFirstLastPara="1" wrap="square" lIns="91425" tIns="0" rIns="91425" bIns="0" anchor="t" anchorCtr="0">
            <a:spAutoFit/>
          </a:bodyPr>
          <a:lstStyle/>
          <a:p>
            <a:pPr marL="0" lvl="0" indent="0" algn="l" rtl="0">
              <a:spcBef>
                <a:spcPts val="0"/>
              </a:spcBef>
              <a:spcAft>
                <a:spcPts val="0"/>
              </a:spcAft>
              <a:buNone/>
            </a:pPr>
            <a:r>
              <a:rPr lang="sr" sz="2000" dirty="0">
                <a:solidFill>
                  <a:schemeClr val="lt1"/>
                </a:solidFill>
                <a:latin typeface="Montserrat" panose="00000500000000000000" pitchFamily="2" charset="0"/>
                <a:ea typeface="Lato"/>
                <a:cs typeface="Lato"/>
                <a:sym typeface="Lato"/>
              </a:rPr>
              <a:t>Citat nije ukras: mora da podrži tvrdnju</a:t>
            </a:r>
            <a:endParaRPr sz="2000" dirty="0">
              <a:solidFill>
                <a:schemeClr val="lt1"/>
              </a:solidFill>
              <a:latin typeface="Montserrat" panose="00000500000000000000" pitchFamily="2" charset="0"/>
              <a:ea typeface="Lato"/>
              <a:cs typeface="Lato"/>
              <a:sym typeface="Lato"/>
            </a:endParaRPr>
          </a:p>
        </p:txBody>
      </p:sp>
      <p:sp>
        <p:nvSpPr>
          <p:cNvPr id="77" name="_text_main_content">
            <a:extLst>
              <a:ext uri="{FF2B5EF4-FFF2-40B4-BE49-F238E27FC236}">
                <a16:creationId xmlns:a16="http://schemas.microsoft.com/office/drawing/2014/main" id="{01CCEE04-B5AA-8998-D5AD-F320F727EDBA}"/>
              </a:ext>
            </a:extLst>
          </p:cNvPr>
          <p:cNvSpPr txBox="1"/>
          <p:nvPr/>
        </p:nvSpPr>
        <p:spPr>
          <a:xfrm>
            <a:off x="589500" y="1648741"/>
            <a:ext cx="7914900" cy="252373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800"/>
              </a:spcAft>
              <a:buNone/>
            </a:pPr>
            <a:r>
              <a:rPr lang="sr" sz="1200" dirty="0">
                <a:solidFill>
                  <a:srgbClr val="D1E2ED"/>
                </a:solidFill>
                <a:latin typeface="Lato"/>
                <a:ea typeface="Lato"/>
                <a:cs typeface="Lato"/>
                <a:sym typeface="Lato"/>
              </a:rPr>
              <a:t>Dobar citat ispunjava tri uslova. Podržava tvrdnju: citirani chunk zaista sadrži informaciju iz odgovora. Precizan je: citira se deo koji nosi odgovor, a ne ceo spisak dohvaćenih delova. Proverljiv je: iz ID-ja ili naslova korisnik može da pronađe izvor.</a:t>
            </a:r>
            <a:endParaRPr sz="1200" dirty="0">
              <a:solidFill>
                <a:srgbClr val="D1E2ED"/>
              </a:solidFill>
              <a:latin typeface="Lato"/>
              <a:ea typeface="Lato"/>
              <a:cs typeface="Lato"/>
              <a:sym typeface="Lato"/>
            </a:endParaRPr>
          </a:p>
          <a:p>
            <a:pPr marL="0" lvl="0" indent="0" algn="l" rtl="0">
              <a:spcBef>
                <a:spcPts val="0"/>
              </a:spcBef>
              <a:spcAft>
                <a:spcPts val="800"/>
              </a:spcAft>
              <a:buNone/>
            </a:pPr>
            <a:endParaRPr sz="1200" dirty="0">
              <a:solidFill>
                <a:srgbClr val="D1E2ED"/>
              </a:solidFill>
              <a:latin typeface="Lato"/>
              <a:ea typeface="Lato"/>
              <a:cs typeface="Lato"/>
              <a:sym typeface="Lato"/>
            </a:endParaRPr>
          </a:p>
          <a:p>
            <a:pPr marL="0" lvl="0" indent="0" algn="l" rtl="0">
              <a:spcBef>
                <a:spcPts val="0"/>
              </a:spcBef>
              <a:spcAft>
                <a:spcPts val="800"/>
              </a:spcAft>
              <a:buNone/>
            </a:pPr>
            <a:r>
              <a:rPr lang="sr" sz="1200" dirty="0">
                <a:solidFill>
                  <a:srgbClr val="D1E2ED"/>
                </a:solidFill>
                <a:latin typeface="Lato"/>
                <a:ea typeface="Lato"/>
                <a:cs typeface="Lato"/>
                <a:sym typeface="Lato"/>
              </a:rPr>
              <a:t>Čest propust je citiranje sa dopunom: sistem citira sve top-k rezultate, i one koji nemaju veze sa pitanjem. Odgovor tada izgleda bolje utemeljen nego što jeste. Merimo preciznost citata: koji udeo citiranih chunk-ova potiče iz dokumenata koji stvarno sadrže odgovor.</a:t>
            </a:r>
            <a:endParaRPr sz="1200" dirty="0">
              <a:solidFill>
                <a:srgbClr val="D1E2ED"/>
              </a:solidFill>
              <a:latin typeface="Lato"/>
              <a:ea typeface="Lato"/>
              <a:cs typeface="Lato"/>
              <a:sym typeface="Lato"/>
            </a:endParaRPr>
          </a:p>
        </p:txBody>
      </p:sp>
      <p:sp>
        <p:nvSpPr>
          <p:cNvPr id="3" name="Graphic 4">
            <a:extLst>
              <a:ext uri="{FF2B5EF4-FFF2-40B4-BE49-F238E27FC236}">
                <a16:creationId xmlns:a16="http://schemas.microsoft.com/office/drawing/2014/main" id="{196CB132-CCD2-8F8E-0354-6FEF50E45CED}"/>
              </a:ext>
            </a:extLst>
          </p:cNvPr>
          <p:cNvSpPr/>
          <p:nvPr/>
        </p:nvSpPr>
        <p:spPr>
          <a:xfrm>
            <a:off x="213083" y="343327"/>
            <a:ext cx="180000" cy="180000"/>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alpha val="95000"/>
            </a:srgbClr>
          </a:solidFill>
          <a:ln w="9525" cap="flat">
            <a:noFill/>
            <a:prstDash val="solid"/>
            <a:miter/>
          </a:ln>
        </p:spPr>
        <p:txBody>
          <a:bodyPr/>
          <a:lstStyle/>
          <a:p>
            <a:endParaRPr lang="en-GB"/>
          </a:p>
        </p:txBody>
      </p:sp>
      <p:pic>
        <p:nvPicPr>
          <p:cNvPr id="78" name="_image_small_company_logo" descr="EPAM"/>
          <p:cNvPicPr>
            <a:picLocks noChangeAspect="1"/>
          </p:cNvPicPr>
          <p:nvPr/>
        </p:nvPicPr>
        <p:blipFill>
          <a:blip r:embed="rId4"/>
          <a:stretch>
            <a:fillRect/>
          </a:stretch>
        </p:blipFill>
        <p:spPr>
          <a:xfrm>
            <a:off x="490324" y="344427"/>
            <a:ext cx="504923" cy="177800"/>
          </a:xfrm>
          <a:prstGeom prst="rect">
            <a:avLst/>
          </a:prstGeom>
        </p:spPr>
      </p:pic>
      <p:sp>
        <p:nvSpPr>
          <p:cNvPr id="9" name="_text_section">
            <a:extLst>
              <a:ext uri="{FF2B5EF4-FFF2-40B4-BE49-F238E27FC236}">
                <a16:creationId xmlns:a16="http://schemas.microsoft.com/office/drawing/2014/main" id="{EB8B8E35-59BE-97C9-309E-BC2EEE79BB0D}"/>
              </a:ext>
            </a:extLst>
          </p:cNvPr>
          <p:cNvSpPr txBox="1">
            <a:spLocks/>
          </p:cNvSpPr>
          <p:nvPr/>
        </p:nvSpPr>
        <p:spPr>
          <a:xfrm>
            <a:off x="5927725" y="4663806"/>
            <a:ext cx="2564917" cy="15388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9pPr>
          </a:lstStyle>
          <a:p>
            <a:pPr marL="0" indent="0" algn="r"/>
            <a:r>
              <a:rPr lang="sr-Latn-RS" sz="1000" dirty="0">
                <a:solidFill>
                  <a:schemeClr val="lt1"/>
                </a:solidFill>
                <a:latin typeface="Lato"/>
                <a:ea typeface="Lato"/>
                <a:cs typeface="Lato"/>
                <a:sym typeface="Lato"/>
              </a:rPr>
              <a:t>Propusti</a:t>
            </a:r>
            <a:endParaRPr lang="en-GB" sz="1000" dirty="0">
              <a:solidFill>
                <a:schemeClr val="lt1"/>
              </a:solidFill>
              <a:latin typeface="Lato"/>
              <a:ea typeface="Lato"/>
              <a:cs typeface="Lato"/>
              <a:sym typeface="Lato"/>
            </a:endParaRPr>
          </a:p>
        </p:txBody>
      </p:sp>
      <p:sp>
        <p:nvSpPr>
          <p:cNvPr id="5" name="_text_page">
            <a:extLst>
              <a:ext uri="{FF2B5EF4-FFF2-40B4-BE49-F238E27FC236}">
                <a16:creationId xmlns:a16="http://schemas.microsoft.com/office/drawing/2014/main" id="{3C682F78-0194-56CA-EE15-FF0DD081B353}"/>
              </a:ext>
            </a:extLst>
          </p:cNvPr>
          <p:cNvSpPr txBox="1"/>
          <p:nvPr/>
        </p:nvSpPr>
        <p:spPr>
          <a:xfrm>
            <a:off x="8492643" y="4500000"/>
            <a:ext cx="469800" cy="481500"/>
          </a:xfrm>
          <a:prstGeom prst="rect">
            <a:avLst/>
          </a:prstGeom>
          <a:noFill/>
          <a:ln>
            <a:noFill/>
          </a:ln>
        </p:spPr>
        <p:txBody>
          <a:bodyPr spcFirstLastPara="1" wrap="square" lIns="0" tIns="91425" rIns="0" bIns="91425" anchor="t" anchorCtr="0">
            <a:noAutofit/>
          </a:bodyPr>
          <a:lstStyle/>
          <a:p>
            <a:pPr marL="0" lvl="0" indent="0" algn="ctr" rtl="0">
              <a:spcBef>
                <a:spcPts val="0"/>
              </a:spcBef>
              <a:spcAft>
                <a:spcPts val="0"/>
              </a:spcAft>
              <a:buNone/>
            </a:pPr>
            <a:r>
              <a:rPr lang="sr" sz="1800" dirty="0">
                <a:solidFill>
                  <a:schemeClr val="lt1"/>
                </a:solidFill>
                <a:latin typeface="Montserrat"/>
                <a:ea typeface="Montserrat"/>
                <a:cs typeface="Montserrat"/>
                <a:sym typeface="Montserrat"/>
              </a:rPr>
              <a:t>1</a:t>
            </a:r>
            <a:r>
              <a:rPr lang="en-US" sz="1800" dirty="0">
                <a:solidFill>
                  <a:schemeClr val="lt1"/>
                </a:solidFill>
                <a:latin typeface="Montserrat"/>
                <a:ea typeface="Montserrat"/>
                <a:cs typeface="Montserrat"/>
                <a:sym typeface="Montserrat"/>
              </a:rPr>
              <a:t>7</a:t>
            </a:r>
            <a:endParaRPr sz="1800" dirty="0">
              <a:solidFill>
                <a:schemeClr val="lt1"/>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9000" r="-29000"/>
          </a:stretch>
        </a:blip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2BF515C-563B-979D-9C67-04BB26B2F6A2}"/>
              </a:ext>
            </a:extLst>
          </p:cNvPr>
          <p:cNvSpPr/>
          <p:nvPr/>
        </p:nvSpPr>
        <p:spPr>
          <a:xfrm>
            <a:off x="2717800" y="0"/>
            <a:ext cx="6426201" cy="5143500"/>
          </a:xfrm>
          <a:custGeom>
            <a:avLst/>
            <a:gdLst>
              <a:gd name="csX0" fmla="*/ 905383 w 6426201"/>
              <a:gd name="csY0" fmla="*/ 0 h 5143500"/>
              <a:gd name="csX1" fmla="*/ 2497177 w 6426201"/>
              <a:gd name="csY1" fmla="*/ 0 h 5143500"/>
              <a:gd name="csX2" fmla="*/ 2467862 w 6426201"/>
              <a:gd name="csY2" fmla="*/ 35902 h 5143500"/>
              <a:gd name="csX3" fmla="*/ 2503842 w 6426201"/>
              <a:gd name="csY3" fmla="*/ 389331 h 5143500"/>
              <a:gd name="csX4" fmla="*/ 2901337 w 6426201"/>
              <a:gd name="csY4" fmla="*/ 389331 h 5143500"/>
              <a:gd name="csX5" fmla="*/ 3290630 w 6426201"/>
              <a:gd name="csY5" fmla="*/ 0 h 5143500"/>
              <a:gd name="csX6" fmla="*/ 4880482 w 6426201"/>
              <a:gd name="csY6" fmla="*/ 0 h 5143500"/>
              <a:gd name="csX7" fmla="*/ 1758651 w 6426201"/>
              <a:gd name="csY7" fmla="*/ 3121695 h 5143500"/>
              <a:gd name="csX8" fmla="*/ 1758651 w 6426201"/>
              <a:gd name="csY8" fmla="*/ 3519191 h 5143500"/>
              <a:gd name="csX9" fmla="*/ 2156147 w 6426201"/>
              <a:gd name="csY9" fmla="*/ 3519191 h 5143500"/>
              <a:gd name="csX10" fmla="*/ 5675617 w 6426201"/>
              <a:gd name="csY10" fmla="*/ 0 h 5143500"/>
              <a:gd name="csX11" fmla="*/ 6426201 w 6426201"/>
              <a:gd name="csY11" fmla="*/ 0 h 5143500"/>
              <a:gd name="csX12" fmla="*/ 6426201 w 6426201"/>
              <a:gd name="csY12" fmla="*/ 841724 h 5143500"/>
              <a:gd name="csX13" fmla="*/ 6399107 w 6426201"/>
              <a:gd name="csY13" fmla="*/ 874906 h 5143500"/>
              <a:gd name="csX14" fmla="*/ 6399107 w 6426201"/>
              <a:gd name="csY14" fmla="*/ 1184271 h 5143500"/>
              <a:gd name="csX15" fmla="*/ 6426201 w 6426201"/>
              <a:gd name="csY15" fmla="*/ 1217454 h 5143500"/>
              <a:gd name="csX16" fmla="*/ 6426201 w 6426201"/>
              <a:gd name="csY16" fmla="*/ 3224795 h 5143500"/>
              <a:gd name="csX17" fmla="*/ 5698729 w 6426201"/>
              <a:gd name="csY17" fmla="*/ 3952325 h 5143500"/>
              <a:gd name="csX18" fmla="*/ 5698729 w 6426201"/>
              <a:gd name="csY18" fmla="*/ 4349820 h 5143500"/>
              <a:gd name="csX19" fmla="*/ 6096226 w 6426201"/>
              <a:gd name="csY19" fmla="*/ 4349820 h 5143500"/>
              <a:gd name="csX20" fmla="*/ 6426201 w 6426201"/>
              <a:gd name="csY20" fmla="*/ 4019844 h 5143500"/>
              <a:gd name="csX21" fmla="*/ 6426201 w 6426201"/>
              <a:gd name="csY21" fmla="*/ 5143500 h 5143500"/>
              <a:gd name="csX22" fmla="*/ 5302181 w 6426201"/>
              <a:gd name="csY22" fmla="*/ 5143500 h 5143500"/>
              <a:gd name="csX23" fmla="*/ 5337216 w 6426201"/>
              <a:gd name="csY23" fmla="*/ 5100594 h 5143500"/>
              <a:gd name="csX24" fmla="*/ 5301235 w 6426201"/>
              <a:gd name="csY24" fmla="*/ 4747164 h 5143500"/>
              <a:gd name="csX25" fmla="*/ 4903739 w 6426201"/>
              <a:gd name="csY25" fmla="*/ 4747164 h 5143500"/>
              <a:gd name="csX26" fmla="*/ 4507404 w 6426201"/>
              <a:gd name="csY26" fmla="*/ 5143500 h 5143500"/>
              <a:gd name="csX27" fmla="*/ 2917405 w 6426201"/>
              <a:gd name="csY27" fmla="*/ 5143500 h 5143500"/>
              <a:gd name="csX28" fmla="*/ 6037591 w 6426201"/>
              <a:gd name="csY28" fmla="*/ 2023176 h 5143500"/>
              <a:gd name="csX29" fmla="*/ 6037591 w 6426201"/>
              <a:gd name="csY29" fmla="*/ 1625681 h 5143500"/>
              <a:gd name="csX30" fmla="*/ 5640096 w 6426201"/>
              <a:gd name="csY30" fmla="*/ 1625681 h 5143500"/>
              <a:gd name="csX31" fmla="*/ 2121855 w 6426201"/>
              <a:gd name="csY31" fmla="*/ 5143500 h 5143500"/>
              <a:gd name="csX32" fmla="*/ 896983 w 6426201"/>
              <a:gd name="csY32" fmla="*/ 5143500 h 5143500"/>
              <a:gd name="csX33" fmla="*/ 893618 w 6426201"/>
              <a:gd name="csY33" fmla="*/ 5132153 h 5143500"/>
              <a:gd name="csX34" fmla="*/ 1048034 w 6426201"/>
              <a:gd name="csY34" fmla="*/ 4627306 h 5143500"/>
              <a:gd name="csX35" fmla="*/ 1361157 w 6426201"/>
              <a:gd name="csY35" fmla="*/ 4314183 h 5143500"/>
              <a:gd name="csX36" fmla="*/ 1361157 w 6426201"/>
              <a:gd name="csY36" fmla="*/ 3916686 h 5143500"/>
              <a:gd name="csX37" fmla="*/ 963661 w 6426201"/>
              <a:gd name="csY37" fmla="*/ 3916686 h 5143500"/>
              <a:gd name="csX38" fmla="*/ 959702 w 6426201"/>
              <a:gd name="csY38" fmla="*/ 3920647 h 5143500"/>
              <a:gd name="csX39" fmla="*/ 164711 w 6426201"/>
              <a:gd name="csY39" fmla="*/ 3920647 h 5143500"/>
              <a:gd name="csX40" fmla="*/ 164711 w 6426201"/>
              <a:gd name="csY40" fmla="*/ 3125656 h 5143500"/>
              <a:gd name="csX41" fmla="*/ 2106042 w 6426201"/>
              <a:gd name="csY41" fmla="*/ 1184171 h 5143500"/>
              <a:gd name="csX42" fmla="*/ 2106042 w 6426201"/>
              <a:gd name="csY42" fmla="*/ 786674 h 5143500"/>
              <a:gd name="csX43" fmla="*/ 1708546 w 6426201"/>
              <a:gd name="csY43" fmla="*/ 786674 h 5143500"/>
              <a:gd name="csX44" fmla="*/ 1326585 w 6426201"/>
              <a:gd name="csY44" fmla="*/ 1168636 h 5143500"/>
              <a:gd name="csX45" fmla="*/ 531594 w 6426201"/>
              <a:gd name="csY45" fmla="*/ 1168636 h 5143500"/>
              <a:gd name="csX46" fmla="*/ 531594 w 6426201"/>
              <a:gd name="csY46" fmla="*/ 373644 h 514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426201" h="5143500">
                <a:moveTo>
                  <a:pt x="905383" y="0"/>
                </a:moveTo>
                <a:lnTo>
                  <a:pt x="2497177" y="0"/>
                </a:lnTo>
                <a:lnTo>
                  <a:pt x="2467862" y="35902"/>
                </a:lnTo>
                <a:cubicBezTo>
                  <a:pt x="2395902" y="144966"/>
                  <a:pt x="2407895" y="293384"/>
                  <a:pt x="2503842" y="389331"/>
                </a:cubicBezTo>
                <a:cubicBezTo>
                  <a:pt x="2613496" y="498985"/>
                  <a:pt x="2791683" y="498985"/>
                  <a:pt x="2901337" y="389331"/>
                </a:cubicBezTo>
                <a:lnTo>
                  <a:pt x="3290630" y="0"/>
                </a:lnTo>
                <a:lnTo>
                  <a:pt x="4880482" y="0"/>
                </a:lnTo>
                <a:lnTo>
                  <a:pt x="1758651" y="3121695"/>
                </a:lnTo>
                <a:cubicBezTo>
                  <a:pt x="1648997" y="3231349"/>
                  <a:pt x="1648997" y="3409537"/>
                  <a:pt x="1758651" y="3519191"/>
                </a:cubicBezTo>
                <a:cubicBezTo>
                  <a:pt x="1868305" y="3628845"/>
                  <a:pt x="2046494" y="3628845"/>
                  <a:pt x="2156147" y="3519191"/>
                </a:cubicBezTo>
                <a:lnTo>
                  <a:pt x="5675617" y="0"/>
                </a:lnTo>
                <a:lnTo>
                  <a:pt x="6426201" y="0"/>
                </a:lnTo>
                <a:lnTo>
                  <a:pt x="6426201" y="841724"/>
                </a:lnTo>
                <a:lnTo>
                  <a:pt x="6399107" y="874906"/>
                </a:lnTo>
                <a:cubicBezTo>
                  <a:pt x="6337426" y="968391"/>
                  <a:pt x="6337426" y="1090787"/>
                  <a:pt x="6399107" y="1184271"/>
                </a:cubicBezTo>
                <a:lnTo>
                  <a:pt x="6426201" y="1217454"/>
                </a:lnTo>
                <a:lnTo>
                  <a:pt x="6426201" y="3224795"/>
                </a:lnTo>
                <a:lnTo>
                  <a:pt x="5698729" y="3952325"/>
                </a:lnTo>
                <a:cubicBezTo>
                  <a:pt x="5589076" y="4061979"/>
                  <a:pt x="5589076" y="4240166"/>
                  <a:pt x="5698729" y="4349820"/>
                </a:cubicBezTo>
                <a:cubicBezTo>
                  <a:pt x="5808383" y="4459475"/>
                  <a:pt x="5986572" y="4459475"/>
                  <a:pt x="6096226" y="4349820"/>
                </a:cubicBezTo>
                <a:lnTo>
                  <a:pt x="6426201" y="4019844"/>
                </a:lnTo>
                <a:lnTo>
                  <a:pt x="6426201" y="5143500"/>
                </a:lnTo>
                <a:lnTo>
                  <a:pt x="5302181" y="5143500"/>
                </a:lnTo>
                <a:lnTo>
                  <a:pt x="5337216" y="5100594"/>
                </a:lnTo>
                <a:cubicBezTo>
                  <a:pt x="5409176" y="4991529"/>
                  <a:pt x="5397183" y="4843112"/>
                  <a:pt x="5301235" y="4747164"/>
                </a:cubicBezTo>
                <a:cubicBezTo>
                  <a:pt x="5191581" y="4637510"/>
                  <a:pt x="5013393" y="4637510"/>
                  <a:pt x="4903739" y="4747164"/>
                </a:cubicBezTo>
                <a:lnTo>
                  <a:pt x="4507404" y="5143500"/>
                </a:lnTo>
                <a:lnTo>
                  <a:pt x="2917405" y="5143500"/>
                </a:lnTo>
                <a:lnTo>
                  <a:pt x="6037591" y="2023176"/>
                </a:lnTo>
                <a:cubicBezTo>
                  <a:pt x="6147246" y="1913522"/>
                  <a:pt x="6147246" y="1735335"/>
                  <a:pt x="6037591" y="1625681"/>
                </a:cubicBezTo>
                <a:cubicBezTo>
                  <a:pt x="5927938" y="1516027"/>
                  <a:pt x="5749749" y="1516027"/>
                  <a:pt x="5640096" y="1625681"/>
                </a:cubicBezTo>
                <a:lnTo>
                  <a:pt x="2121855" y="5143500"/>
                </a:lnTo>
                <a:lnTo>
                  <a:pt x="896983" y="5143500"/>
                </a:lnTo>
                <a:lnTo>
                  <a:pt x="893618" y="5132153"/>
                </a:lnTo>
                <a:cubicBezTo>
                  <a:pt x="859304" y="4955007"/>
                  <a:pt x="910776" y="4764564"/>
                  <a:pt x="1048034" y="4627306"/>
                </a:cubicBezTo>
                <a:lnTo>
                  <a:pt x="1361157" y="4314183"/>
                </a:lnTo>
                <a:cubicBezTo>
                  <a:pt x="1470811" y="4204529"/>
                  <a:pt x="1470811" y="4026342"/>
                  <a:pt x="1361157" y="3916686"/>
                </a:cubicBezTo>
                <a:cubicBezTo>
                  <a:pt x="1251503" y="3807032"/>
                  <a:pt x="1073314" y="3807032"/>
                  <a:pt x="963661" y="3916686"/>
                </a:cubicBezTo>
                <a:lnTo>
                  <a:pt x="959702" y="3920647"/>
                </a:lnTo>
                <a:cubicBezTo>
                  <a:pt x="740088" y="4140107"/>
                  <a:pt x="384322" y="4140107"/>
                  <a:pt x="164711" y="3920647"/>
                </a:cubicBezTo>
                <a:cubicBezTo>
                  <a:pt x="-54903" y="3701034"/>
                  <a:pt x="-54903" y="3345115"/>
                  <a:pt x="164711" y="3125656"/>
                </a:cubicBezTo>
                <a:lnTo>
                  <a:pt x="2106042" y="1184171"/>
                </a:lnTo>
                <a:cubicBezTo>
                  <a:pt x="2215696" y="1074517"/>
                  <a:pt x="2215696" y="896328"/>
                  <a:pt x="2106042" y="786674"/>
                </a:cubicBezTo>
                <a:cubicBezTo>
                  <a:pt x="1996388" y="677020"/>
                  <a:pt x="1818200" y="677020"/>
                  <a:pt x="1708546" y="786674"/>
                </a:cubicBezTo>
                <a:lnTo>
                  <a:pt x="1326585" y="1168636"/>
                </a:lnTo>
                <a:cubicBezTo>
                  <a:pt x="1106973" y="1388249"/>
                  <a:pt x="751207" y="1388249"/>
                  <a:pt x="531594" y="1168636"/>
                </a:cubicBezTo>
                <a:cubicBezTo>
                  <a:pt x="311983" y="949024"/>
                  <a:pt x="311983" y="593258"/>
                  <a:pt x="531594" y="373644"/>
                </a:cubicBezTo>
                <a:close/>
              </a:path>
            </a:pathLst>
          </a:custGeom>
          <a:solidFill>
            <a:srgbClr val="FFFF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 name="_text_title">
            <a:extLst>
              <a:ext uri="{FF2B5EF4-FFF2-40B4-BE49-F238E27FC236}">
                <a16:creationId xmlns:a16="http://schemas.microsoft.com/office/drawing/2014/main" id="{6F6B512F-576E-521F-9547-D4EB4DB18981}"/>
              </a:ext>
            </a:extLst>
          </p:cNvPr>
          <p:cNvSpPr txBox="1">
            <a:spLocks/>
          </p:cNvSpPr>
          <p:nvPr/>
        </p:nvSpPr>
        <p:spPr>
          <a:xfrm>
            <a:off x="589500" y="724453"/>
            <a:ext cx="8402846" cy="430887"/>
          </a:xfrm>
          <a:prstGeom prst="rect">
            <a:avLst/>
          </a:prstGeom>
          <a:noFill/>
          <a:ln>
            <a:noFill/>
          </a:ln>
        </p:spPr>
        <p:txBody>
          <a:bodyPr spcFirstLastPara="1" wrap="square" lIns="91425" tIns="0" rIns="91425" bIns="0" anchor="b" anchorCtr="0">
            <a:sp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9pPr>
          </a:lstStyle>
          <a:p>
            <a:pPr algn="l">
              <a:buSzPts val="990"/>
            </a:pPr>
            <a:r>
              <a:rPr lang="en-GB" sz="2800" spc="-150" dirty="0">
                <a:solidFill>
                  <a:schemeClr val="lt1">
                    <a:alpha val="90000"/>
                  </a:schemeClr>
                </a:solidFill>
                <a:latin typeface="Montserrat Black" panose="00000A00000000000000" pitchFamily="2" charset="0"/>
                <a:ea typeface="Montserrat"/>
                <a:cs typeface="Montserrat"/>
                <a:sym typeface="Montserrat"/>
              </a:rPr>
              <a:t>Kvalitet odbijanja</a:t>
            </a:r>
          </a:p>
        </p:txBody>
      </p:sp>
      <p:sp>
        <p:nvSpPr>
          <p:cNvPr id="9" name="_text_subtitle">
            <a:extLst>
              <a:ext uri="{FF2B5EF4-FFF2-40B4-BE49-F238E27FC236}">
                <a16:creationId xmlns:a16="http://schemas.microsoft.com/office/drawing/2014/main" id="{C3828B17-F705-5B83-D8D5-9EF6EAA45FB3}"/>
              </a:ext>
            </a:extLst>
          </p:cNvPr>
          <p:cNvSpPr txBox="1">
            <a:spLocks/>
          </p:cNvSpPr>
          <p:nvPr/>
        </p:nvSpPr>
        <p:spPr>
          <a:xfrm>
            <a:off x="589500" y="1158219"/>
            <a:ext cx="8402846" cy="307777"/>
          </a:xfrm>
          <a:prstGeom prst="rect">
            <a:avLst/>
          </a:prstGeom>
          <a:noFill/>
          <a:ln>
            <a:noFill/>
          </a:ln>
        </p:spPr>
        <p:txBody>
          <a:bodyPr spcFirstLastPara="1" wrap="square" lIns="91425" tIns="0" rIns="91425" bIns="0" anchor="t" anchorCtr="0">
            <a:sp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9pPr>
          </a:lstStyle>
          <a:p>
            <a:pPr marL="0" indent="0" algn="l"/>
            <a:r>
              <a:rPr lang="en-GB" sz="2000" dirty="0" err="1">
                <a:solidFill>
                  <a:schemeClr val="lt1"/>
                </a:solidFill>
                <a:latin typeface="Montserrat" panose="00000500000000000000" pitchFamily="2" charset="0"/>
                <a:ea typeface="Lato"/>
                <a:cs typeface="Lato"/>
                <a:sym typeface="Lato"/>
              </a:rPr>
              <a:t>Dve suprotne greške, obe su propusti</a:t>
            </a:r>
            <a:endParaRPr lang="en-GB" sz="2000" dirty="0">
              <a:solidFill>
                <a:schemeClr val="lt1"/>
              </a:solidFill>
              <a:latin typeface="Montserrat" panose="00000500000000000000" pitchFamily="2" charset="0"/>
              <a:ea typeface="Lato"/>
              <a:cs typeface="Lato"/>
              <a:sym typeface="Lato"/>
            </a:endParaRPr>
          </a:p>
        </p:txBody>
      </p:sp>
      <p:sp>
        <p:nvSpPr>
          <p:cNvPr id="3" name="Graphic 4">
            <a:extLst>
              <a:ext uri="{FF2B5EF4-FFF2-40B4-BE49-F238E27FC236}">
                <a16:creationId xmlns:a16="http://schemas.microsoft.com/office/drawing/2014/main" id="{83415C52-2B7E-8EC2-8808-32366AC9F5A8}"/>
              </a:ext>
            </a:extLst>
          </p:cNvPr>
          <p:cNvSpPr/>
          <p:nvPr/>
        </p:nvSpPr>
        <p:spPr>
          <a:xfrm>
            <a:off x="213083" y="343327"/>
            <a:ext cx="180000" cy="180000"/>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alpha val="95000"/>
            </a:srgbClr>
          </a:solidFill>
          <a:ln w="9525" cap="flat">
            <a:noFill/>
            <a:prstDash val="solid"/>
            <a:miter/>
          </a:ln>
        </p:spPr>
        <p:txBody>
          <a:bodyPr/>
          <a:lstStyle/>
          <a:p>
            <a:endParaRPr lang="en-GB"/>
          </a:p>
        </p:txBody>
      </p:sp>
      <p:sp>
        <p:nvSpPr>
          <p:cNvPr id="11" name="_text_point_2">
            <a:extLst>
              <a:ext uri="{FF2B5EF4-FFF2-40B4-BE49-F238E27FC236}">
                <a16:creationId xmlns:a16="http://schemas.microsoft.com/office/drawing/2014/main" id="{4631E6EC-547A-488C-F3DA-980D2BC26D9F}"/>
              </a:ext>
            </a:extLst>
          </p:cNvPr>
          <p:cNvSpPr/>
          <p:nvPr/>
        </p:nvSpPr>
        <p:spPr>
          <a:xfrm>
            <a:off x="611243" y="2765705"/>
            <a:ext cx="6480000" cy="355635"/>
          </a:xfrm>
          <a:prstGeom prst="roundRect">
            <a:avLst>
              <a:gd name="adj" fmla="val 50000"/>
            </a:avLst>
          </a:prstGeom>
          <a:gradFill>
            <a:gsLst>
              <a:gs pos="0">
                <a:srgbClr val="2F5D8B"/>
              </a:gs>
              <a:gs pos="100000">
                <a:srgbClr val="29091B">
                  <a:alpha val="9000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0" bIns="0" rtlCol="0" anchor="ctr"/>
          <a:lstStyle/>
          <a:p>
            <a:r>
              <a:rPr lang="da-DK" b="1" dirty="0">
                <a:latin typeface="Montserrat"/>
                <a:ea typeface="Montserrat"/>
                <a:cs typeface="Montserrat"/>
                <a:sym typeface="Montserrat"/>
              </a:rPr>
              <a:t>Pogrešno odbijanje: prag je previsok</a:t>
            </a:r>
          </a:p>
        </p:txBody>
      </p:sp>
      <p:sp>
        <p:nvSpPr>
          <p:cNvPr id="12" name="_text_point_1">
            <a:extLst>
              <a:ext uri="{FF2B5EF4-FFF2-40B4-BE49-F238E27FC236}">
                <a16:creationId xmlns:a16="http://schemas.microsoft.com/office/drawing/2014/main" id="{88AE20C2-9F43-D1C4-22DF-E2CD72F63BB1}"/>
              </a:ext>
            </a:extLst>
          </p:cNvPr>
          <p:cNvSpPr/>
          <p:nvPr/>
        </p:nvSpPr>
        <p:spPr>
          <a:xfrm>
            <a:off x="640143" y="2268040"/>
            <a:ext cx="7200000" cy="355635"/>
          </a:xfrm>
          <a:prstGeom prst="roundRect">
            <a:avLst>
              <a:gd name="adj" fmla="val 50000"/>
            </a:avLst>
          </a:prstGeom>
          <a:gradFill>
            <a:gsLst>
              <a:gs pos="0">
                <a:srgbClr val="2F5D8B"/>
              </a:gs>
              <a:gs pos="100000">
                <a:srgbClr val="29091B">
                  <a:alpha val="9000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0" bIns="0" rtlCol="0" anchor="ctr"/>
          <a:lstStyle/>
          <a:p>
            <a:r>
              <a:rPr lang="da-DK" b="1" dirty="0">
                <a:latin typeface="Montserrat"/>
                <a:ea typeface="Montserrat"/>
                <a:cs typeface="Montserrat"/>
                <a:sym typeface="Montserrat"/>
              </a:rPr>
              <a:t>Pogrešan odgovor: prag je prenizak</a:t>
            </a:r>
          </a:p>
        </p:txBody>
      </p:sp>
      <p:sp>
        <p:nvSpPr>
          <p:cNvPr id="25" name="_text_main_content">
            <a:extLst>
              <a:ext uri="{FF2B5EF4-FFF2-40B4-BE49-F238E27FC236}">
                <a16:creationId xmlns:a16="http://schemas.microsoft.com/office/drawing/2014/main" id="{23A1A0AD-C92A-17E4-83CF-2CEFF6083FB6}"/>
              </a:ext>
            </a:extLst>
          </p:cNvPr>
          <p:cNvSpPr txBox="1"/>
          <p:nvPr/>
        </p:nvSpPr>
        <p:spPr>
          <a:xfrm>
            <a:off x="589500" y="1648741"/>
            <a:ext cx="7914900" cy="65656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800"/>
              </a:spcAft>
              <a:buNone/>
            </a:pPr>
            <a:r>
              <a:rPr lang="sr" sz="1200" dirty="0">
                <a:solidFill>
                  <a:srgbClr val="D1E2ED"/>
                </a:solidFill>
                <a:latin typeface="Lato"/>
                <a:ea typeface="Lato"/>
                <a:cs typeface="Lato"/>
                <a:sym typeface="Lato"/>
              </a:rPr>
              <a:t>Odluka o odbijanju zavisi od praga ocene. Pomeranje praga popravlja jednu grešku i rizikuje drugu, zato merimo ceo eval skup.</a:t>
            </a:r>
            <a:endParaRPr sz="1200" dirty="0">
              <a:solidFill>
                <a:srgbClr val="D1E2ED"/>
              </a:solidFill>
              <a:latin typeface="Lato"/>
              <a:ea typeface="Lato"/>
              <a:cs typeface="Lato"/>
              <a:sym typeface="Lato"/>
            </a:endParaRPr>
          </a:p>
        </p:txBody>
      </p:sp>
      <p:pic>
        <p:nvPicPr>
          <p:cNvPr id="26" name="_image_small_company_logo" descr="EPAM"/>
          <p:cNvPicPr>
            <a:picLocks noChangeAspect="1"/>
          </p:cNvPicPr>
          <p:nvPr/>
        </p:nvPicPr>
        <p:blipFill>
          <a:blip r:embed="rId4"/>
          <a:stretch>
            <a:fillRect/>
          </a:stretch>
        </p:blipFill>
        <p:spPr>
          <a:xfrm>
            <a:off x="490324" y="344427"/>
            <a:ext cx="504923" cy="177800"/>
          </a:xfrm>
          <a:prstGeom prst="rect">
            <a:avLst/>
          </a:prstGeom>
        </p:spPr>
      </p:pic>
      <p:sp>
        <p:nvSpPr>
          <p:cNvPr id="23" name="_text_section">
            <a:extLst>
              <a:ext uri="{FF2B5EF4-FFF2-40B4-BE49-F238E27FC236}">
                <a16:creationId xmlns:a16="http://schemas.microsoft.com/office/drawing/2014/main" id="{DC5D0AAC-CEA8-99E1-4378-3862874FD819}"/>
              </a:ext>
            </a:extLst>
          </p:cNvPr>
          <p:cNvSpPr txBox="1">
            <a:spLocks/>
          </p:cNvSpPr>
          <p:nvPr/>
        </p:nvSpPr>
        <p:spPr>
          <a:xfrm>
            <a:off x="5927725" y="4663806"/>
            <a:ext cx="2564917" cy="15388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9pPr>
          </a:lstStyle>
          <a:p>
            <a:pPr marL="0" indent="0" algn="r"/>
            <a:r>
              <a:rPr lang="sr-Latn-RS" sz="1000" dirty="0">
                <a:solidFill>
                  <a:schemeClr val="lt1"/>
                </a:solidFill>
                <a:latin typeface="Lato"/>
                <a:ea typeface="Lato"/>
                <a:cs typeface="Lato"/>
                <a:sym typeface="Lato"/>
              </a:rPr>
              <a:t>Propusti</a:t>
            </a:r>
            <a:endParaRPr lang="en-GB" sz="1000" dirty="0">
              <a:solidFill>
                <a:schemeClr val="lt1"/>
              </a:solidFill>
              <a:latin typeface="Lato"/>
              <a:ea typeface="Lato"/>
              <a:cs typeface="Lato"/>
              <a:sym typeface="Lato"/>
            </a:endParaRPr>
          </a:p>
        </p:txBody>
      </p:sp>
      <p:sp>
        <p:nvSpPr>
          <p:cNvPr id="21" name="_text_page">
            <a:extLst>
              <a:ext uri="{FF2B5EF4-FFF2-40B4-BE49-F238E27FC236}">
                <a16:creationId xmlns:a16="http://schemas.microsoft.com/office/drawing/2014/main" id="{6E189432-53E3-417C-F7BA-53BE1AA41F10}"/>
              </a:ext>
            </a:extLst>
          </p:cNvPr>
          <p:cNvSpPr txBox="1"/>
          <p:nvPr/>
        </p:nvSpPr>
        <p:spPr>
          <a:xfrm>
            <a:off x="8492643" y="4500000"/>
            <a:ext cx="469800" cy="481500"/>
          </a:xfrm>
          <a:prstGeom prst="rect">
            <a:avLst/>
          </a:prstGeom>
          <a:noFill/>
          <a:ln>
            <a:noFill/>
          </a:ln>
        </p:spPr>
        <p:txBody>
          <a:bodyPr spcFirstLastPara="1" wrap="square" lIns="0" tIns="91425" rIns="0" bIns="91425" anchor="t" anchorCtr="0">
            <a:noAutofit/>
          </a:bodyPr>
          <a:lstStyle/>
          <a:p>
            <a:pPr marL="0" lvl="0" indent="0" algn="ctr" rtl="0">
              <a:spcBef>
                <a:spcPts val="0"/>
              </a:spcBef>
              <a:spcAft>
                <a:spcPts val="0"/>
              </a:spcAft>
              <a:buNone/>
            </a:pPr>
            <a:r>
              <a:rPr lang="sr" sz="1800" dirty="0">
                <a:solidFill>
                  <a:schemeClr val="lt1"/>
                </a:solidFill>
                <a:latin typeface="Montserrat"/>
                <a:ea typeface="Montserrat"/>
                <a:cs typeface="Montserrat"/>
                <a:sym typeface="Montserrat"/>
              </a:rPr>
              <a:t>1</a:t>
            </a:r>
            <a:r>
              <a:rPr lang="en-US" sz="1800" dirty="0">
                <a:solidFill>
                  <a:schemeClr val="lt1"/>
                </a:solidFill>
                <a:latin typeface="Montserrat"/>
                <a:ea typeface="Montserrat"/>
                <a:cs typeface="Montserrat"/>
                <a:sym typeface="Montserrat"/>
              </a:rPr>
              <a:t>8</a:t>
            </a:r>
            <a:endParaRPr sz="1800" dirty="0">
              <a:solidFill>
                <a:schemeClr val="lt1"/>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2F8FC"/>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806058D5-2280-EE3B-B56F-0AD0E1870AD3}"/>
              </a:ext>
            </a:extLst>
          </p:cNvPr>
          <p:cNvSpPr/>
          <p:nvPr/>
        </p:nvSpPr>
        <p:spPr>
          <a:xfrm>
            <a:off x="2717800" y="0"/>
            <a:ext cx="6426201" cy="5143500"/>
          </a:xfrm>
          <a:custGeom>
            <a:avLst/>
            <a:gdLst>
              <a:gd name="csX0" fmla="*/ 905383 w 6426201"/>
              <a:gd name="csY0" fmla="*/ 0 h 5143500"/>
              <a:gd name="csX1" fmla="*/ 2497177 w 6426201"/>
              <a:gd name="csY1" fmla="*/ 0 h 5143500"/>
              <a:gd name="csX2" fmla="*/ 2467862 w 6426201"/>
              <a:gd name="csY2" fmla="*/ 35902 h 5143500"/>
              <a:gd name="csX3" fmla="*/ 2503842 w 6426201"/>
              <a:gd name="csY3" fmla="*/ 389331 h 5143500"/>
              <a:gd name="csX4" fmla="*/ 2901337 w 6426201"/>
              <a:gd name="csY4" fmla="*/ 389331 h 5143500"/>
              <a:gd name="csX5" fmla="*/ 3290630 w 6426201"/>
              <a:gd name="csY5" fmla="*/ 0 h 5143500"/>
              <a:gd name="csX6" fmla="*/ 4880482 w 6426201"/>
              <a:gd name="csY6" fmla="*/ 0 h 5143500"/>
              <a:gd name="csX7" fmla="*/ 1758651 w 6426201"/>
              <a:gd name="csY7" fmla="*/ 3121695 h 5143500"/>
              <a:gd name="csX8" fmla="*/ 1758651 w 6426201"/>
              <a:gd name="csY8" fmla="*/ 3519191 h 5143500"/>
              <a:gd name="csX9" fmla="*/ 2156147 w 6426201"/>
              <a:gd name="csY9" fmla="*/ 3519191 h 5143500"/>
              <a:gd name="csX10" fmla="*/ 5675617 w 6426201"/>
              <a:gd name="csY10" fmla="*/ 0 h 5143500"/>
              <a:gd name="csX11" fmla="*/ 6426201 w 6426201"/>
              <a:gd name="csY11" fmla="*/ 0 h 5143500"/>
              <a:gd name="csX12" fmla="*/ 6426201 w 6426201"/>
              <a:gd name="csY12" fmla="*/ 841724 h 5143500"/>
              <a:gd name="csX13" fmla="*/ 6399107 w 6426201"/>
              <a:gd name="csY13" fmla="*/ 874906 h 5143500"/>
              <a:gd name="csX14" fmla="*/ 6399107 w 6426201"/>
              <a:gd name="csY14" fmla="*/ 1184271 h 5143500"/>
              <a:gd name="csX15" fmla="*/ 6426201 w 6426201"/>
              <a:gd name="csY15" fmla="*/ 1217454 h 5143500"/>
              <a:gd name="csX16" fmla="*/ 6426201 w 6426201"/>
              <a:gd name="csY16" fmla="*/ 3224795 h 5143500"/>
              <a:gd name="csX17" fmla="*/ 5698729 w 6426201"/>
              <a:gd name="csY17" fmla="*/ 3952325 h 5143500"/>
              <a:gd name="csX18" fmla="*/ 5698729 w 6426201"/>
              <a:gd name="csY18" fmla="*/ 4349820 h 5143500"/>
              <a:gd name="csX19" fmla="*/ 6096226 w 6426201"/>
              <a:gd name="csY19" fmla="*/ 4349820 h 5143500"/>
              <a:gd name="csX20" fmla="*/ 6426201 w 6426201"/>
              <a:gd name="csY20" fmla="*/ 4019844 h 5143500"/>
              <a:gd name="csX21" fmla="*/ 6426201 w 6426201"/>
              <a:gd name="csY21" fmla="*/ 5143500 h 5143500"/>
              <a:gd name="csX22" fmla="*/ 5302181 w 6426201"/>
              <a:gd name="csY22" fmla="*/ 5143500 h 5143500"/>
              <a:gd name="csX23" fmla="*/ 5337216 w 6426201"/>
              <a:gd name="csY23" fmla="*/ 5100594 h 5143500"/>
              <a:gd name="csX24" fmla="*/ 5301235 w 6426201"/>
              <a:gd name="csY24" fmla="*/ 4747164 h 5143500"/>
              <a:gd name="csX25" fmla="*/ 4903739 w 6426201"/>
              <a:gd name="csY25" fmla="*/ 4747164 h 5143500"/>
              <a:gd name="csX26" fmla="*/ 4507404 w 6426201"/>
              <a:gd name="csY26" fmla="*/ 5143500 h 5143500"/>
              <a:gd name="csX27" fmla="*/ 2917405 w 6426201"/>
              <a:gd name="csY27" fmla="*/ 5143500 h 5143500"/>
              <a:gd name="csX28" fmla="*/ 6037591 w 6426201"/>
              <a:gd name="csY28" fmla="*/ 2023176 h 5143500"/>
              <a:gd name="csX29" fmla="*/ 6037591 w 6426201"/>
              <a:gd name="csY29" fmla="*/ 1625681 h 5143500"/>
              <a:gd name="csX30" fmla="*/ 5640096 w 6426201"/>
              <a:gd name="csY30" fmla="*/ 1625681 h 5143500"/>
              <a:gd name="csX31" fmla="*/ 2121855 w 6426201"/>
              <a:gd name="csY31" fmla="*/ 5143500 h 5143500"/>
              <a:gd name="csX32" fmla="*/ 896983 w 6426201"/>
              <a:gd name="csY32" fmla="*/ 5143500 h 5143500"/>
              <a:gd name="csX33" fmla="*/ 893618 w 6426201"/>
              <a:gd name="csY33" fmla="*/ 5132153 h 5143500"/>
              <a:gd name="csX34" fmla="*/ 1048034 w 6426201"/>
              <a:gd name="csY34" fmla="*/ 4627306 h 5143500"/>
              <a:gd name="csX35" fmla="*/ 1361157 w 6426201"/>
              <a:gd name="csY35" fmla="*/ 4314183 h 5143500"/>
              <a:gd name="csX36" fmla="*/ 1361157 w 6426201"/>
              <a:gd name="csY36" fmla="*/ 3916686 h 5143500"/>
              <a:gd name="csX37" fmla="*/ 963661 w 6426201"/>
              <a:gd name="csY37" fmla="*/ 3916686 h 5143500"/>
              <a:gd name="csX38" fmla="*/ 959702 w 6426201"/>
              <a:gd name="csY38" fmla="*/ 3920647 h 5143500"/>
              <a:gd name="csX39" fmla="*/ 164711 w 6426201"/>
              <a:gd name="csY39" fmla="*/ 3920647 h 5143500"/>
              <a:gd name="csX40" fmla="*/ 164711 w 6426201"/>
              <a:gd name="csY40" fmla="*/ 3125656 h 5143500"/>
              <a:gd name="csX41" fmla="*/ 2106042 w 6426201"/>
              <a:gd name="csY41" fmla="*/ 1184171 h 5143500"/>
              <a:gd name="csX42" fmla="*/ 2106042 w 6426201"/>
              <a:gd name="csY42" fmla="*/ 786674 h 5143500"/>
              <a:gd name="csX43" fmla="*/ 1708546 w 6426201"/>
              <a:gd name="csY43" fmla="*/ 786674 h 5143500"/>
              <a:gd name="csX44" fmla="*/ 1326585 w 6426201"/>
              <a:gd name="csY44" fmla="*/ 1168636 h 5143500"/>
              <a:gd name="csX45" fmla="*/ 531594 w 6426201"/>
              <a:gd name="csY45" fmla="*/ 1168636 h 5143500"/>
              <a:gd name="csX46" fmla="*/ 531594 w 6426201"/>
              <a:gd name="csY46" fmla="*/ 373644 h 514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426201" h="5143500">
                <a:moveTo>
                  <a:pt x="905383" y="0"/>
                </a:moveTo>
                <a:lnTo>
                  <a:pt x="2497177" y="0"/>
                </a:lnTo>
                <a:lnTo>
                  <a:pt x="2467862" y="35902"/>
                </a:lnTo>
                <a:cubicBezTo>
                  <a:pt x="2395902" y="144966"/>
                  <a:pt x="2407895" y="293384"/>
                  <a:pt x="2503842" y="389331"/>
                </a:cubicBezTo>
                <a:cubicBezTo>
                  <a:pt x="2613496" y="498985"/>
                  <a:pt x="2791683" y="498985"/>
                  <a:pt x="2901337" y="389331"/>
                </a:cubicBezTo>
                <a:lnTo>
                  <a:pt x="3290630" y="0"/>
                </a:lnTo>
                <a:lnTo>
                  <a:pt x="4880482" y="0"/>
                </a:lnTo>
                <a:lnTo>
                  <a:pt x="1758651" y="3121695"/>
                </a:lnTo>
                <a:cubicBezTo>
                  <a:pt x="1648997" y="3231349"/>
                  <a:pt x="1648997" y="3409537"/>
                  <a:pt x="1758651" y="3519191"/>
                </a:cubicBezTo>
                <a:cubicBezTo>
                  <a:pt x="1868305" y="3628845"/>
                  <a:pt x="2046494" y="3628845"/>
                  <a:pt x="2156147" y="3519191"/>
                </a:cubicBezTo>
                <a:lnTo>
                  <a:pt x="5675617" y="0"/>
                </a:lnTo>
                <a:lnTo>
                  <a:pt x="6426201" y="0"/>
                </a:lnTo>
                <a:lnTo>
                  <a:pt x="6426201" y="841724"/>
                </a:lnTo>
                <a:lnTo>
                  <a:pt x="6399107" y="874906"/>
                </a:lnTo>
                <a:cubicBezTo>
                  <a:pt x="6337426" y="968391"/>
                  <a:pt x="6337426" y="1090787"/>
                  <a:pt x="6399107" y="1184271"/>
                </a:cubicBezTo>
                <a:lnTo>
                  <a:pt x="6426201" y="1217454"/>
                </a:lnTo>
                <a:lnTo>
                  <a:pt x="6426201" y="3224795"/>
                </a:lnTo>
                <a:lnTo>
                  <a:pt x="5698729" y="3952325"/>
                </a:lnTo>
                <a:cubicBezTo>
                  <a:pt x="5589076" y="4061979"/>
                  <a:pt x="5589076" y="4240166"/>
                  <a:pt x="5698729" y="4349820"/>
                </a:cubicBezTo>
                <a:cubicBezTo>
                  <a:pt x="5808383" y="4459475"/>
                  <a:pt x="5986572" y="4459475"/>
                  <a:pt x="6096226" y="4349820"/>
                </a:cubicBezTo>
                <a:lnTo>
                  <a:pt x="6426201" y="4019844"/>
                </a:lnTo>
                <a:lnTo>
                  <a:pt x="6426201" y="5143500"/>
                </a:lnTo>
                <a:lnTo>
                  <a:pt x="5302181" y="5143500"/>
                </a:lnTo>
                <a:lnTo>
                  <a:pt x="5337216" y="5100594"/>
                </a:lnTo>
                <a:cubicBezTo>
                  <a:pt x="5409176" y="4991529"/>
                  <a:pt x="5397183" y="4843112"/>
                  <a:pt x="5301235" y="4747164"/>
                </a:cubicBezTo>
                <a:cubicBezTo>
                  <a:pt x="5191581" y="4637510"/>
                  <a:pt x="5013393" y="4637510"/>
                  <a:pt x="4903739" y="4747164"/>
                </a:cubicBezTo>
                <a:lnTo>
                  <a:pt x="4507404" y="5143500"/>
                </a:lnTo>
                <a:lnTo>
                  <a:pt x="2917405" y="5143500"/>
                </a:lnTo>
                <a:lnTo>
                  <a:pt x="6037591" y="2023176"/>
                </a:lnTo>
                <a:cubicBezTo>
                  <a:pt x="6147246" y="1913522"/>
                  <a:pt x="6147246" y="1735335"/>
                  <a:pt x="6037591" y="1625681"/>
                </a:cubicBezTo>
                <a:cubicBezTo>
                  <a:pt x="5927938" y="1516027"/>
                  <a:pt x="5749749" y="1516027"/>
                  <a:pt x="5640096" y="1625681"/>
                </a:cubicBezTo>
                <a:lnTo>
                  <a:pt x="2121855" y="5143500"/>
                </a:lnTo>
                <a:lnTo>
                  <a:pt x="896983" y="5143500"/>
                </a:lnTo>
                <a:lnTo>
                  <a:pt x="893618" y="5132153"/>
                </a:lnTo>
                <a:cubicBezTo>
                  <a:pt x="859304" y="4955007"/>
                  <a:pt x="910776" y="4764564"/>
                  <a:pt x="1048034" y="4627306"/>
                </a:cubicBezTo>
                <a:lnTo>
                  <a:pt x="1361157" y="4314183"/>
                </a:lnTo>
                <a:cubicBezTo>
                  <a:pt x="1470811" y="4204529"/>
                  <a:pt x="1470811" y="4026342"/>
                  <a:pt x="1361157" y="3916686"/>
                </a:cubicBezTo>
                <a:cubicBezTo>
                  <a:pt x="1251503" y="3807032"/>
                  <a:pt x="1073314" y="3807032"/>
                  <a:pt x="963661" y="3916686"/>
                </a:cubicBezTo>
                <a:lnTo>
                  <a:pt x="959702" y="3920647"/>
                </a:lnTo>
                <a:cubicBezTo>
                  <a:pt x="740088" y="4140107"/>
                  <a:pt x="384322" y="4140107"/>
                  <a:pt x="164711" y="3920647"/>
                </a:cubicBezTo>
                <a:cubicBezTo>
                  <a:pt x="-54903" y="3701034"/>
                  <a:pt x="-54903" y="3345115"/>
                  <a:pt x="164711" y="3125656"/>
                </a:cubicBezTo>
                <a:lnTo>
                  <a:pt x="2106042" y="1184171"/>
                </a:lnTo>
                <a:cubicBezTo>
                  <a:pt x="2215696" y="1074517"/>
                  <a:pt x="2215696" y="896328"/>
                  <a:pt x="2106042" y="786674"/>
                </a:cubicBezTo>
                <a:cubicBezTo>
                  <a:pt x="1996388" y="677020"/>
                  <a:pt x="1818200" y="677020"/>
                  <a:pt x="1708546" y="786674"/>
                </a:cubicBezTo>
                <a:lnTo>
                  <a:pt x="1326585" y="1168636"/>
                </a:lnTo>
                <a:cubicBezTo>
                  <a:pt x="1106973" y="1388249"/>
                  <a:pt x="751207" y="1388249"/>
                  <a:pt x="531594" y="1168636"/>
                </a:cubicBezTo>
                <a:cubicBezTo>
                  <a:pt x="311983" y="949024"/>
                  <a:pt x="311983" y="593258"/>
                  <a:pt x="531594" y="373644"/>
                </a:cubicBezTo>
                <a:close/>
              </a:path>
            </a:pathLst>
          </a:custGeom>
          <a:solidFill>
            <a:srgbClr val="0D4077">
              <a:alpha val="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64" name="_text_section_title">
            <a:extLst>
              <a:ext uri="{FF2B5EF4-FFF2-40B4-BE49-F238E27FC236}">
                <a16:creationId xmlns:a16="http://schemas.microsoft.com/office/drawing/2014/main" id="{050D3A50-478B-E953-D043-C88D1BD25BE9}"/>
              </a:ext>
            </a:extLst>
          </p:cNvPr>
          <p:cNvSpPr txBox="1">
            <a:spLocks noGrp="1"/>
          </p:cNvSpPr>
          <p:nvPr>
            <p:ph type="ctrTitle"/>
          </p:nvPr>
        </p:nvSpPr>
        <p:spPr>
          <a:xfrm>
            <a:off x="897467" y="1956197"/>
            <a:ext cx="6849534" cy="615553"/>
          </a:xfrm>
          <a:prstGeom prst="rect">
            <a:avLst/>
          </a:prstGeom>
        </p:spPr>
        <p:txBody>
          <a:bodyPr spcFirstLastPara="1" wrap="square" lIns="91425" tIns="0" rIns="91425" bIns="0" anchor="b" anchorCtr="0">
            <a:spAutoFit/>
          </a:bodyPr>
          <a:lstStyle/>
          <a:p>
            <a:pPr marL="0" lvl="0" indent="0" algn="l" rtl="0">
              <a:spcBef>
                <a:spcPts val="0"/>
              </a:spcBef>
              <a:spcAft>
                <a:spcPts val="0"/>
              </a:spcAft>
              <a:buNone/>
            </a:pPr>
            <a:r>
              <a:rPr lang="sr" sz="4000" spc="-150" dirty="0">
                <a:solidFill>
                  <a:srgbClr val="0D4077">
                    <a:alpha val="90000"/>
                  </a:srgbClr>
                </a:solidFill>
                <a:latin typeface="Montserrat Black" panose="00000A00000000000000" pitchFamily="2" charset="0"/>
                <a:ea typeface="Montserrat"/>
                <a:cs typeface="Montserrat"/>
                <a:sym typeface="Montserrat"/>
              </a:rPr>
              <a:t>Pauza: 10 minuta</a:t>
            </a:r>
            <a:endParaRPr sz="4000" spc="-150" dirty="0">
              <a:solidFill>
                <a:srgbClr val="0D4077">
                  <a:alpha val="90000"/>
                </a:srgbClr>
              </a:solidFill>
              <a:latin typeface="Montserrat Black" panose="00000A00000000000000" pitchFamily="2" charset="0"/>
              <a:ea typeface="Montserrat"/>
              <a:cs typeface="Montserrat"/>
              <a:sym typeface="Montserrat"/>
            </a:endParaRPr>
          </a:p>
        </p:txBody>
      </p:sp>
      <p:sp>
        <p:nvSpPr>
          <p:cNvPr id="65" name="_text_section_subtitle">
            <a:extLst>
              <a:ext uri="{FF2B5EF4-FFF2-40B4-BE49-F238E27FC236}">
                <a16:creationId xmlns:a16="http://schemas.microsoft.com/office/drawing/2014/main" id="{1A30F914-E789-A81B-2828-166B98C32AB0}"/>
              </a:ext>
            </a:extLst>
          </p:cNvPr>
          <p:cNvSpPr txBox="1">
            <a:spLocks noGrp="1"/>
          </p:cNvSpPr>
          <p:nvPr>
            <p:ph type="subTitle" idx="1"/>
          </p:nvPr>
        </p:nvSpPr>
        <p:spPr>
          <a:xfrm>
            <a:off x="897467" y="2571750"/>
            <a:ext cx="6849534" cy="1105088"/>
          </a:xfrm>
          <a:prstGeom prst="rect">
            <a:avLst/>
          </a:prstGeom>
        </p:spPr>
        <p:txBody>
          <a:bodyPr spcFirstLastPara="1" wrap="square" lIns="91425" tIns="180000" rIns="91425" bIns="0" anchor="t" anchorCtr="0">
            <a:spAutoFit/>
          </a:bodyPr>
          <a:lstStyle/>
          <a:p>
            <a:pPr marL="0" lvl="0" indent="0" algn="l" rtl="0">
              <a:spcBef>
                <a:spcPts val="0"/>
              </a:spcBef>
              <a:spcAft>
                <a:spcPts val="0"/>
              </a:spcAft>
              <a:buNone/>
            </a:pPr>
            <a:r>
              <a:rPr lang="en-GB" sz="2000" dirty="0">
                <a:solidFill>
                  <a:srgbClr val="0D4077"/>
                </a:solidFill>
                <a:latin typeface="Montserrat" panose="00000500000000000000" pitchFamily="2" charset="0"/>
                <a:ea typeface="Lato"/>
                <a:cs typeface="Lato"/>
                <a:sym typeface="Lato"/>
              </a:rPr>
              <a:t>Posle pauze: kako promeniti jednu stvar i dokazati šta je promena donela.</a:t>
            </a:r>
            <a:endParaRPr sz="2000" dirty="0">
              <a:solidFill>
                <a:srgbClr val="0D4077"/>
              </a:solidFill>
              <a:latin typeface="Montserrat" panose="00000500000000000000" pitchFamily="2" charset="0"/>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2F8FC"/>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806058D5-2280-EE3B-B56F-0AD0E1870AD3}"/>
              </a:ext>
            </a:extLst>
          </p:cNvPr>
          <p:cNvSpPr/>
          <p:nvPr/>
        </p:nvSpPr>
        <p:spPr>
          <a:xfrm>
            <a:off x="2717800" y="0"/>
            <a:ext cx="6426201" cy="5143500"/>
          </a:xfrm>
          <a:custGeom>
            <a:avLst/>
            <a:gdLst>
              <a:gd name="csX0" fmla="*/ 905383 w 6426201"/>
              <a:gd name="csY0" fmla="*/ 0 h 5143500"/>
              <a:gd name="csX1" fmla="*/ 2497177 w 6426201"/>
              <a:gd name="csY1" fmla="*/ 0 h 5143500"/>
              <a:gd name="csX2" fmla="*/ 2467862 w 6426201"/>
              <a:gd name="csY2" fmla="*/ 35902 h 5143500"/>
              <a:gd name="csX3" fmla="*/ 2503842 w 6426201"/>
              <a:gd name="csY3" fmla="*/ 389331 h 5143500"/>
              <a:gd name="csX4" fmla="*/ 2901337 w 6426201"/>
              <a:gd name="csY4" fmla="*/ 389331 h 5143500"/>
              <a:gd name="csX5" fmla="*/ 3290630 w 6426201"/>
              <a:gd name="csY5" fmla="*/ 0 h 5143500"/>
              <a:gd name="csX6" fmla="*/ 4880482 w 6426201"/>
              <a:gd name="csY6" fmla="*/ 0 h 5143500"/>
              <a:gd name="csX7" fmla="*/ 1758651 w 6426201"/>
              <a:gd name="csY7" fmla="*/ 3121695 h 5143500"/>
              <a:gd name="csX8" fmla="*/ 1758651 w 6426201"/>
              <a:gd name="csY8" fmla="*/ 3519191 h 5143500"/>
              <a:gd name="csX9" fmla="*/ 2156147 w 6426201"/>
              <a:gd name="csY9" fmla="*/ 3519191 h 5143500"/>
              <a:gd name="csX10" fmla="*/ 5675617 w 6426201"/>
              <a:gd name="csY10" fmla="*/ 0 h 5143500"/>
              <a:gd name="csX11" fmla="*/ 6426201 w 6426201"/>
              <a:gd name="csY11" fmla="*/ 0 h 5143500"/>
              <a:gd name="csX12" fmla="*/ 6426201 w 6426201"/>
              <a:gd name="csY12" fmla="*/ 841724 h 5143500"/>
              <a:gd name="csX13" fmla="*/ 6399107 w 6426201"/>
              <a:gd name="csY13" fmla="*/ 874906 h 5143500"/>
              <a:gd name="csX14" fmla="*/ 6399107 w 6426201"/>
              <a:gd name="csY14" fmla="*/ 1184271 h 5143500"/>
              <a:gd name="csX15" fmla="*/ 6426201 w 6426201"/>
              <a:gd name="csY15" fmla="*/ 1217454 h 5143500"/>
              <a:gd name="csX16" fmla="*/ 6426201 w 6426201"/>
              <a:gd name="csY16" fmla="*/ 3224795 h 5143500"/>
              <a:gd name="csX17" fmla="*/ 5698729 w 6426201"/>
              <a:gd name="csY17" fmla="*/ 3952325 h 5143500"/>
              <a:gd name="csX18" fmla="*/ 5698729 w 6426201"/>
              <a:gd name="csY18" fmla="*/ 4349820 h 5143500"/>
              <a:gd name="csX19" fmla="*/ 6096226 w 6426201"/>
              <a:gd name="csY19" fmla="*/ 4349820 h 5143500"/>
              <a:gd name="csX20" fmla="*/ 6426201 w 6426201"/>
              <a:gd name="csY20" fmla="*/ 4019844 h 5143500"/>
              <a:gd name="csX21" fmla="*/ 6426201 w 6426201"/>
              <a:gd name="csY21" fmla="*/ 5143500 h 5143500"/>
              <a:gd name="csX22" fmla="*/ 5302181 w 6426201"/>
              <a:gd name="csY22" fmla="*/ 5143500 h 5143500"/>
              <a:gd name="csX23" fmla="*/ 5337216 w 6426201"/>
              <a:gd name="csY23" fmla="*/ 5100594 h 5143500"/>
              <a:gd name="csX24" fmla="*/ 5301235 w 6426201"/>
              <a:gd name="csY24" fmla="*/ 4747164 h 5143500"/>
              <a:gd name="csX25" fmla="*/ 4903739 w 6426201"/>
              <a:gd name="csY25" fmla="*/ 4747164 h 5143500"/>
              <a:gd name="csX26" fmla="*/ 4507404 w 6426201"/>
              <a:gd name="csY26" fmla="*/ 5143500 h 5143500"/>
              <a:gd name="csX27" fmla="*/ 2917405 w 6426201"/>
              <a:gd name="csY27" fmla="*/ 5143500 h 5143500"/>
              <a:gd name="csX28" fmla="*/ 6037591 w 6426201"/>
              <a:gd name="csY28" fmla="*/ 2023176 h 5143500"/>
              <a:gd name="csX29" fmla="*/ 6037591 w 6426201"/>
              <a:gd name="csY29" fmla="*/ 1625681 h 5143500"/>
              <a:gd name="csX30" fmla="*/ 5640096 w 6426201"/>
              <a:gd name="csY30" fmla="*/ 1625681 h 5143500"/>
              <a:gd name="csX31" fmla="*/ 2121855 w 6426201"/>
              <a:gd name="csY31" fmla="*/ 5143500 h 5143500"/>
              <a:gd name="csX32" fmla="*/ 896983 w 6426201"/>
              <a:gd name="csY32" fmla="*/ 5143500 h 5143500"/>
              <a:gd name="csX33" fmla="*/ 893618 w 6426201"/>
              <a:gd name="csY33" fmla="*/ 5132153 h 5143500"/>
              <a:gd name="csX34" fmla="*/ 1048034 w 6426201"/>
              <a:gd name="csY34" fmla="*/ 4627306 h 5143500"/>
              <a:gd name="csX35" fmla="*/ 1361157 w 6426201"/>
              <a:gd name="csY35" fmla="*/ 4314183 h 5143500"/>
              <a:gd name="csX36" fmla="*/ 1361157 w 6426201"/>
              <a:gd name="csY36" fmla="*/ 3916686 h 5143500"/>
              <a:gd name="csX37" fmla="*/ 963661 w 6426201"/>
              <a:gd name="csY37" fmla="*/ 3916686 h 5143500"/>
              <a:gd name="csX38" fmla="*/ 959702 w 6426201"/>
              <a:gd name="csY38" fmla="*/ 3920647 h 5143500"/>
              <a:gd name="csX39" fmla="*/ 164711 w 6426201"/>
              <a:gd name="csY39" fmla="*/ 3920647 h 5143500"/>
              <a:gd name="csX40" fmla="*/ 164711 w 6426201"/>
              <a:gd name="csY40" fmla="*/ 3125656 h 5143500"/>
              <a:gd name="csX41" fmla="*/ 2106042 w 6426201"/>
              <a:gd name="csY41" fmla="*/ 1184171 h 5143500"/>
              <a:gd name="csX42" fmla="*/ 2106042 w 6426201"/>
              <a:gd name="csY42" fmla="*/ 786674 h 5143500"/>
              <a:gd name="csX43" fmla="*/ 1708546 w 6426201"/>
              <a:gd name="csY43" fmla="*/ 786674 h 5143500"/>
              <a:gd name="csX44" fmla="*/ 1326585 w 6426201"/>
              <a:gd name="csY44" fmla="*/ 1168636 h 5143500"/>
              <a:gd name="csX45" fmla="*/ 531594 w 6426201"/>
              <a:gd name="csY45" fmla="*/ 1168636 h 5143500"/>
              <a:gd name="csX46" fmla="*/ 531594 w 6426201"/>
              <a:gd name="csY46" fmla="*/ 373644 h 514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426201" h="5143500">
                <a:moveTo>
                  <a:pt x="905383" y="0"/>
                </a:moveTo>
                <a:lnTo>
                  <a:pt x="2497177" y="0"/>
                </a:lnTo>
                <a:lnTo>
                  <a:pt x="2467862" y="35902"/>
                </a:lnTo>
                <a:cubicBezTo>
                  <a:pt x="2395902" y="144966"/>
                  <a:pt x="2407895" y="293384"/>
                  <a:pt x="2503842" y="389331"/>
                </a:cubicBezTo>
                <a:cubicBezTo>
                  <a:pt x="2613496" y="498985"/>
                  <a:pt x="2791683" y="498985"/>
                  <a:pt x="2901337" y="389331"/>
                </a:cubicBezTo>
                <a:lnTo>
                  <a:pt x="3290630" y="0"/>
                </a:lnTo>
                <a:lnTo>
                  <a:pt x="4880482" y="0"/>
                </a:lnTo>
                <a:lnTo>
                  <a:pt x="1758651" y="3121695"/>
                </a:lnTo>
                <a:cubicBezTo>
                  <a:pt x="1648997" y="3231349"/>
                  <a:pt x="1648997" y="3409537"/>
                  <a:pt x="1758651" y="3519191"/>
                </a:cubicBezTo>
                <a:cubicBezTo>
                  <a:pt x="1868305" y="3628845"/>
                  <a:pt x="2046494" y="3628845"/>
                  <a:pt x="2156147" y="3519191"/>
                </a:cubicBezTo>
                <a:lnTo>
                  <a:pt x="5675617" y="0"/>
                </a:lnTo>
                <a:lnTo>
                  <a:pt x="6426201" y="0"/>
                </a:lnTo>
                <a:lnTo>
                  <a:pt x="6426201" y="841724"/>
                </a:lnTo>
                <a:lnTo>
                  <a:pt x="6399107" y="874906"/>
                </a:lnTo>
                <a:cubicBezTo>
                  <a:pt x="6337426" y="968391"/>
                  <a:pt x="6337426" y="1090787"/>
                  <a:pt x="6399107" y="1184271"/>
                </a:cubicBezTo>
                <a:lnTo>
                  <a:pt x="6426201" y="1217454"/>
                </a:lnTo>
                <a:lnTo>
                  <a:pt x="6426201" y="3224795"/>
                </a:lnTo>
                <a:lnTo>
                  <a:pt x="5698729" y="3952325"/>
                </a:lnTo>
                <a:cubicBezTo>
                  <a:pt x="5589076" y="4061979"/>
                  <a:pt x="5589076" y="4240166"/>
                  <a:pt x="5698729" y="4349820"/>
                </a:cubicBezTo>
                <a:cubicBezTo>
                  <a:pt x="5808383" y="4459475"/>
                  <a:pt x="5986572" y="4459475"/>
                  <a:pt x="6096226" y="4349820"/>
                </a:cubicBezTo>
                <a:lnTo>
                  <a:pt x="6426201" y="4019844"/>
                </a:lnTo>
                <a:lnTo>
                  <a:pt x="6426201" y="5143500"/>
                </a:lnTo>
                <a:lnTo>
                  <a:pt x="5302181" y="5143500"/>
                </a:lnTo>
                <a:lnTo>
                  <a:pt x="5337216" y="5100594"/>
                </a:lnTo>
                <a:cubicBezTo>
                  <a:pt x="5409176" y="4991529"/>
                  <a:pt x="5397183" y="4843112"/>
                  <a:pt x="5301235" y="4747164"/>
                </a:cubicBezTo>
                <a:cubicBezTo>
                  <a:pt x="5191581" y="4637510"/>
                  <a:pt x="5013393" y="4637510"/>
                  <a:pt x="4903739" y="4747164"/>
                </a:cubicBezTo>
                <a:lnTo>
                  <a:pt x="4507404" y="5143500"/>
                </a:lnTo>
                <a:lnTo>
                  <a:pt x="2917405" y="5143500"/>
                </a:lnTo>
                <a:lnTo>
                  <a:pt x="6037591" y="2023176"/>
                </a:lnTo>
                <a:cubicBezTo>
                  <a:pt x="6147246" y="1913522"/>
                  <a:pt x="6147246" y="1735335"/>
                  <a:pt x="6037591" y="1625681"/>
                </a:cubicBezTo>
                <a:cubicBezTo>
                  <a:pt x="5927938" y="1516027"/>
                  <a:pt x="5749749" y="1516027"/>
                  <a:pt x="5640096" y="1625681"/>
                </a:cubicBezTo>
                <a:lnTo>
                  <a:pt x="2121855" y="5143500"/>
                </a:lnTo>
                <a:lnTo>
                  <a:pt x="896983" y="5143500"/>
                </a:lnTo>
                <a:lnTo>
                  <a:pt x="893618" y="5132153"/>
                </a:lnTo>
                <a:cubicBezTo>
                  <a:pt x="859304" y="4955007"/>
                  <a:pt x="910776" y="4764564"/>
                  <a:pt x="1048034" y="4627306"/>
                </a:cubicBezTo>
                <a:lnTo>
                  <a:pt x="1361157" y="4314183"/>
                </a:lnTo>
                <a:cubicBezTo>
                  <a:pt x="1470811" y="4204529"/>
                  <a:pt x="1470811" y="4026342"/>
                  <a:pt x="1361157" y="3916686"/>
                </a:cubicBezTo>
                <a:cubicBezTo>
                  <a:pt x="1251503" y="3807032"/>
                  <a:pt x="1073314" y="3807032"/>
                  <a:pt x="963661" y="3916686"/>
                </a:cubicBezTo>
                <a:lnTo>
                  <a:pt x="959702" y="3920647"/>
                </a:lnTo>
                <a:cubicBezTo>
                  <a:pt x="740088" y="4140107"/>
                  <a:pt x="384322" y="4140107"/>
                  <a:pt x="164711" y="3920647"/>
                </a:cubicBezTo>
                <a:cubicBezTo>
                  <a:pt x="-54903" y="3701034"/>
                  <a:pt x="-54903" y="3345115"/>
                  <a:pt x="164711" y="3125656"/>
                </a:cubicBezTo>
                <a:lnTo>
                  <a:pt x="2106042" y="1184171"/>
                </a:lnTo>
                <a:cubicBezTo>
                  <a:pt x="2215696" y="1074517"/>
                  <a:pt x="2215696" y="896328"/>
                  <a:pt x="2106042" y="786674"/>
                </a:cubicBezTo>
                <a:cubicBezTo>
                  <a:pt x="1996388" y="677020"/>
                  <a:pt x="1818200" y="677020"/>
                  <a:pt x="1708546" y="786674"/>
                </a:cubicBezTo>
                <a:lnTo>
                  <a:pt x="1326585" y="1168636"/>
                </a:lnTo>
                <a:cubicBezTo>
                  <a:pt x="1106973" y="1388249"/>
                  <a:pt x="751207" y="1388249"/>
                  <a:pt x="531594" y="1168636"/>
                </a:cubicBezTo>
                <a:cubicBezTo>
                  <a:pt x="311983" y="949024"/>
                  <a:pt x="311983" y="593258"/>
                  <a:pt x="531594" y="373644"/>
                </a:cubicBezTo>
                <a:close/>
              </a:path>
            </a:pathLst>
          </a:custGeom>
          <a:solidFill>
            <a:srgbClr val="0D4077">
              <a:alpha val="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64" name="_text_section_title">
            <a:extLst>
              <a:ext uri="{FF2B5EF4-FFF2-40B4-BE49-F238E27FC236}">
                <a16:creationId xmlns:a16="http://schemas.microsoft.com/office/drawing/2014/main" id="{050D3A50-478B-E953-D043-C88D1BD25BE9}"/>
              </a:ext>
            </a:extLst>
          </p:cNvPr>
          <p:cNvSpPr txBox="1">
            <a:spLocks noGrp="1"/>
          </p:cNvSpPr>
          <p:nvPr>
            <p:ph type="ctrTitle"/>
          </p:nvPr>
        </p:nvSpPr>
        <p:spPr>
          <a:xfrm>
            <a:off x="897467" y="1956197"/>
            <a:ext cx="6849534" cy="615553"/>
          </a:xfrm>
          <a:prstGeom prst="rect">
            <a:avLst/>
          </a:prstGeom>
        </p:spPr>
        <p:txBody>
          <a:bodyPr spcFirstLastPara="1" wrap="square" lIns="91425" tIns="0" rIns="91425" bIns="0" anchor="b" anchorCtr="0">
            <a:spAutoFit/>
          </a:bodyPr>
          <a:lstStyle/>
          <a:p>
            <a:pPr marL="0" lvl="0" indent="0" algn="l" rtl="0">
              <a:spcBef>
                <a:spcPts val="0"/>
              </a:spcBef>
              <a:spcAft>
                <a:spcPts val="0"/>
              </a:spcAft>
              <a:buNone/>
            </a:pPr>
            <a:r>
              <a:rPr lang="sr" sz="4000" spc="-150" dirty="0">
                <a:solidFill>
                  <a:srgbClr val="0D4077">
                    <a:alpha val="90000"/>
                  </a:srgbClr>
                </a:solidFill>
                <a:latin typeface="Montserrat Black" panose="00000A00000000000000" pitchFamily="2" charset="0"/>
                <a:ea typeface="Montserrat"/>
                <a:cs typeface="Montserrat"/>
                <a:sym typeface="Montserrat"/>
              </a:rPr>
              <a:t>Kontrolisano poboljšanje</a:t>
            </a:r>
            <a:endParaRPr sz="4000" spc="-150" dirty="0">
              <a:solidFill>
                <a:srgbClr val="0D4077">
                  <a:alpha val="90000"/>
                </a:srgbClr>
              </a:solidFill>
              <a:latin typeface="Montserrat Black" panose="00000A00000000000000" pitchFamily="2" charset="0"/>
              <a:ea typeface="Montserrat"/>
              <a:cs typeface="Montserrat"/>
              <a:sym typeface="Montserrat"/>
            </a:endParaRPr>
          </a:p>
        </p:txBody>
      </p:sp>
      <p:sp>
        <p:nvSpPr>
          <p:cNvPr id="65" name="_text_section_subtitle">
            <a:extLst>
              <a:ext uri="{FF2B5EF4-FFF2-40B4-BE49-F238E27FC236}">
                <a16:creationId xmlns:a16="http://schemas.microsoft.com/office/drawing/2014/main" id="{1A30F914-E789-A81B-2828-166B98C32AB0}"/>
              </a:ext>
            </a:extLst>
          </p:cNvPr>
          <p:cNvSpPr txBox="1">
            <a:spLocks noGrp="1"/>
          </p:cNvSpPr>
          <p:nvPr>
            <p:ph type="subTitle" idx="1"/>
          </p:nvPr>
        </p:nvSpPr>
        <p:spPr>
          <a:xfrm>
            <a:off x="897467" y="2571750"/>
            <a:ext cx="6849534" cy="1105088"/>
          </a:xfrm>
          <a:prstGeom prst="rect">
            <a:avLst/>
          </a:prstGeom>
        </p:spPr>
        <p:txBody>
          <a:bodyPr spcFirstLastPara="1" wrap="square" lIns="91425" tIns="180000" rIns="91425" bIns="0" anchor="t" anchorCtr="0">
            <a:spAutoFit/>
          </a:bodyPr>
          <a:lstStyle/>
          <a:p>
            <a:pPr marL="0" lvl="0" indent="0" algn="l" rtl="0">
              <a:spcBef>
                <a:spcPts val="0"/>
              </a:spcBef>
              <a:spcAft>
                <a:spcPts val="0"/>
              </a:spcAft>
              <a:buNone/>
            </a:pPr>
            <a:r>
              <a:rPr lang="en-GB" sz="2000" dirty="0">
                <a:solidFill>
                  <a:srgbClr val="0D4077"/>
                </a:solidFill>
                <a:latin typeface="Montserrat" panose="00000500000000000000" pitchFamily="2" charset="0"/>
                <a:ea typeface="Lato"/>
                <a:cs typeface="Lato"/>
                <a:sym typeface="Lato"/>
              </a:rPr>
              <a:t>Mali ponovljiv ciklus: izmeri, imenuj propust, promeni jednu stvar, izmeri ponovo.</a:t>
            </a:r>
            <a:endParaRPr sz="2000" dirty="0">
              <a:solidFill>
                <a:srgbClr val="0D4077"/>
              </a:solidFill>
              <a:latin typeface="Montserrat" panose="00000500000000000000" pitchFamily="2" charset="0"/>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9000" r="-29000"/>
          </a:stretch>
        </a:blip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CCEE615A-F458-2EA3-D615-19C3FED6FB9A}"/>
              </a:ext>
            </a:extLst>
          </p:cNvPr>
          <p:cNvSpPr/>
          <p:nvPr/>
        </p:nvSpPr>
        <p:spPr>
          <a:xfrm>
            <a:off x="2717800" y="0"/>
            <a:ext cx="6426201" cy="5143500"/>
          </a:xfrm>
          <a:custGeom>
            <a:avLst/>
            <a:gdLst>
              <a:gd name="csX0" fmla="*/ 905383 w 6426201"/>
              <a:gd name="csY0" fmla="*/ 0 h 5143500"/>
              <a:gd name="csX1" fmla="*/ 2497177 w 6426201"/>
              <a:gd name="csY1" fmla="*/ 0 h 5143500"/>
              <a:gd name="csX2" fmla="*/ 2467862 w 6426201"/>
              <a:gd name="csY2" fmla="*/ 35902 h 5143500"/>
              <a:gd name="csX3" fmla="*/ 2503842 w 6426201"/>
              <a:gd name="csY3" fmla="*/ 389331 h 5143500"/>
              <a:gd name="csX4" fmla="*/ 2901337 w 6426201"/>
              <a:gd name="csY4" fmla="*/ 389331 h 5143500"/>
              <a:gd name="csX5" fmla="*/ 3290630 w 6426201"/>
              <a:gd name="csY5" fmla="*/ 0 h 5143500"/>
              <a:gd name="csX6" fmla="*/ 4880482 w 6426201"/>
              <a:gd name="csY6" fmla="*/ 0 h 5143500"/>
              <a:gd name="csX7" fmla="*/ 1758651 w 6426201"/>
              <a:gd name="csY7" fmla="*/ 3121695 h 5143500"/>
              <a:gd name="csX8" fmla="*/ 1758651 w 6426201"/>
              <a:gd name="csY8" fmla="*/ 3519191 h 5143500"/>
              <a:gd name="csX9" fmla="*/ 2156147 w 6426201"/>
              <a:gd name="csY9" fmla="*/ 3519191 h 5143500"/>
              <a:gd name="csX10" fmla="*/ 5675617 w 6426201"/>
              <a:gd name="csY10" fmla="*/ 0 h 5143500"/>
              <a:gd name="csX11" fmla="*/ 6426201 w 6426201"/>
              <a:gd name="csY11" fmla="*/ 0 h 5143500"/>
              <a:gd name="csX12" fmla="*/ 6426201 w 6426201"/>
              <a:gd name="csY12" fmla="*/ 841724 h 5143500"/>
              <a:gd name="csX13" fmla="*/ 6399107 w 6426201"/>
              <a:gd name="csY13" fmla="*/ 874906 h 5143500"/>
              <a:gd name="csX14" fmla="*/ 6399107 w 6426201"/>
              <a:gd name="csY14" fmla="*/ 1184271 h 5143500"/>
              <a:gd name="csX15" fmla="*/ 6426201 w 6426201"/>
              <a:gd name="csY15" fmla="*/ 1217454 h 5143500"/>
              <a:gd name="csX16" fmla="*/ 6426201 w 6426201"/>
              <a:gd name="csY16" fmla="*/ 3224795 h 5143500"/>
              <a:gd name="csX17" fmla="*/ 5698729 w 6426201"/>
              <a:gd name="csY17" fmla="*/ 3952325 h 5143500"/>
              <a:gd name="csX18" fmla="*/ 5698729 w 6426201"/>
              <a:gd name="csY18" fmla="*/ 4349820 h 5143500"/>
              <a:gd name="csX19" fmla="*/ 6096226 w 6426201"/>
              <a:gd name="csY19" fmla="*/ 4349820 h 5143500"/>
              <a:gd name="csX20" fmla="*/ 6426201 w 6426201"/>
              <a:gd name="csY20" fmla="*/ 4019844 h 5143500"/>
              <a:gd name="csX21" fmla="*/ 6426201 w 6426201"/>
              <a:gd name="csY21" fmla="*/ 5143500 h 5143500"/>
              <a:gd name="csX22" fmla="*/ 5302181 w 6426201"/>
              <a:gd name="csY22" fmla="*/ 5143500 h 5143500"/>
              <a:gd name="csX23" fmla="*/ 5337216 w 6426201"/>
              <a:gd name="csY23" fmla="*/ 5100594 h 5143500"/>
              <a:gd name="csX24" fmla="*/ 5301235 w 6426201"/>
              <a:gd name="csY24" fmla="*/ 4747164 h 5143500"/>
              <a:gd name="csX25" fmla="*/ 4903739 w 6426201"/>
              <a:gd name="csY25" fmla="*/ 4747164 h 5143500"/>
              <a:gd name="csX26" fmla="*/ 4507404 w 6426201"/>
              <a:gd name="csY26" fmla="*/ 5143500 h 5143500"/>
              <a:gd name="csX27" fmla="*/ 2917405 w 6426201"/>
              <a:gd name="csY27" fmla="*/ 5143500 h 5143500"/>
              <a:gd name="csX28" fmla="*/ 6037591 w 6426201"/>
              <a:gd name="csY28" fmla="*/ 2023176 h 5143500"/>
              <a:gd name="csX29" fmla="*/ 6037591 w 6426201"/>
              <a:gd name="csY29" fmla="*/ 1625681 h 5143500"/>
              <a:gd name="csX30" fmla="*/ 5640096 w 6426201"/>
              <a:gd name="csY30" fmla="*/ 1625681 h 5143500"/>
              <a:gd name="csX31" fmla="*/ 2121855 w 6426201"/>
              <a:gd name="csY31" fmla="*/ 5143500 h 5143500"/>
              <a:gd name="csX32" fmla="*/ 896983 w 6426201"/>
              <a:gd name="csY32" fmla="*/ 5143500 h 5143500"/>
              <a:gd name="csX33" fmla="*/ 893618 w 6426201"/>
              <a:gd name="csY33" fmla="*/ 5132153 h 5143500"/>
              <a:gd name="csX34" fmla="*/ 1048034 w 6426201"/>
              <a:gd name="csY34" fmla="*/ 4627306 h 5143500"/>
              <a:gd name="csX35" fmla="*/ 1361157 w 6426201"/>
              <a:gd name="csY35" fmla="*/ 4314183 h 5143500"/>
              <a:gd name="csX36" fmla="*/ 1361157 w 6426201"/>
              <a:gd name="csY36" fmla="*/ 3916686 h 5143500"/>
              <a:gd name="csX37" fmla="*/ 963661 w 6426201"/>
              <a:gd name="csY37" fmla="*/ 3916686 h 5143500"/>
              <a:gd name="csX38" fmla="*/ 959702 w 6426201"/>
              <a:gd name="csY38" fmla="*/ 3920647 h 5143500"/>
              <a:gd name="csX39" fmla="*/ 164711 w 6426201"/>
              <a:gd name="csY39" fmla="*/ 3920647 h 5143500"/>
              <a:gd name="csX40" fmla="*/ 164711 w 6426201"/>
              <a:gd name="csY40" fmla="*/ 3125656 h 5143500"/>
              <a:gd name="csX41" fmla="*/ 2106042 w 6426201"/>
              <a:gd name="csY41" fmla="*/ 1184171 h 5143500"/>
              <a:gd name="csX42" fmla="*/ 2106042 w 6426201"/>
              <a:gd name="csY42" fmla="*/ 786674 h 5143500"/>
              <a:gd name="csX43" fmla="*/ 1708546 w 6426201"/>
              <a:gd name="csY43" fmla="*/ 786674 h 5143500"/>
              <a:gd name="csX44" fmla="*/ 1326585 w 6426201"/>
              <a:gd name="csY44" fmla="*/ 1168636 h 5143500"/>
              <a:gd name="csX45" fmla="*/ 531594 w 6426201"/>
              <a:gd name="csY45" fmla="*/ 1168636 h 5143500"/>
              <a:gd name="csX46" fmla="*/ 531594 w 6426201"/>
              <a:gd name="csY46" fmla="*/ 373644 h 514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426201" h="5143500">
                <a:moveTo>
                  <a:pt x="905383" y="0"/>
                </a:moveTo>
                <a:lnTo>
                  <a:pt x="2497177" y="0"/>
                </a:lnTo>
                <a:lnTo>
                  <a:pt x="2467862" y="35902"/>
                </a:lnTo>
                <a:cubicBezTo>
                  <a:pt x="2395902" y="144966"/>
                  <a:pt x="2407895" y="293384"/>
                  <a:pt x="2503842" y="389331"/>
                </a:cubicBezTo>
                <a:cubicBezTo>
                  <a:pt x="2613496" y="498985"/>
                  <a:pt x="2791683" y="498985"/>
                  <a:pt x="2901337" y="389331"/>
                </a:cubicBezTo>
                <a:lnTo>
                  <a:pt x="3290630" y="0"/>
                </a:lnTo>
                <a:lnTo>
                  <a:pt x="4880482" y="0"/>
                </a:lnTo>
                <a:lnTo>
                  <a:pt x="1758651" y="3121695"/>
                </a:lnTo>
                <a:cubicBezTo>
                  <a:pt x="1648997" y="3231349"/>
                  <a:pt x="1648997" y="3409537"/>
                  <a:pt x="1758651" y="3519191"/>
                </a:cubicBezTo>
                <a:cubicBezTo>
                  <a:pt x="1868305" y="3628845"/>
                  <a:pt x="2046494" y="3628845"/>
                  <a:pt x="2156147" y="3519191"/>
                </a:cubicBezTo>
                <a:lnTo>
                  <a:pt x="5675617" y="0"/>
                </a:lnTo>
                <a:lnTo>
                  <a:pt x="6426201" y="0"/>
                </a:lnTo>
                <a:lnTo>
                  <a:pt x="6426201" y="841724"/>
                </a:lnTo>
                <a:lnTo>
                  <a:pt x="6399107" y="874906"/>
                </a:lnTo>
                <a:cubicBezTo>
                  <a:pt x="6337426" y="968391"/>
                  <a:pt x="6337426" y="1090787"/>
                  <a:pt x="6399107" y="1184271"/>
                </a:cubicBezTo>
                <a:lnTo>
                  <a:pt x="6426201" y="1217454"/>
                </a:lnTo>
                <a:lnTo>
                  <a:pt x="6426201" y="3224795"/>
                </a:lnTo>
                <a:lnTo>
                  <a:pt x="5698729" y="3952325"/>
                </a:lnTo>
                <a:cubicBezTo>
                  <a:pt x="5589076" y="4061979"/>
                  <a:pt x="5589076" y="4240166"/>
                  <a:pt x="5698729" y="4349820"/>
                </a:cubicBezTo>
                <a:cubicBezTo>
                  <a:pt x="5808383" y="4459475"/>
                  <a:pt x="5986572" y="4459475"/>
                  <a:pt x="6096226" y="4349820"/>
                </a:cubicBezTo>
                <a:lnTo>
                  <a:pt x="6426201" y="4019844"/>
                </a:lnTo>
                <a:lnTo>
                  <a:pt x="6426201" y="5143500"/>
                </a:lnTo>
                <a:lnTo>
                  <a:pt x="5302181" y="5143500"/>
                </a:lnTo>
                <a:lnTo>
                  <a:pt x="5337216" y="5100594"/>
                </a:lnTo>
                <a:cubicBezTo>
                  <a:pt x="5409176" y="4991529"/>
                  <a:pt x="5397183" y="4843112"/>
                  <a:pt x="5301235" y="4747164"/>
                </a:cubicBezTo>
                <a:cubicBezTo>
                  <a:pt x="5191581" y="4637510"/>
                  <a:pt x="5013393" y="4637510"/>
                  <a:pt x="4903739" y="4747164"/>
                </a:cubicBezTo>
                <a:lnTo>
                  <a:pt x="4507404" y="5143500"/>
                </a:lnTo>
                <a:lnTo>
                  <a:pt x="2917405" y="5143500"/>
                </a:lnTo>
                <a:lnTo>
                  <a:pt x="6037591" y="2023176"/>
                </a:lnTo>
                <a:cubicBezTo>
                  <a:pt x="6147246" y="1913522"/>
                  <a:pt x="6147246" y="1735335"/>
                  <a:pt x="6037591" y="1625681"/>
                </a:cubicBezTo>
                <a:cubicBezTo>
                  <a:pt x="5927938" y="1516027"/>
                  <a:pt x="5749749" y="1516027"/>
                  <a:pt x="5640096" y="1625681"/>
                </a:cubicBezTo>
                <a:lnTo>
                  <a:pt x="2121855" y="5143500"/>
                </a:lnTo>
                <a:lnTo>
                  <a:pt x="896983" y="5143500"/>
                </a:lnTo>
                <a:lnTo>
                  <a:pt x="893618" y="5132153"/>
                </a:lnTo>
                <a:cubicBezTo>
                  <a:pt x="859304" y="4955007"/>
                  <a:pt x="910776" y="4764564"/>
                  <a:pt x="1048034" y="4627306"/>
                </a:cubicBezTo>
                <a:lnTo>
                  <a:pt x="1361157" y="4314183"/>
                </a:lnTo>
                <a:cubicBezTo>
                  <a:pt x="1470811" y="4204529"/>
                  <a:pt x="1470811" y="4026342"/>
                  <a:pt x="1361157" y="3916686"/>
                </a:cubicBezTo>
                <a:cubicBezTo>
                  <a:pt x="1251503" y="3807032"/>
                  <a:pt x="1073314" y="3807032"/>
                  <a:pt x="963661" y="3916686"/>
                </a:cubicBezTo>
                <a:lnTo>
                  <a:pt x="959702" y="3920647"/>
                </a:lnTo>
                <a:cubicBezTo>
                  <a:pt x="740088" y="4140107"/>
                  <a:pt x="384322" y="4140107"/>
                  <a:pt x="164711" y="3920647"/>
                </a:cubicBezTo>
                <a:cubicBezTo>
                  <a:pt x="-54903" y="3701034"/>
                  <a:pt x="-54903" y="3345115"/>
                  <a:pt x="164711" y="3125656"/>
                </a:cubicBezTo>
                <a:lnTo>
                  <a:pt x="2106042" y="1184171"/>
                </a:lnTo>
                <a:cubicBezTo>
                  <a:pt x="2215696" y="1074517"/>
                  <a:pt x="2215696" y="896328"/>
                  <a:pt x="2106042" y="786674"/>
                </a:cubicBezTo>
                <a:cubicBezTo>
                  <a:pt x="1996388" y="677020"/>
                  <a:pt x="1818200" y="677020"/>
                  <a:pt x="1708546" y="786674"/>
                </a:cubicBezTo>
                <a:lnTo>
                  <a:pt x="1326585" y="1168636"/>
                </a:lnTo>
                <a:cubicBezTo>
                  <a:pt x="1106973" y="1388249"/>
                  <a:pt x="751207" y="1388249"/>
                  <a:pt x="531594" y="1168636"/>
                </a:cubicBezTo>
                <a:cubicBezTo>
                  <a:pt x="311983" y="949024"/>
                  <a:pt x="311983" y="593258"/>
                  <a:pt x="531594" y="373644"/>
                </a:cubicBezTo>
                <a:close/>
              </a:path>
            </a:pathLst>
          </a:custGeom>
          <a:solidFill>
            <a:srgbClr val="FFFF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5" name="_text_title">
            <a:extLst>
              <a:ext uri="{FF2B5EF4-FFF2-40B4-BE49-F238E27FC236}">
                <a16:creationId xmlns:a16="http://schemas.microsoft.com/office/drawing/2014/main" id="{9A9350D6-202F-DCA6-04C4-F3F8A523D648}"/>
              </a:ext>
            </a:extLst>
          </p:cNvPr>
          <p:cNvSpPr txBox="1">
            <a:spLocks noGrp="1"/>
          </p:cNvSpPr>
          <p:nvPr>
            <p:ph type="ctrTitle"/>
          </p:nvPr>
        </p:nvSpPr>
        <p:spPr>
          <a:xfrm>
            <a:off x="589500" y="724453"/>
            <a:ext cx="8402846" cy="430887"/>
          </a:xfrm>
          <a:prstGeom prst="rect">
            <a:avLst/>
          </a:prstGeom>
        </p:spPr>
        <p:txBody>
          <a:bodyPr spcFirstLastPara="1" wrap="square" lIns="91425" tIns="0" rIns="91425" bIns="0" anchor="b" anchorCtr="0">
            <a:spAutoFit/>
          </a:bodyPr>
          <a:lstStyle/>
          <a:p>
            <a:pPr marL="0" lvl="0" indent="0" algn="l" rtl="0">
              <a:spcBef>
                <a:spcPts val="0"/>
              </a:spcBef>
              <a:spcAft>
                <a:spcPts val="0"/>
              </a:spcAft>
              <a:buSzPts val="990"/>
              <a:buNone/>
            </a:pPr>
            <a:r>
              <a:rPr lang="sr" sz="2800" spc="-150" dirty="0">
                <a:solidFill>
                  <a:schemeClr val="lt1">
                    <a:alpha val="90000"/>
                  </a:schemeClr>
                </a:solidFill>
                <a:latin typeface="Montserrat Black" panose="00000A00000000000000" pitchFamily="2" charset="0"/>
                <a:ea typeface="Montserrat"/>
                <a:cs typeface="Montserrat"/>
                <a:sym typeface="Montserrat"/>
              </a:rPr>
              <a:t>Pravilo jedne promene</a:t>
            </a:r>
            <a:endParaRPr sz="2800" spc="-150" dirty="0">
              <a:solidFill>
                <a:schemeClr val="lt1">
                  <a:alpha val="90000"/>
                </a:schemeClr>
              </a:solidFill>
              <a:latin typeface="Montserrat Black" panose="00000A00000000000000" pitchFamily="2" charset="0"/>
              <a:ea typeface="Montserrat"/>
              <a:cs typeface="Montserrat"/>
              <a:sym typeface="Montserrat"/>
            </a:endParaRPr>
          </a:p>
        </p:txBody>
      </p:sp>
      <p:sp>
        <p:nvSpPr>
          <p:cNvPr id="76" name="_text_subtitle">
            <a:extLst>
              <a:ext uri="{FF2B5EF4-FFF2-40B4-BE49-F238E27FC236}">
                <a16:creationId xmlns:a16="http://schemas.microsoft.com/office/drawing/2014/main" id="{89B0C66B-98BD-4D0C-58A2-B37A07AD43A4}"/>
              </a:ext>
            </a:extLst>
          </p:cNvPr>
          <p:cNvSpPr txBox="1">
            <a:spLocks noGrp="1"/>
          </p:cNvSpPr>
          <p:nvPr>
            <p:ph type="subTitle" idx="1"/>
          </p:nvPr>
        </p:nvSpPr>
        <p:spPr>
          <a:xfrm>
            <a:off x="589500" y="1158219"/>
            <a:ext cx="8402846" cy="307777"/>
          </a:xfrm>
          <a:prstGeom prst="rect">
            <a:avLst/>
          </a:prstGeom>
        </p:spPr>
        <p:txBody>
          <a:bodyPr spcFirstLastPara="1" wrap="square" lIns="91425" tIns="0" rIns="91425" bIns="0" anchor="t" anchorCtr="0">
            <a:spAutoFit/>
          </a:bodyPr>
          <a:lstStyle/>
          <a:p>
            <a:pPr marL="0" lvl="0" indent="0" algn="l" rtl="0">
              <a:spcBef>
                <a:spcPts val="0"/>
              </a:spcBef>
              <a:spcAft>
                <a:spcPts val="0"/>
              </a:spcAft>
              <a:buNone/>
            </a:pPr>
            <a:r>
              <a:rPr lang="sr" sz="2000" dirty="0">
                <a:solidFill>
                  <a:schemeClr val="lt1"/>
                </a:solidFill>
                <a:latin typeface="Montserrat" panose="00000500000000000000" pitchFamily="2" charset="0"/>
                <a:ea typeface="Lato"/>
                <a:cs typeface="Lato"/>
                <a:sym typeface="Lato"/>
              </a:rPr>
              <a:t>Razlika pre i posle mora pripadati jednoj odluci</a:t>
            </a:r>
            <a:endParaRPr sz="2000" dirty="0">
              <a:solidFill>
                <a:schemeClr val="lt1"/>
              </a:solidFill>
              <a:latin typeface="Montserrat" panose="00000500000000000000" pitchFamily="2" charset="0"/>
              <a:ea typeface="Lato"/>
              <a:cs typeface="Lato"/>
              <a:sym typeface="Lato"/>
            </a:endParaRPr>
          </a:p>
        </p:txBody>
      </p:sp>
      <p:sp>
        <p:nvSpPr>
          <p:cNvPr id="77" name="_text_main_content">
            <a:extLst>
              <a:ext uri="{FF2B5EF4-FFF2-40B4-BE49-F238E27FC236}">
                <a16:creationId xmlns:a16="http://schemas.microsoft.com/office/drawing/2014/main" id="{01CCEE04-B5AA-8998-D5AD-F320F727EDBA}"/>
              </a:ext>
            </a:extLst>
          </p:cNvPr>
          <p:cNvSpPr txBox="1"/>
          <p:nvPr/>
        </p:nvSpPr>
        <p:spPr>
          <a:xfrm>
            <a:off x="589500" y="1648741"/>
            <a:ext cx="7914900" cy="252373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800"/>
              </a:spcAft>
              <a:buNone/>
            </a:pPr>
            <a:r>
              <a:rPr lang="sr" sz="1200" dirty="0">
                <a:solidFill>
                  <a:srgbClr val="D1E2ED"/>
                </a:solidFill>
                <a:latin typeface="Lato"/>
                <a:ea typeface="Lato"/>
                <a:cs typeface="Lato"/>
                <a:sym typeface="Lato"/>
              </a:rPr>
              <a:t>Ako između dva merenja promenimo veličinu chunk-a, prag odbijanja i način citiranja, a rezultat se popravi, ne znamo šta je pomoglo. Možda je jedna izmena mnogo pomogla, a druga malo odmogla.</a:t>
            </a:r>
            <a:endParaRPr sz="1200" dirty="0">
              <a:solidFill>
                <a:srgbClr val="D1E2ED"/>
              </a:solidFill>
              <a:latin typeface="Lato"/>
              <a:ea typeface="Lato"/>
              <a:cs typeface="Lato"/>
              <a:sym typeface="Lato"/>
            </a:endParaRPr>
          </a:p>
          <a:p>
            <a:pPr marL="0" lvl="0" indent="0" algn="l" rtl="0">
              <a:spcBef>
                <a:spcPts val="0"/>
              </a:spcBef>
              <a:spcAft>
                <a:spcPts val="800"/>
              </a:spcAft>
              <a:buNone/>
            </a:pPr>
            <a:endParaRPr sz="1200" dirty="0">
              <a:solidFill>
                <a:srgbClr val="D1E2ED"/>
              </a:solidFill>
              <a:latin typeface="Lato"/>
              <a:ea typeface="Lato"/>
              <a:cs typeface="Lato"/>
              <a:sym typeface="Lato"/>
            </a:endParaRPr>
          </a:p>
          <a:p>
            <a:pPr marL="0" lvl="0" indent="0" algn="l" rtl="0">
              <a:spcBef>
                <a:spcPts val="0"/>
              </a:spcBef>
              <a:spcAft>
                <a:spcPts val="800"/>
              </a:spcAft>
              <a:buNone/>
            </a:pPr>
            <a:r>
              <a:rPr lang="sr" sz="1200" dirty="0">
                <a:solidFill>
                  <a:srgbClr val="D1E2ED"/>
                </a:solidFill>
                <a:latin typeface="Lato"/>
                <a:ea typeface="Lato"/>
                <a:cs typeface="Lato"/>
                <a:sym typeface="Lato"/>
              </a:rPr>
              <a:t>Jedna promena znači jedna namera, ne jedna linija koda. Prelazak na sečenje po rečenicama može da promeni dvadeset linija i da bude jedna promena. Filtriranje čestih reči i pomeranje praga su dve promene, iako mogu stati u pet linija. Pravilo jedne promene je uslov za prolaz ove nedelje.</a:t>
            </a:r>
            <a:endParaRPr sz="1200" dirty="0">
              <a:solidFill>
                <a:srgbClr val="D1E2ED"/>
              </a:solidFill>
              <a:latin typeface="Lato"/>
              <a:ea typeface="Lato"/>
              <a:cs typeface="Lato"/>
              <a:sym typeface="Lato"/>
            </a:endParaRPr>
          </a:p>
        </p:txBody>
      </p:sp>
      <p:sp>
        <p:nvSpPr>
          <p:cNvPr id="3" name="Graphic 4">
            <a:extLst>
              <a:ext uri="{FF2B5EF4-FFF2-40B4-BE49-F238E27FC236}">
                <a16:creationId xmlns:a16="http://schemas.microsoft.com/office/drawing/2014/main" id="{196CB132-CCD2-8F8E-0354-6FEF50E45CED}"/>
              </a:ext>
            </a:extLst>
          </p:cNvPr>
          <p:cNvSpPr/>
          <p:nvPr/>
        </p:nvSpPr>
        <p:spPr>
          <a:xfrm>
            <a:off x="213083" y="343327"/>
            <a:ext cx="180000" cy="180000"/>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alpha val="95000"/>
            </a:srgbClr>
          </a:solidFill>
          <a:ln w="9525" cap="flat">
            <a:noFill/>
            <a:prstDash val="solid"/>
            <a:miter/>
          </a:ln>
        </p:spPr>
        <p:txBody>
          <a:bodyPr/>
          <a:lstStyle/>
          <a:p>
            <a:endParaRPr lang="en-GB"/>
          </a:p>
        </p:txBody>
      </p:sp>
      <p:pic>
        <p:nvPicPr>
          <p:cNvPr id="78" name="_image_small_company_logo" descr="EPAM"/>
          <p:cNvPicPr>
            <a:picLocks noChangeAspect="1"/>
          </p:cNvPicPr>
          <p:nvPr/>
        </p:nvPicPr>
        <p:blipFill>
          <a:blip r:embed="rId4"/>
          <a:stretch>
            <a:fillRect/>
          </a:stretch>
        </p:blipFill>
        <p:spPr>
          <a:xfrm>
            <a:off x="490324" y="344427"/>
            <a:ext cx="504923" cy="177800"/>
          </a:xfrm>
          <a:prstGeom prst="rect">
            <a:avLst/>
          </a:prstGeom>
        </p:spPr>
      </p:pic>
      <p:sp>
        <p:nvSpPr>
          <p:cNvPr id="9" name="_text_section">
            <a:extLst>
              <a:ext uri="{FF2B5EF4-FFF2-40B4-BE49-F238E27FC236}">
                <a16:creationId xmlns:a16="http://schemas.microsoft.com/office/drawing/2014/main" id="{EB8B8E35-59BE-97C9-309E-BC2EEE79BB0D}"/>
              </a:ext>
            </a:extLst>
          </p:cNvPr>
          <p:cNvSpPr txBox="1">
            <a:spLocks/>
          </p:cNvSpPr>
          <p:nvPr/>
        </p:nvSpPr>
        <p:spPr>
          <a:xfrm>
            <a:off x="5927725" y="4663806"/>
            <a:ext cx="2564917" cy="15388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9pPr>
          </a:lstStyle>
          <a:p>
            <a:pPr marL="0" indent="0" algn="r"/>
            <a:r>
              <a:rPr lang="sr-Latn-RS" sz="1000" dirty="0">
                <a:solidFill>
                  <a:schemeClr val="lt1"/>
                </a:solidFill>
                <a:latin typeface="Lato"/>
                <a:ea typeface="Lato"/>
                <a:cs typeface="Lato"/>
                <a:sym typeface="Lato"/>
              </a:rPr>
              <a:t>Poboljšanje</a:t>
            </a:r>
            <a:endParaRPr lang="en-GB" sz="1000" dirty="0">
              <a:solidFill>
                <a:schemeClr val="lt1"/>
              </a:solidFill>
              <a:latin typeface="Lato"/>
              <a:ea typeface="Lato"/>
              <a:cs typeface="Lato"/>
              <a:sym typeface="Lato"/>
            </a:endParaRPr>
          </a:p>
        </p:txBody>
      </p:sp>
      <p:sp>
        <p:nvSpPr>
          <p:cNvPr id="5" name="_text_page">
            <a:extLst>
              <a:ext uri="{FF2B5EF4-FFF2-40B4-BE49-F238E27FC236}">
                <a16:creationId xmlns:a16="http://schemas.microsoft.com/office/drawing/2014/main" id="{3C682F78-0194-56CA-EE15-FF0DD081B353}"/>
              </a:ext>
            </a:extLst>
          </p:cNvPr>
          <p:cNvSpPr txBox="1"/>
          <p:nvPr/>
        </p:nvSpPr>
        <p:spPr>
          <a:xfrm>
            <a:off x="8492643" y="4500000"/>
            <a:ext cx="469800" cy="481500"/>
          </a:xfrm>
          <a:prstGeom prst="rect">
            <a:avLst/>
          </a:prstGeom>
          <a:noFill/>
          <a:ln>
            <a:noFill/>
          </a:ln>
        </p:spPr>
        <p:txBody>
          <a:bodyPr spcFirstLastPara="1" wrap="square" lIns="0" tIns="91425" rIns="0" bIns="91425" anchor="t" anchorCtr="0">
            <a:noAutofit/>
          </a:bodyPr>
          <a:lstStyle/>
          <a:p>
            <a:pPr marL="0" lvl="0" indent="0" algn="ctr" rtl="0">
              <a:spcBef>
                <a:spcPts val="0"/>
              </a:spcBef>
              <a:spcAft>
                <a:spcPts val="0"/>
              </a:spcAft>
              <a:buNone/>
            </a:pPr>
            <a:r>
              <a:rPr lang="sr" sz="1800" dirty="0">
                <a:solidFill>
                  <a:schemeClr val="lt1"/>
                </a:solidFill>
                <a:latin typeface="Montserrat"/>
                <a:ea typeface="Montserrat"/>
                <a:cs typeface="Montserrat"/>
                <a:sym typeface="Montserrat"/>
              </a:rPr>
              <a:t>2</a:t>
            </a:r>
            <a:r>
              <a:rPr lang="en-US" sz="1800" dirty="0">
                <a:solidFill>
                  <a:schemeClr val="lt1"/>
                </a:solidFill>
                <a:latin typeface="Montserrat"/>
                <a:ea typeface="Montserrat"/>
                <a:cs typeface="Montserrat"/>
                <a:sym typeface="Montserrat"/>
              </a:rPr>
              <a:t>1</a:t>
            </a:r>
            <a:endParaRPr sz="1800" dirty="0">
              <a:solidFill>
                <a:schemeClr val="lt1"/>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9000" r="-29000"/>
          </a:stretch>
        </a:blip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E9523967-3543-8A35-5737-DA9B2838BD21}"/>
              </a:ext>
            </a:extLst>
          </p:cNvPr>
          <p:cNvSpPr/>
          <p:nvPr/>
        </p:nvSpPr>
        <p:spPr>
          <a:xfrm>
            <a:off x="2717800" y="0"/>
            <a:ext cx="6426201" cy="5143500"/>
          </a:xfrm>
          <a:custGeom>
            <a:avLst/>
            <a:gdLst>
              <a:gd name="csX0" fmla="*/ 905383 w 6426201"/>
              <a:gd name="csY0" fmla="*/ 0 h 5143500"/>
              <a:gd name="csX1" fmla="*/ 2497177 w 6426201"/>
              <a:gd name="csY1" fmla="*/ 0 h 5143500"/>
              <a:gd name="csX2" fmla="*/ 2467862 w 6426201"/>
              <a:gd name="csY2" fmla="*/ 35902 h 5143500"/>
              <a:gd name="csX3" fmla="*/ 2503842 w 6426201"/>
              <a:gd name="csY3" fmla="*/ 389331 h 5143500"/>
              <a:gd name="csX4" fmla="*/ 2901337 w 6426201"/>
              <a:gd name="csY4" fmla="*/ 389331 h 5143500"/>
              <a:gd name="csX5" fmla="*/ 3290630 w 6426201"/>
              <a:gd name="csY5" fmla="*/ 0 h 5143500"/>
              <a:gd name="csX6" fmla="*/ 4880482 w 6426201"/>
              <a:gd name="csY6" fmla="*/ 0 h 5143500"/>
              <a:gd name="csX7" fmla="*/ 1758651 w 6426201"/>
              <a:gd name="csY7" fmla="*/ 3121695 h 5143500"/>
              <a:gd name="csX8" fmla="*/ 1758651 w 6426201"/>
              <a:gd name="csY8" fmla="*/ 3519191 h 5143500"/>
              <a:gd name="csX9" fmla="*/ 2156147 w 6426201"/>
              <a:gd name="csY9" fmla="*/ 3519191 h 5143500"/>
              <a:gd name="csX10" fmla="*/ 5675617 w 6426201"/>
              <a:gd name="csY10" fmla="*/ 0 h 5143500"/>
              <a:gd name="csX11" fmla="*/ 6426201 w 6426201"/>
              <a:gd name="csY11" fmla="*/ 0 h 5143500"/>
              <a:gd name="csX12" fmla="*/ 6426201 w 6426201"/>
              <a:gd name="csY12" fmla="*/ 841724 h 5143500"/>
              <a:gd name="csX13" fmla="*/ 6399107 w 6426201"/>
              <a:gd name="csY13" fmla="*/ 874906 h 5143500"/>
              <a:gd name="csX14" fmla="*/ 6399107 w 6426201"/>
              <a:gd name="csY14" fmla="*/ 1184271 h 5143500"/>
              <a:gd name="csX15" fmla="*/ 6426201 w 6426201"/>
              <a:gd name="csY15" fmla="*/ 1217454 h 5143500"/>
              <a:gd name="csX16" fmla="*/ 6426201 w 6426201"/>
              <a:gd name="csY16" fmla="*/ 3224795 h 5143500"/>
              <a:gd name="csX17" fmla="*/ 5698729 w 6426201"/>
              <a:gd name="csY17" fmla="*/ 3952325 h 5143500"/>
              <a:gd name="csX18" fmla="*/ 5698729 w 6426201"/>
              <a:gd name="csY18" fmla="*/ 4349820 h 5143500"/>
              <a:gd name="csX19" fmla="*/ 6096226 w 6426201"/>
              <a:gd name="csY19" fmla="*/ 4349820 h 5143500"/>
              <a:gd name="csX20" fmla="*/ 6426201 w 6426201"/>
              <a:gd name="csY20" fmla="*/ 4019844 h 5143500"/>
              <a:gd name="csX21" fmla="*/ 6426201 w 6426201"/>
              <a:gd name="csY21" fmla="*/ 5143500 h 5143500"/>
              <a:gd name="csX22" fmla="*/ 5302181 w 6426201"/>
              <a:gd name="csY22" fmla="*/ 5143500 h 5143500"/>
              <a:gd name="csX23" fmla="*/ 5337216 w 6426201"/>
              <a:gd name="csY23" fmla="*/ 5100594 h 5143500"/>
              <a:gd name="csX24" fmla="*/ 5301235 w 6426201"/>
              <a:gd name="csY24" fmla="*/ 4747164 h 5143500"/>
              <a:gd name="csX25" fmla="*/ 4903739 w 6426201"/>
              <a:gd name="csY25" fmla="*/ 4747164 h 5143500"/>
              <a:gd name="csX26" fmla="*/ 4507404 w 6426201"/>
              <a:gd name="csY26" fmla="*/ 5143500 h 5143500"/>
              <a:gd name="csX27" fmla="*/ 2917405 w 6426201"/>
              <a:gd name="csY27" fmla="*/ 5143500 h 5143500"/>
              <a:gd name="csX28" fmla="*/ 6037591 w 6426201"/>
              <a:gd name="csY28" fmla="*/ 2023176 h 5143500"/>
              <a:gd name="csX29" fmla="*/ 6037591 w 6426201"/>
              <a:gd name="csY29" fmla="*/ 1625681 h 5143500"/>
              <a:gd name="csX30" fmla="*/ 5640096 w 6426201"/>
              <a:gd name="csY30" fmla="*/ 1625681 h 5143500"/>
              <a:gd name="csX31" fmla="*/ 2121855 w 6426201"/>
              <a:gd name="csY31" fmla="*/ 5143500 h 5143500"/>
              <a:gd name="csX32" fmla="*/ 896983 w 6426201"/>
              <a:gd name="csY32" fmla="*/ 5143500 h 5143500"/>
              <a:gd name="csX33" fmla="*/ 893618 w 6426201"/>
              <a:gd name="csY33" fmla="*/ 5132153 h 5143500"/>
              <a:gd name="csX34" fmla="*/ 1048034 w 6426201"/>
              <a:gd name="csY34" fmla="*/ 4627306 h 5143500"/>
              <a:gd name="csX35" fmla="*/ 1361157 w 6426201"/>
              <a:gd name="csY35" fmla="*/ 4314183 h 5143500"/>
              <a:gd name="csX36" fmla="*/ 1361157 w 6426201"/>
              <a:gd name="csY36" fmla="*/ 3916686 h 5143500"/>
              <a:gd name="csX37" fmla="*/ 963661 w 6426201"/>
              <a:gd name="csY37" fmla="*/ 3916686 h 5143500"/>
              <a:gd name="csX38" fmla="*/ 959702 w 6426201"/>
              <a:gd name="csY38" fmla="*/ 3920647 h 5143500"/>
              <a:gd name="csX39" fmla="*/ 164711 w 6426201"/>
              <a:gd name="csY39" fmla="*/ 3920647 h 5143500"/>
              <a:gd name="csX40" fmla="*/ 164711 w 6426201"/>
              <a:gd name="csY40" fmla="*/ 3125656 h 5143500"/>
              <a:gd name="csX41" fmla="*/ 2106042 w 6426201"/>
              <a:gd name="csY41" fmla="*/ 1184171 h 5143500"/>
              <a:gd name="csX42" fmla="*/ 2106042 w 6426201"/>
              <a:gd name="csY42" fmla="*/ 786674 h 5143500"/>
              <a:gd name="csX43" fmla="*/ 1708546 w 6426201"/>
              <a:gd name="csY43" fmla="*/ 786674 h 5143500"/>
              <a:gd name="csX44" fmla="*/ 1326585 w 6426201"/>
              <a:gd name="csY44" fmla="*/ 1168636 h 5143500"/>
              <a:gd name="csX45" fmla="*/ 531594 w 6426201"/>
              <a:gd name="csY45" fmla="*/ 1168636 h 5143500"/>
              <a:gd name="csX46" fmla="*/ 531594 w 6426201"/>
              <a:gd name="csY46" fmla="*/ 373644 h 514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426201" h="5143500">
                <a:moveTo>
                  <a:pt x="905383" y="0"/>
                </a:moveTo>
                <a:lnTo>
                  <a:pt x="2497177" y="0"/>
                </a:lnTo>
                <a:lnTo>
                  <a:pt x="2467862" y="35902"/>
                </a:lnTo>
                <a:cubicBezTo>
                  <a:pt x="2395902" y="144966"/>
                  <a:pt x="2407895" y="293384"/>
                  <a:pt x="2503842" y="389331"/>
                </a:cubicBezTo>
                <a:cubicBezTo>
                  <a:pt x="2613496" y="498985"/>
                  <a:pt x="2791683" y="498985"/>
                  <a:pt x="2901337" y="389331"/>
                </a:cubicBezTo>
                <a:lnTo>
                  <a:pt x="3290630" y="0"/>
                </a:lnTo>
                <a:lnTo>
                  <a:pt x="4880482" y="0"/>
                </a:lnTo>
                <a:lnTo>
                  <a:pt x="1758651" y="3121695"/>
                </a:lnTo>
                <a:cubicBezTo>
                  <a:pt x="1648997" y="3231349"/>
                  <a:pt x="1648997" y="3409537"/>
                  <a:pt x="1758651" y="3519191"/>
                </a:cubicBezTo>
                <a:cubicBezTo>
                  <a:pt x="1868305" y="3628845"/>
                  <a:pt x="2046494" y="3628845"/>
                  <a:pt x="2156147" y="3519191"/>
                </a:cubicBezTo>
                <a:lnTo>
                  <a:pt x="5675617" y="0"/>
                </a:lnTo>
                <a:lnTo>
                  <a:pt x="6426201" y="0"/>
                </a:lnTo>
                <a:lnTo>
                  <a:pt x="6426201" y="841724"/>
                </a:lnTo>
                <a:lnTo>
                  <a:pt x="6399107" y="874906"/>
                </a:lnTo>
                <a:cubicBezTo>
                  <a:pt x="6337426" y="968391"/>
                  <a:pt x="6337426" y="1090787"/>
                  <a:pt x="6399107" y="1184271"/>
                </a:cubicBezTo>
                <a:lnTo>
                  <a:pt x="6426201" y="1217454"/>
                </a:lnTo>
                <a:lnTo>
                  <a:pt x="6426201" y="3224795"/>
                </a:lnTo>
                <a:lnTo>
                  <a:pt x="5698729" y="3952325"/>
                </a:lnTo>
                <a:cubicBezTo>
                  <a:pt x="5589076" y="4061979"/>
                  <a:pt x="5589076" y="4240166"/>
                  <a:pt x="5698729" y="4349820"/>
                </a:cubicBezTo>
                <a:cubicBezTo>
                  <a:pt x="5808383" y="4459475"/>
                  <a:pt x="5986572" y="4459475"/>
                  <a:pt x="6096226" y="4349820"/>
                </a:cubicBezTo>
                <a:lnTo>
                  <a:pt x="6426201" y="4019844"/>
                </a:lnTo>
                <a:lnTo>
                  <a:pt x="6426201" y="5143500"/>
                </a:lnTo>
                <a:lnTo>
                  <a:pt x="5302181" y="5143500"/>
                </a:lnTo>
                <a:lnTo>
                  <a:pt x="5337216" y="5100594"/>
                </a:lnTo>
                <a:cubicBezTo>
                  <a:pt x="5409176" y="4991529"/>
                  <a:pt x="5397183" y="4843112"/>
                  <a:pt x="5301235" y="4747164"/>
                </a:cubicBezTo>
                <a:cubicBezTo>
                  <a:pt x="5191581" y="4637510"/>
                  <a:pt x="5013393" y="4637510"/>
                  <a:pt x="4903739" y="4747164"/>
                </a:cubicBezTo>
                <a:lnTo>
                  <a:pt x="4507404" y="5143500"/>
                </a:lnTo>
                <a:lnTo>
                  <a:pt x="2917405" y="5143500"/>
                </a:lnTo>
                <a:lnTo>
                  <a:pt x="6037591" y="2023176"/>
                </a:lnTo>
                <a:cubicBezTo>
                  <a:pt x="6147246" y="1913522"/>
                  <a:pt x="6147246" y="1735335"/>
                  <a:pt x="6037591" y="1625681"/>
                </a:cubicBezTo>
                <a:cubicBezTo>
                  <a:pt x="5927938" y="1516027"/>
                  <a:pt x="5749749" y="1516027"/>
                  <a:pt x="5640096" y="1625681"/>
                </a:cubicBezTo>
                <a:lnTo>
                  <a:pt x="2121855" y="5143500"/>
                </a:lnTo>
                <a:lnTo>
                  <a:pt x="896983" y="5143500"/>
                </a:lnTo>
                <a:lnTo>
                  <a:pt x="893618" y="5132153"/>
                </a:lnTo>
                <a:cubicBezTo>
                  <a:pt x="859304" y="4955007"/>
                  <a:pt x="910776" y="4764564"/>
                  <a:pt x="1048034" y="4627306"/>
                </a:cubicBezTo>
                <a:lnTo>
                  <a:pt x="1361157" y="4314183"/>
                </a:lnTo>
                <a:cubicBezTo>
                  <a:pt x="1470811" y="4204529"/>
                  <a:pt x="1470811" y="4026342"/>
                  <a:pt x="1361157" y="3916686"/>
                </a:cubicBezTo>
                <a:cubicBezTo>
                  <a:pt x="1251503" y="3807032"/>
                  <a:pt x="1073314" y="3807032"/>
                  <a:pt x="963661" y="3916686"/>
                </a:cubicBezTo>
                <a:lnTo>
                  <a:pt x="959702" y="3920647"/>
                </a:lnTo>
                <a:cubicBezTo>
                  <a:pt x="740088" y="4140107"/>
                  <a:pt x="384322" y="4140107"/>
                  <a:pt x="164711" y="3920647"/>
                </a:cubicBezTo>
                <a:cubicBezTo>
                  <a:pt x="-54903" y="3701034"/>
                  <a:pt x="-54903" y="3345115"/>
                  <a:pt x="164711" y="3125656"/>
                </a:cubicBezTo>
                <a:lnTo>
                  <a:pt x="2106042" y="1184171"/>
                </a:lnTo>
                <a:cubicBezTo>
                  <a:pt x="2215696" y="1074517"/>
                  <a:pt x="2215696" y="896328"/>
                  <a:pt x="2106042" y="786674"/>
                </a:cubicBezTo>
                <a:cubicBezTo>
                  <a:pt x="1996388" y="677020"/>
                  <a:pt x="1818200" y="677020"/>
                  <a:pt x="1708546" y="786674"/>
                </a:cubicBezTo>
                <a:lnTo>
                  <a:pt x="1326585" y="1168636"/>
                </a:lnTo>
                <a:cubicBezTo>
                  <a:pt x="1106973" y="1388249"/>
                  <a:pt x="751207" y="1388249"/>
                  <a:pt x="531594" y="1168636"/>
                </a:cubicBezTo>
                <a:cubicBezTo>
                  <a:pt x="311983" y="949024"/>
                  <a:pt x="311983" y="593258"/>
                  <a:pt x="531594" y="373644"/>
                </a:cubicBezTo>
                <a:close/>
              </a:path>
            </a:pathLst>
          </a:custGeom>
          <a:solidFill>
            <a:srgbClr val="FFFF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 name="_text_title">
            <a:extLst>
              <a:ext uri="{FF2B5EF4-FFF2-40B4-BE49-F238E27FC236}">
                <a16:creationId xmlns:a16="http://schemas.microsoft.com/office/drawing/2014/main" id="{AE1EB1BC-AB84-C488-189A-8E0A85D43E25}"/>
              </a:ext>
            </a:extLst>
          </p:cNvPr>
          <p:cNvSpPr txBox="1">
            <a:spLocks/>
          </p:cNvSpPr>
          <p:nvPr/>
        </p:nvSpPr>
        <p:spPr>
          <a:xfrm>
            <a:off x="589500" y="724453"/>
            <a:ext cx="8402846" cy="430887"/>
          </a:xfrm>
          <a:prstGeom prst="rect">
            <a:avLst/>
          </a:prstGeom>
          <a:noFill/>
          <a:ln>
            <a:noFill/>
          </a:ln>
        </p:spPr>
        <p:txBody>
          <a:bodyPr spcFirstLastPara="1" wrap="square" lIns="91425" tIns="0" rIns="91425" bIns="0" anchor="b" anchorCtr="0">
            <a:sp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9pPr>
          </a:lstStyle>
          <a:p>
            <a:pPr algn="l">
              <a:buSzPts val="990"/>
            </a:pPr>
            <a:r>
              <a:rPr lang="en-GB" sz="2800" spc="-150" dirty="0">
                <a:solidFill>
                  <a:schemeClr val="lt1">
                    <a:alpha val="90000"/>
                  </a:schemeClr>
                </a:solidFill>
                <a:latin typeface="Montserrat Black" panose="00000A00000000000000" pitchFamily="2" charset="0"/>
                <a:ea typeface="Montserrat"/>
                <a:cs typeface="Montserrat"/>
                <a:sym typeface="Montserrat"/>
              </a:rPr>
              <a:t>Ciklus poboljšanja</a:t>
            </a:r>
          </a:p>
        </p:txBody>
      </p:sp>
      <p:sp>
        <p:nvSpPr>
          <p:cNvPr id="9" name="_text_subtitle">
            <a:extLst>
              <a:ext uri="{FF2B5EF4-FFF2-40B4-BE49-F238E27FC236}">
                <a16:creationId xmlns:a16="http://schemas.microsoft.com/office/drawing/2014/main" id="{99B1321B-B9F4-6FDE-2AB9-A78122DE2B0B}"/>
              </a:ext>
            </a:extLst>
          </p:cNvPr>
          <p:cNvSpPr txBox="1">
            <a:spLocks/>
          </p:cNvSpPr>
          <p:nvPr/>
        </p:nvSpPr>
        <p:spPr>
          <a:xfrm>
            <a:off x="589500" y="1158219"/>
            <a:ext cx="8402846" cy="307777"/>
          </a:xfrm>
          <a:prstGeom prst="rect">
            <a:avLst/>
          </a:prstGeom>
          <a:noFill/>
          <a:ln>
            <a:noFill/>
          </a:ln>
        </p:spPr>
        <p:txBody>
          <a:bodyPr spcFirstLastPara="1" wrap="square" lIns="91425" tIns="0" rIns="91425" bIns="0" anchor="t" anchorCtr="0">
            <a:sp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9pPr>
          </a:lstStyle>
          <a:p>
            <a:pPr marL="0" indent="0" algn="l"/>
            <a:r>
              <a:rPr lang="en-GB" sz="2000" dirty="0" err="1">
                <a:solidFill>
                  <a:schemeClr val="lt1"/>
                </a:solidFill>
                <a:latin typeface="Montserrat" panose="00000500000000000000" pitchFamily="2" charset="0"/>
                <a:ea typeface="Lato"/>
                <a:cs typeface="Lato"/>
                <a:sym typeface="Lato"/>
              </a:rPr>
              <a:t>Pet koraka koje ponavljamo ove i sledeće nedelje</a:t>
            </a:r>
            <a:endParaRPr lang="en-GB" sz="2000" dirty="0">
              <a:solidFill>
                <a:schemeClr val="lt1"/>
              </a:solidFill>
              <a:latin typeface="Montserrat" panose="00000500000000000000" pitchFamily="2" charset="0"/>
              <a:ea typeface="Lato"/>
              <a:cs typeface="Lato"/>
              <a:sym typeface="Lato"/>
            </a:endParaRPr>
          </a:p>
        </p:txBody>
      </p:sp>
      <p:sp>
        <p:nvSpPr>
          <p:cNvPr id="3" name="Graphic 4">
            <a:extLst>
              <a:ext uri="{FF2B5EF4-FFF2-40B4-BE49-F238E27FC236}">
                <a16:creationId xmlns:a16="http://schemas.microsoft.com/office/drawing/2014/main" id="{4032E5A3-FA80-43AB-9F94-34A8AC807A06}"/>
              </a:ext>
            </a:extLst>
          </p:cNvPr>
          <p:cNvSpPr/>
          <p:nvPr/>
        </p:nvSpPr>
        <p:spPr>
          <a:xfrm>
            <a:off x="213083" y="343327"/>
            <a:ext cx="180000" cy="180000"/>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alpha val="95000"/>
            </a:srgbClr>
          </a:solidFill>
          <a:ln w="9525" cap="flat">
            <a:noFill/>
            <a:prstDash val="solid"/>
            <a:miter/>
          </a:ln>
        </p:spPr>
        <p:txBody>
          <a:bodyPr/>
          <a:lstStyle/>
          <a:p>
            <a:endParaRPr lang="en-GB"/>
          </a:p>
        </p:txBody>
      </p:sp>
      <p:sp>
        <p:nvSpPr>
          <p:cNvPr id="21" name="_text_main_content">
            <a:extLst>
              <a:ext uri="{FF2B5EF4-FFF2-40B4-BE49-F238E27FC236}">
                <a16:creationId xmlns:a16="http://schemas.microsoft.com/office/drawing/2014/main" id="{E0264961-D2DE-C1C1-4E15-601E8622C653}"/>
              </a:ext>
            </a:extLst>
          </p:cNvPr>
          <p:cNvSpPr txBox="1"/>
          <p:nvPr/>
        </p:nvSpPr>
        <p:spPr>
          <a:xfrm>
            <a:off x="589500" y="1648741"/>
            <a:ext cx="7914900" cy="149781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800"/>
              </a:spcAft>
              <a:buNone/>
            </a:pPr>
            <a:r>
              <a:rPr lang="sr" sz="1200" dirty="0">
                <a:solidFill>
                  <a:srgbClr val="D1E2ED"/>
                </a:solidFill>
                <a:latin typeface="Lato"/>
                <a:ea typeface="Lato"/>
                <a:cs typeface="Lato"/>
                <a:sym typeface="Lato"/>
              </a:rPr>
              <a:t>Isti ciklus koristite u nedeljnom zadatku: početni rezultat na fiksnom skupu, imenovan propust, jedna promena, novo merenje istom komandom, bez menjanja pitanja, i izveštaj koji pošteno kaže šta se popravilo, šta se pokvarilo i šta ostaje slabo.</a:t>
            </a:r>
            <a:endParaRPr sz="1200" dirty="0">
              <a:solidFill>
                <a:srgbClr val="D1E2ED"/>
              </a:solidFill>
              <a:latin typeface="Lato"/>
              <a:ea typeface="Lato"/>
              <a:cs typeface="Lato"/>
              <a:sym typeface="Lato"/>
            </a:endParaRPr>
          </a:p>
        </p:txBody>
      </p:sp>
      <p:pic>
        <p:nvPicPr>
          <p:cNvPr id="131" name="_image_illustration" descr="Pet koraka: izmeri na fiksnom skupu, imenuj propust, promeni jednu stvar, izmeri ponovo, izveštaj pre i posle"/>
          <p:cNvPicPr>
            <a:picLocks noChangeAspect="1"/>
          </p:cNvPicPr>
          <p:nvPr/>
        </p:nvPicPr>
        <p:blipFill>
          <a:blip r:embed="rId4"/>
          <a:stretch>
            <a:fillRect/>
          </a:stretch>
        </p:blipFill>
        <p:spPr>
          <a:xfrm>
            <a:off x="-35229" y="3703979"/>
            <a:ext cx="9197400" cy="1439342"/>
          </a:xfrm>
          <a:prstGeom prst="rect">
            <a:avLst/>
          </a:prstGeom>
        </p:spPr>
      </p:pic>
      <p:pic>
        <p:nvPicPr>
          <p:cNvPr id="130" name="_image_small_company_logo" descr="EPAM"/>
          <p:cNvPicPr>
            <a:picLocks noChangeAspect="1"/>
          </p:cNvPicPr>
          <p:nvPr/>
        </p:nvPicPr>
        <p:blipFill>
          <a:blip r:embed="rId5"/>
          <a:stretch>
            <a:fillRect/>
          </a:stretch>
        </p:blipFill>
        <p:spPr>
          <a:xfrm>
            <a:off x="490324" y="344427"/>
            <a:ext cx="504923" cy="1778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9000" r="-29000"/>
          </a:stretch>
        </a:blip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F436A335-E91F-DFEE-542E-F305787FDDEE}"/>
              </a:ext>
            </a:extLst>
          </p:cNvPr>
          <p:cNvSpPr/>
          <p:nvPr/>
        </p:nvSpPr>
        <p:spPr>
          <a:xfrm>
            <a:off x="2717800" y="0"/>
            <a:ext cx="6426201" cy="5143500"/>
          </a:xfrm>
          <a:custGeom>
            <a:avLst/>
            <a:gdLst>
              <a:gd name="csX0" fmla="*/ 905383 w 6426201"/>
              <a:gd name="csY0" fmla="*/ 0 h 5143500"/>
              <a:gd name="csX1" fmla="*/ 2497177 w 6426201"/>
              <a:gd name="csY1" fmla="*/ 0 h 5143500"/>
              <a:gd name="csX2" fmla="*/ 2467862 w 6426201"/>
              <a:gd name="csY2" fmla="*/ 35902 h 5143500"/>
              <a:gd name="csX3" fmla="*/ 2503842 w 6426201"/>
              <a:gd name="csY3" fmla="*/ 389331 h 5143500"/>
              <a:gd name="csX4" fmla="*/ 2901337 w 6426201"/>
              <a:gd name="csY4" fmla="*/ 389331 h 5143500"/>
              <a:gd name="csX5" fmla="*/ 3290630 w 6426201"/>
              <a:gd name="csY5" fmla="*/ 0 h 5143500"/>
              <a:gd name="csX6" fmla="*/ 4880482 w 6426201"/>
              <a:gd name="csY6" fmla="*/ 0 h 5143500"/>
              <a:gd name="csX7" fmla="*/ 1758651 w 6426201"/>
              <a:gd name="csY7" fmla="*/ 3121695 h 5143500"/>
              <a:gd name="csX8" fmla="*/ 1758651 w 6426201"/>
              <a:gd name="csY8" fmla="*/ 3519191 h 5143500"/>
              <a:gd name="csX9" fmla="*/ 2156147 w 6426201"/>
              <a:gd name="csY9" fmla="*/ 3519191 h 5143500"/>
              <a:gd name="csX10" fmla="*/ 5675617 w 6426201"/>
              <a:gd name="csY10" fmla="*/ 0 h 5143500"/>
              <a:gd name="csX11" fmla="*/ 6426201 w 6426201"/>
              <a:gd name="csY11" fmla="*/ 0 h 5143500"/>
              <a:gd name="csX12" fmla="*/ 6426201 w 6426201"/>
              <a:gd name="csY12" fmla="*/ 841724 h 5143500"/>
              <a:gd name="csX13" fmla="*/ 6399107 w 6426201"/>
              <a:gd name="csY13" fmla="*/ 874906 h 5143500"/>
              <a:gd name="csX14" fmla="*/ 6399107 w 6426201"/>
              <a:gd name="csY14" fmla="*/ 1184271 h 5143500"/>
              <a:gd name="csX15" fmla="*/ 6426201 w 6426201"/>
              <a:gd name="csY15" fmla="*/ 1217454 h 5143500"/>
              <a:gd name="csX16" fmla="*/ 6426201 w 6426201"/>
              <a:gd name="csY16" fmla="*/ 3224795 h 5143500"/>
              <a:gd name="csX17" fmla="*/ 5698729 w 6426201"/>
              <a:gd name="csY17" fmla="*/ 3952325 h 5143500"/>
              <a:gd name="csX18" fmla="*/ 5698729 w 6426201"/>
              <a:gd name="csY18" fmla="*/ 4349820 h 5143500"/>
              <a:gd name="csX19" fmla="*/ 6096226 w 6426201"/>
              <a:gd name="csY19" fmla="*/ 4349820 h 5143500"/>
              <a:gd name="csX20" fmla="*/ 6426201 w 6426201"/>
              <a:gd name="csY20" fmla="*/ 4019844 h 5143500"/>
              <a:gd name="csX21" fmla="*/ 6426201 w 6426201"/>
              <a:gd name="csY21" fmla="*/ 5143500 h 5143500"/>
              <a:gd name="csX22" fmla="*/ 5302181 w 6426201"/>
              <a:gd name="csY22" fmla="*/ 5143500 h 5143500"/>
              <a:gd name="csX23" fmla="*/ 5337216 w 6426201"/>
              <a:gd name="csY23" fmla="*/ 5100594 h 5143500"/>
              <a:gd name="csX24" fmla="*/ 5301235 w 6426201"/>
              <a:gd name="csY24" fmla="*/ 4747164 h 5143500"/>
              <a:gd name="csX25" fmla="*/ 4903739 w 6426201"/>
              <a:gd name="csY25" fmla="*/ 4747164 h 5143500"/>
              <a:gd name="csX26" fmla="*/ 4507404 w 6426201"/>
              <a:gd name="csY26" fmla="*/ 5143500 h 5143500"/>
              <a:gd name="csX27" fmla="*/ 2917405 w 6426201"/>
              <a:gd name="csY27" fmla="*/ 5143500 h 5143500"/>
              <a:gd name="csX28" fmla="*/ 6037591 w 6426201"/>
              <a:gd name="csY28" fmla="*/ 2023176 h 5143500"/>
              <a:gd name="csX29" fmla="*/ 6037591 w 6426201"/>
              <a:gd name="csY29" fmla="*/ 1625681 h 5143500"/>
              <a:gd name="csX30" fmla="*/ 5640096 w 6426201"/>
              <a:gd name="csY30" fmla="*/ 1625681 h 5143500"/>
              <a:gd name="csX31" fmla="*/ 2121855 w 6426201"/>
              <a:gd name="csY31" fmla="*/ 5143500 h 5143500"/>
              <a:gd name="csX32" fmla="*/ 896983 w 6426201"/>
              <a:gd name="csY32" fmla="*/ 5143500 h 5143500"/>
              <a:gd name="csX33" fmla="*/ 893618 w 6426201"/>
              <a:gd name="csY33" fmla="*/ 5132153 h 5143500"/>
              <a:gd name="csX34" fmla="*/ 1048034 w 6426201"/>
              <a:gd name="csY34" fmla="*/ 4627306 h 5143500"/>
              <a:gd name="csX35" fmla="*/ 1361157 w 6426201"/>
              <a:gd name="csY35" fmla="*/ 4314183 h 5143500"/>
              <a:gd name="csX36" fmla="*/ 1361157 w 6426201"/>
              <a:gd name="csY36" fmla="*/ 3916686 h 5143500"/>
              <a:gd name="csX37" fmla="*/ 963661 w 6426201"/>
              <a:gd name="csY37" fmla="*/ 3916686 h 5143500"/>
              <a:gd name="csX38" fmla="*/ 959702 w 6426201"/>
              <a:gd name="csY38" fmla="*/ 3920647 h 5143500"/>
              <a:gd name="csX39" fmla="*/ 164711 w 6426201"/>
              <a:gd name="csY39" fmla="*/ 3920647 h 5143500"/>
              <a:gd name="csX40" fmla="*/ 164711 w 6426201"/>
              <a:gd name="csY40" fmla="*/ 3125656 h 5143500"/>
              <a:gd name="csX41" fmla="*/ 2106042 w 6426201"/>
              <a:gd name="csY41" fmla="*/ 1184171 h 5143500"/>
              <a:gd name="csX42" fmla="*/ 2106042 w 6426201"/>
              <a:gd name="csY42" fmla="*/ 786674 h 5143500"/>
              <a:gd name="csX43" fmla="*/ 1708546 w 6426201"/>
              <a:gd name="csY43" fmla="*/ 786674 h 5143500"/>
              <a:gd name="csX44" fmla="*/ 1326585 w 6426201"/>
              <a:gd name="csY44" fmla="*/ 1168636 h 5143500"/>
              <a:gd name="csX45" fmla="*/ 531594 w 6426201"/>
              <a:gd name="csY45" fmla="*/ 1168636 h 5143500"/>
              <a:gd name="csX46" fmla="*/ 531594 w 6426201"/>
              <a:gd name="csY46" fmla="*/ 373644 h 514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426201" h="5143500">
                <a:moveTo>
                  <a:pt x="905383" y="0"/>
                </a:moveTo>
                <a:lnTo>
                  <a:pt x="2497177" y="0"/>
                </a:lnTo>
                <a:lnTo>
                  <a:pt x="2467862" y="35902"/>
                </a:lnTo>
                <a:cubicBezTo>
                  <a:pt x="2395902" y="144966"/>
                  <a:pt x="2407895" y="293384"/>
                  <a:pt x="2503842" y="389331"/>
                </a:cubicBezTo>
                <a:cubicBezTo>
                  <a:pt x="2613496" y="498985"/>
                  <a:pt x="2791683" y="498985"/>
                  <a:pt x="2901337" y="389331"/>
                </a:cubicBezTo>
                <a:lnTo>
                  <a:pt x="3290630" y="0"/>
                </a:lnTo>
                <a:lnTo>
                  <a:pt x="4880482" y="0"/>
                </a:lnTo>
                <a:lnTo>
                  <a:pt x="1758651" y="3121695"/>
                </a:lnTo>
                <a:cubicBezTo>
                  <a:pt x="1648997" y="3231349"/>
                  <a:pt x="1648997" y="3409537"/>
                  <a:pt x="1758651" y="3519191"/>
                </a:cubicBezTo>
                <a:cubicBezTo>
                  <a:pt x="1868305" y="3628845"/>
                  <a:pt x="2046494" y="3628845"/>
                  <a:pt x="2156147" y="3519191"/>
                </a:cubicBezTo>
                <a:lnTo>
                  <a:pt x="5675617" y="0"/>
                </a:lnTo>
                <a:lnTo>
                  <a:pt x="6426201" y="0"/>
                </a:lnTo>
                <a:lnTo>
                  <a:pt x="6426201" y="841724"/>
                </a:lnTo>
                <a:lnTo>
                  <a:pt x="6399107" y="874906"/>
                </a:lnTo>
                <a:cubicBezTo>
                  <a:pt x="6337426" y="968391"/>
                  <a:pt x="6337426" y="1090787"/>
                  <a:pt x="6399107" y="1184271"/>
                </a:cubicBezTo>
                <a:lnTo>
                  <a:pt x="6426201" y="1217454"/>
                </a:lnTo>
                <a:lnTo>
                  <a:pt x="6426201" y="3224795"/>
                </a:lnTo>
                <a:lnTo>
                  <a:pt x="5698729" y="3952325"/>
                </a:lnTo>
                <a:cubicBezTo>
                  <a:pt x="5589076" y="4061979"/>
                  <a:pt x="5589076" y="4240166"/>
                  <a:pt x="5698729" y="4349820"/>
                </a:cubicBezTo>
                <a:cubicBezTo>
                  <a:pt x="5808383" y="4459475"/>
                  <a:pt x="5986572" y="4459475"/>
                  <a:pt x="6096226" y="4349820"/>
                </a:cubicBezTo>
                <a:lnTo>
                  <a:pt x="6426201" y="4019844"/>
                </a:lnTo>
                <a:lnTo>
                  <a:pt x="6426201" y="5143500"/>
                </a:lnTo>
                <a:lnTo>
                  <a:pt x="5302181" y="5143500"/>
                </a:lnTo>
                <a:lnTo>
                  <a:pt x="5337216" y="5100594"/>
                </a:lnTo>
                <a:cubicBezTo>
                  <a:pt x="5409176" y="4991529"/>
                  <a:pt x="5397183" y="4843112"/>
                  <a:pt x="5301235" y="4747164"/>
                </a:cubicBezTo>
                <a:cubicBezTo>
                  <a:pt x="5191581" y="4637510"/>
                  <a:pt x="5013393" y="4637510"/>
                  <a:pt x="4903739" y="4747164"/>
                </a:cubicBezTo>
                <a:lnTo>
                  <a:pt x="4507404" y="5143500"/>
                </a:lnTo>
                <a:lnTo>
                  <a:pt x="2917405" y="5143500"/>
                </a:lnTo>
                <a:lnTo>
                  <a:pt x="6037591" y="2023176"/>
                </a:lnTo>
                <a:cubicBezTo>
                  <a:pt x="6147246" y="1913522"/>
                  <a:pt x="6147246" y="1735335"/>
                  <a:pt x="6037591" y="1625681"/>
                </a:cubicBezTo>
                <a:cubicBezTo>
                  <a:pt x="5927938" y="1516027"/>
                  <a:pt x="5749749" y="1516027"/>
                  <a:pt x="5640096" y="1625681"/>
                </a:cubicBezTo>
                <a:lnTo>
                  <a:pt x="2121855" y="5143500"/>
                </a:lnTo>
                <a:lnTo>
                  <a:pt x="896983" y="5143500"/>
                </a:lnTo>
                <a:lnTo>
                  <a:pt x="893618" y="5132153"/>
                </a:lnTo>
                <a:cubicBezTo>
                  <a:pt x="859304" y="4955007"/>
                  <a:pt x="910776" y="4764564"/>
                  <a:pt x="1048034" y="4627306"/>
                </a:cubicBezTo>
                <a:lnTo>
                  <a:pt x="1361157" y="4314183"/>
                </a:lnTo>
                <a:cubicBezTo>
                  <a:pt x="1470811" y="4204529"/>
                  <a:pt x="1470811" y="4026342"/>
                  <a:pt x="1361157" y="3916686"/>
                </a:cubicBezTo>
                <a:cubicBezTo>
                  <a:pt x="1251503" y="3807032"/>
                  <a:pt x="1073314" y="3807032"/>
                  <a:pt x="963661" y="3916686"/>
                </a:cubicBezTo>
                <a:lnTo>
                  <a:pt x="959702" y="3920647"/>
                </a:lnTo>
                <a:cubicBezTo>
                  <a:pt x="740088" y="4140107"/>
                  <a:pt x="384322" y="4140107"/>
                  <a:pt x="164711" y="3920647"/>
                </a:cubicBezTo>
                <a:cubicBezTo>
                  <a:pt x="-54903" y="3701034"/>
                  <a:pt x="-54903" y="3345115"/>
                  <a:pt x="164711" y="3125656"/>
                </a:cubicBezTo>
                <a:lnTo>
                  <a:pt x="2106042" y="1184171"/>
                </a:lnTo>
                <a:cubicBezTo>
                  <a:pt x="2215696" y="1074517"/>
                  <a:pt x="2215696" y="896328"/>
                  <a:pt x="2106042" y="786674"/>
                </a:cubicBezTo>
                <a:cubicBezTo>
                  <a:pt x="1996388" y="677020"/>
                  <a:pt x="1818200" y="677020"/>
                  <a:pt x="1708546" y="786674"/>
                </a:cubicBezTo>
                <a:lnTo>
                  <a:pt x="1326585" y="1168636"/>
                </a:lnTo>
                <a:cubicBezTo>
                  <a:pt x="1106973" y="1388249"/>
                  <a:pt x="751207" y="1388249"/>
                  <a:pt x="531594" y="1168636"/>
                </a:cubicBezTo>
                <a:cubicBezTo>
                  <a:pt x="311983" y="949024"/>
                  <a:pt x="311983" y="593258"/>
                  <a:pt x="531594" y="373644"/>
                </a:cubicBezTo>
                <a:close/>
              </a:path>
            </a:pathLst>
          </a:custGeom>
          <a:solidFill>
            <a:srgbClr val="FFFF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6" name="Graphic 4">
            <a:extLst>
              <a:ext uri="{FF2B5EF4-FFF2-40B4-BE49-F238E27FC236}">
                <a16:creationId xmlns:a16="http://schemas.microsoft.com/office/drawing/2014/main" id="{8E7A8867-8EAA-6C57-2018-D03183288FCE}"/>
              </a:ext>
            </a:extLst>
          </p:cNvPr>
          <p:cNvSpPr/>
          <p:nvPr/>
        </p:nvSpPr>
        <p:spPr>
          <a:xfrm>
            <a:off x="213083" y="343327"/>
            <a:ext cx="180000" cy="180000"/>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alpha val="95000"/>
            </a:srgbClr>
          </a:solidFill>
          <a:ln w="9525" cap="flat">
            <a:noFill/>
            <a:prstDash val="solid"/>
            <a:miter/>
          </a:ln>
        </p:spPr>
        <p:txBody>
          <a:bodyPr/>
          <a:lstStyle/>
          <a:p>
            <a:endParaRPr lang="en-GB"/>
          </a:p>
        </p:txBody>
      </p:sp>
      <p:sp>
        <p:nvSpPr>
          <p:cNvPr id="10" name="_text_title">
            <a:extLst>
              <a:ext uri="{FF2B5EF4-FFF2-40B4-BE49-F238E27FC236}">
                <a16:creationId xmlns:a16="http://schemas.microsoft.com/office/drawing/2014/main" id="{F27B2C81-B052-2B33-6A07-165F6EAFA341}"/>
              </a:ext>
            </a:extLst>
          </p:cNvPr>
          <p:cNvSpPr txBox="1">
            <a:spLocks/>
          </p:cNvSpPr>
          <p:nvPr/>
        </p:nvSpPr>
        <p:spPr>
          <a:xfrm>
            <a:off x="589500" y="724453"/>
            <a:ext cx="8402846" cy="430887"/>
          </a:xfrm>
          <a:prstGeom prst="rect">
            <a:avLst/>
          </a:prstGeom>
          <a:noFill/>
          <a:ln>
            <a:noFill/>
          </a:ln>
        </p:spPr>
        <p:txBody>
          <a:bodyPr spcFirstLastPara="1" wrap="square" lIns="91425" tIns="0" rIns="91425" bIns="0" anchor="b" anchorCtr="0">
            <a:sp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spc="0">
                <a:solidFill>
                  <a:schemeClr val="dk1"/>
                </a:solidFill>
                <a:latin typeface="Arial"/>
                <a:ea typeface="Arial"/>
                <a:cs typeface="Arial"/>
                <a:sym typeface="Arial"/>
              </a:defRPr>
            </a:lvl9pPr>
          </a:lstStyle>
          <a:p>
            <a:pPr algn="l">
              <a:buSzPts val="990"/>
            </a:pPr>
            <a:r>
              <a:rPr lang="en-GB" sz="2800" spc="-150" dirty="0">
                <a:solidFill>
                  <a:schemeClr val="lt1">
                    <a:alpha val="90000"/>
                  </a:schemeClr>
                </a:solidFill>
                <a:latin typeface="Montserrat Black" panose="00000A00000000000000" pitchFamily="2" charset="0"/>
                <a:ea typeface="Montserrat"/>
                <a:cs typeface="Montserrat"/>
                <a:sym typeface="Montserrat"/>
              </a:rPr>
              <a:t>Specifikacija jedne promene</a:t>
            </a:r>
            <a:endParaRPr lang="sr-Latn-RS" sz="2800" spc="-150" dirty="0">
              <a:solidFill>
                <a:schemeClr val="lt1">
                  <a:alpha val="90000"/>
                </a:schemeClr>
              </a:solidFill>
              <a:latin typeface="Montserrat Black" panose="00000A00000000000000" pitchFamily="2" charset="0"/>
              <a:ea typeface="Montserrat"/>
              <a:cs typeface="Montserrat"/>
              <a:sym typeface="Montserrat"/>
            </a:endParaRPr>
          </a:p>
        </p:txBody>
      </p:sp>
      <p:sp>
        <p:nvSpPr>
          <p:cNvPr id="14" name="_text_subtitle">
            <a:extLst>
              <a:ext uri="{FF2B5EF4-FFF2-40B4-BE49-F238E27FC236}">
                <a16:creationId xmlns:a16="http://schemas.microsoft.com/office/drawing/2014/main" id="{349F65FA-2F05-CFC0-2A35-8E55C6D4939C}"/>
              </a:ext>
            </a:extLst>
          </p:cNvPr>
          <p:cNvSpPr txBox="1">
            <a:spLocks/>
          </p:cNvSpPr>
          <p:nvPr/>
        </p:nvSpPr>
        <p:spPr>
          <a:xfrm>
            <a:off x="589500" y="1158219"/>
            <a:ext cx="8402846" cy="307777"/>
          </a:xfrm>
          <a:prstGeom prst="rect">
            <a:avLst/>
          </a:prstGeom>
          <a:noFill/>
          <a:ln>
            <a:noFill/>
          </a:ln>
        </p:spPr>
        <p:txBody>
          <a:bodyPr spcFirstLastPara="1" wrap="square" lIns="91425" tIns="0" rIns="91425" bIns="0" anchor="t" anchorCtr="0">
            <a:sp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9pPr>
          </a:lstStyle>
          <a:p>
            <a:pPr marL="0" indent="0" algn="l"/>
            <a:r>
              <a:rPr lang="en-GB" sz="2000" dirty="0" err="1">
                <a:solidFill>
                  <a:schemeClr val="lt1"/>
                </a:solidFill>
                <a:latin typeface="Montserrat" panose="00000500000000000000" pitchFamily="2" charset="0"/>
                <a:ea typeface="Lato"/>
                <a:cs typeface="Lato"/>
                <a:sym typeface="Lato"/>
              </a:rPr>
              <a:t>Pišemo je pre izmene koda</a:t>
            </a:r>
            <a:endParaRPr lang="en-GB" sz="2000" dirty="0">
              <a:solidFill>
                <a:schemeClr val="lt1"/>
              </a:solidFill>
              <a:latin typeface="Montserrat" panose="00000500000000000000" pitchFamily="2" charset="0"/>
              <a:ea typeface="Lato"/>
              <a:cs typeface="Lato"/>
              <a:sym typeface="Lato"/>
            </a:endParaRPr>
          </a:p>
        </p:txBody>
      </p:sp>
      <p:sp>
        <p:nvSpPr>
          <p:cNvPr id="25" name="_text_item_1">
            <a:extLst>
              <a:ext uri="{FF2B5EF4-FFF2-40B4-BE49-F238E27FC236}">
                <a16:creationId xmlns:a16="http://schemas.microsoft.com/office/drawing/2014/main" id="{2BF3604B-6E06-8A69-5835-2EFCDC54DD14}"/>
              </a:ext>
            </a:extLst>
          </p:cNvPr>
          <p:cNvSpPr txBox="1"/>
          <p:nvPr/>
        </p:nvSpPr>
        <p:spPr>
          <a:xfrm>
            <a:off x="5134484" y="1826910"/>
            <a:ext cx="3594649" cy="335769"/>
          </a:xfrm>
          <a:prstGeom prst="rect">
            <a:avLst/>
          </a:prstGeom>
          <a:noFill/>
          <a:ln>
            <a:noFill/>
          </a:ln>
        </p:spPr>
        <p:txBody>
          <a:bodyPr spcFirstLastPara="1" wrap="square" lIns="91425" tIns="0" rIns="91425" bIns="0" anchor="ctr" anchorCtr="0">
            <a:noAutofit/>
          </a:bodyPr>
          <a:lstStyle/>
          <a:p>
            <a:pPr marL="0" lvl="0" indent="0" rtl="0">
              <a:spcBef>
                <a:spcPts val="0"/>
              </a:spcBef>
              <a:spcAft>
                <a:spcPts val="0"/>
              </a:spcAft>
              <a:buNone/>
            </a:pPr>
            <a:r>
              <a:rPr lang="sr" sz="1600" dirty="0">
                <a:solidFill>
                  <a:schemeClr val="lt1">
                    <a:alpha val="90000"/>
                  </a:schemeClr>
                </a:solidFill>
                <a:latin typeface="Montserrat Black" panose="00000A00000000000000" pitchFamily="2" charset="0"/>
                <a:ea typeface="Montserrat Black"/>
                <a:cs typeface="Montserrat Black"/>
                <a:sym typeface="Montserrat Black"/>
              </a:rPr>
              <a:t>Propust</a:t>
            </a:r>
            <a:endParaRPr sz="1600" dirty="0">
              <a:solidFill>
                <a:schemeClr val="lt1">
                  <a:alpha val="90000"/>
                </a:schemeClr>
              </a:solidFill>
              <a:latin typeface="Montserrat Black" panose="00000A00000000000000" pitchFamily="2" charset="0"/>
              <a:ea typeface="Montserrat Black"/>
              <a:cs typeface="Montserrat Black"/>
              <a:sym typeface="Montserrat Black"/>
            </a:endParaRPr>
          </a:p>
        </p:txBody>
      </p:sp>
      <p:sp>
        <p:nvSpPr>
          <p:cNvPr id="27" name="_img_bullet_1">
            <a:extLst>
              <a:ext uri="{FF2B5EF4-FFF2-40B4-BE49-F238E27FC236}">
                <a16:creationId xmlns:a16="http://schemas.microsoft.com/office/drawing/2014/main" id="{6215C57A-7AE1-272D-49F6-6BA47CA585B7}"/>
              </a:ext>
            </a:extLst>
          </p:cNvPr>
          <p:cNvSpPr/>
          <p:nvPr/>
        </p:nvSpPr>
        <p:spPr>
          <a:xfrm>
            <a:off x="4779434" y="1876383"/>
            <a:ext cx="230470" cy="239992"/>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solidFill>
          <a:ln w="9525" cap="flat">
            <a:noFill/>
            <a:prstDash val="solid"/>
            <a:miter/>
          </a:ln>
        </p:spPr>
        <p:txBody>
          <a:bodyPr/>
          <a:lstStyle/>
          <a:p>
            <a:endParaRPr lang="en-GB"/>
          </a:p>
        </p:txBody>
      </p:sp>
      <p:sp>
        <p:nvSpPr>
          <p:cNvPr id="29" name="_text_item_2">
            <a:extLst>
              <a:ext uri="{FF2B5EF4-FFF2-40B4-BE49-F238E27FC236}">
                <a16:creationId xmlns:a16="http://schemas.microsoft.com/office/drawing/2014/main" id="{13D0246B-410E-37C0-37A0-8693BC5BB1DA}"/>
              </a:ext>
            </a:extLst>
          </p:cNvPr>
          <p:cNvSpPr txBox="1"/>
          <p:nvPr/>
        </p:nvSpPr>
        <p:spPr>
          <a:xfrm>
            <a:off x="5134484" y="2320179"/>
            <a:ext cx="3594649" cy="335769"/>
          </a:xfrm>
          <a:prstGeom prst="rect">
            <a:avLst/>
          </a:prstGeom>
          <a:noFill/>
          <a:ln>
            <a:noFill/>
          </a:ln>
        </p:spPr>
        <p:txBody>
          <a:bodyPr spcFirstLastPara="1" wrap="square" lIns="91425" tIns="0" rIns="91425" bIns="0" anchor="ctr" anchorCtr="0">
            <a:noAutofit/>
          </a:bodyPr>
          <a:lstStyle/>
          <a:p>
            <a:pPr marL="0" lvl="0" indent="0" rtl="0">
              <a:spcBef>
                <a:spcPts val="0"/>
              </a:spcBef>
              <a:spcAft>
                <a:spcPts val="0"/>
              </a:spcAft>
              <a:buNone/>
            </a:pPr>
            <a:r>
              <a:rPr lang="sr" sz="1600" dirty="0">
                <a:solidFill>
                  <a:schemeClr val="lt1">
                    <a:alpha val="90000"/>
                  </a:schemeClr>
                </a:solidFill>
                <a:latin typeface="Montserrat Black" panose="00000A00000000000000" pitchFamily="2" charset="0"/>
                <a:ea typeface="Montserrat Black"/>
                <a:cs typeface="Montserrat Black"/>
                <a:sym typeface="Montserrat Black"/>
              </a:rPr>
              <a:t>Hipoteza</a:t>
            </a:r>
            <a:endParaRPr sz="1600" dirty="0">
              <a:solidFill>
                <a:schemeClr val="lt1">
                  <a:alpha val="90000"/>
                </a:schemeClr>
              </a:solidFill>
              <a:latin typeface="Montserrat Black" panose="00000A00000000000000" pitchFamily="2" charset="0"/>
              <a:ea typeface="Montserrat Black"/>
              <a:cs typeface="Montserrat Black"/>
              <a:sym typeface="Montserrat Black"/>
            </a:endParaRPr>
          </a:p>
        </p:txBody>
      </p:sp>
      <p:sp>
        <p:nvSpPr>
          <p:cNvPr id="31" name="_img_bullet_2">
            <a:extLst>
              <a:ext uri="{FF2B5EF4-FFF2-40B4-BE49-F238E27FC236}">
                <a16:creationId xmlns:a16="http://schemas.microsoft.com/office/drawing/2014/main" id="{B96B7868-1BC5-02B4-C8D1-A66D905EA564}"/>
              </a:ext>
            </a:extLst>
          </p:cNvPr>
          <p:cNvSpPr/>
          <p:nvPr/>
        </p:nvSpPr>
        <p:spPr>
          <a:xfrm>
            <a:off x="4779434" y="2369652"/>
            <a:ext cx="230470" cy="239992"/>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solidFill>
          <a:ln w="9525" cap="flat">
            <a:noFill/>
            <a:prstDash val="solid"/>
            <a:miter/>
          </a:ln>
        </p:spPr>
        <p:txBody>
          <a:bodyPr/>
          <a:lstStyle/>
          <a:p>
            <a:endParaRPr lang="en-GB"/>
          </a:p>
        </p:txBody>
      </p:sp>
      <p:sp>
        <p:nvSpPr>
          <p:cNvPr id="33" name="_text_item_3">
            <a:extLst>
              <a:ext uri="{FF2B5EF4-FFF2-40B4-BE49-F238E27FC236}">
                <a16:creationId xmlns:a16="http://schemas.microsoft.com/office/drawing/2014/main" id="{D47BD6A9-BD46-9248-E90E-D88BC9630088}"/>
              </a:ext>
            </a:extLst>
          </p:cNvPr>
          <p:cNvSpPr txBox="1"/>
          <p:nvPr/>
        </p:nvSpPr>
        <p:spPr>
          <a:xfrm>
            <a:off x="5134484" y="2813448"/>
            <a:ext cx="3594649" cy="344275"/>
          </a:xfrm>
          <a:prstGeom prst="rect">
            <a:avLst/>
          </a:prstGeom>
          <a:noFill/>
          <a:ln>
            <a:noFill/>
          </a:ln>
        </p:spPr>
        <p:txBody>
          <a:bodyPr spcFirstLastPara="1" wrap="square" lIns="91425" tIns="0" rIns="91425" bIns="0" anchor="ctr" anchorCtr="0">
            <a:noAutofit/>
          </a:bodyPr>
          <a:lstStyle/>
          <a:p>
            <a:pPr marL="0" lvl="0" indent="0" rtl="0">
              <a:spcBef>
                <a:spcPts val="0"/>
              </a:spcBef>
              <a:spcAft>
                <a:spcPts val="0"/>
              </a:spcAft>
              <a:buNone/>
            </a:pPr>
            <a:r>
              <a:rPr lang="sr" sz="1600" dirty="0">
                <a:solidFill>
                  <a:schemeClr val="lt1">
                    <a:alpha val="90000"/>
                  </a:schemeClr>
                </a:solidFill>
                <a:latin typeface="Montserrat Black" panose="00000A00000000000000" pitchFamily="2" charset="0"/>
                <a:ea typeface="Montserrat Black"/>
                <a:cs typeface="Montserrat Black"/>
                <a:sym typeface="Montserrat Black"/>
              </a:rPr>
              <a:t>Promena</a:t>
            </a:r>
            <a:endParaRPr sz="1600" dirty="0">
              <a:solidFill>
                <a:schemeClr val="lt1">
                  <a:alpha val="90000"/>
                </a:schemeClr>
              </a:solidFill>
              <a:latin typeface="Montserrat Black" panose="00000A00000000000000" pitchFamily="2" charset="0"/>
              <a:ea typeface="Montserrat Black"/>
              <a:cs typeface="Montserrat Black"/>
              <a:sym typeface="Montserrat Black"/>
            </a:endParaRPr>
          </a:p>
        </p:txBody>
      </p:sp>
      <p:sp>
        <p:nvSpPr>
          <p:cNvPr id="35" name="_img_bullet_3">
            <a:extLst>
              <a:ext uri="{FF2B5EF4-FFF2-40B4-BE49-F238E27FC236}">
                <a16:creationId xmlns:a16="http://schemas.microsoft.com/office/drawing/2014/main" id="{8FA00B31-B49D-8325-0ADF-ED44C9A7A0E1}"/>
              </a:ext>
            </a:extLst>
          </p:cNvPr>
          <p:cNvSpPr/>
          <p:nvPr/>
        </p:nvSpPr>
        <p:spPr>
          <a:xfrm>
            <a:off x="4779434" y="2866090"/>
            <a:ext cx="230470" cy="239992"/>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solidFill>
          <a:ln w="9525" cap="flat">
            <a:noFill/>
            <a:prstDash val="solid"/>
            <a:miter/>
          </a:ln>
        </p:spPr>
        <p:txBody>
          <a:bodyPr/>
          <a:lstStyle/>
          <a:p>
            <a:endParaRPr lang="en-GB"/>
          </a:p>
        </p:txBody>
      </p:sp>
      <p:sp>
        <p:nvSpPr>
          <p:cNvPr id="37" name="_text_item_4">
            <a:extLst>
              <a:ext uri="{FF2B5EF4-FFF2-40B4-BE49-F238E27FC236}">
                <a16:creationId xmlns:a16="http://schemas.microsoft.com/office/drawing/2014/main" id="{273220C5-22EE-8022-F39D-A4557C1CFEF8}"/>
              </a:ext>
            </a:extLst>
          </p:cNvPr>
          <p:cNvSpPr txBox="1"/>
          <p:nvPr/>
        </p:nvSpPr>
        <p:spPr>
          <a:xfrm>
            <a:off x="5134484" y="3315223"/>
            <a:ext cx="3594649" cy="344275"/>
          </a:xfrm>
          <a:prstGeom prst="rect">
            <a:avLst/>
          </a:prstGeom>
          <a:noFill/>
          <a:ln>
            <a:noFill/>
          </a:ln>
        </p:spPr>
        <p:txBody>
          <a:bodyPr spcFirstLastPara="1" wrap="square" lIns="91425" tIns="0" rIns="91425" bIns="0" anchor="ctr" anchorCtr="0">
            <a:noAutofit/>
          </a:bodyPr>
          <a:lstStyle/>
          <a:p>
            <a:pPr marL="0" lvl="0" indent="0" rtl="0">
              <a:spcBef>
                <a:spcPts val="0"/>
              </a:spcBef>
              <a:spcAft>
                <a:spcPts val="0"/>
              </a:spcAft>
              <a:buNone/>
            </a:pPr>
            <a:r>
              <a:rPr lang="sr" sz="1600" dirty="0">
                <a:solidFill>
                  <a:schemeClr val="lt1">
                    <a:alpha val="90000"/>
                  </a:schemeClr>
                </a:solidFill>
                <a:latin typeface="Montserrat Black" panose="00000A00000000000000" pitchFamily="2" charset="0"/>
                <a:ea typeface="Montserrat Black"/>
                <a:cs typeface="Montserrat Black"/>
                <a:sym typeface="Montserrat Black"/>
              </a:rPr>
              <a:t>Očekivani efekat</a:t>
            </a:r>
            <a:endParaRPr sz="1600" dirty="0">
              <a:solidFill>
                <a:schemeClr val="lt1">
                  <a:alpha val="90000"/>
                </a:schemeClr>
              </a:solidFill>
              <a:latin typeface="Montserrat Black" panose="00000A00000000000000" pitchFamily="2" charset="0"/>
              <a:ea typeface="Montserrat Black"/>
              <a:cs typeface="Montserrat Black"/>
              <a:sym typeface="Montserrat Black"/>
            </a:endParaRPr>
          </a:p>
        </p:txBody>
      </p:sp>
      <p:sp>
        <p:nvSpPr>
          <p:cNvPr id="39" name="_img_bullet_4">
            <a:extLst>
              <a:ext uri="{FF2B5EF4-FFF2-40B4-BE49-F238E27FC236}">
                <a16:creationId xmlns:a16="http://schemas.microsoft.com/office/drawing/2014/main" id="{CCA9E342-3767-225B-CFC9-3615DB0D12D6}"/>
              </a:ext>
            </a:extLst>
          </p:cNvPr>
          <p:cNvSpPr/>
          <p:nvPr/>
        </p:nvSpPr>
        <p:spPr>
          <a:xfrm>
            <a:off x="4779434" y="3367865"/>
            <a:ext cx="230470" cy="239992"/>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solidFill>
          <a:ln w="9525" cap="flat">
            <a:noFill/>
            <a:prstDash val="solid"/>
            <a:miter/>
          </a:ln>
        </p:spPr>
        <p:txBody>
          <a:bodyPr/>
          <a:lstStyle/>
          <a:p>
            <a:endParaRPr lang="en-GB"/>
          </a:p>
        </p:txBody>
      </p:sp>
      <p:sp>
        <p:nvSpPr>
          <p:cNvPr id="41" name="_text_item_5">
            <a:extLst>
              <a:ext uri="{FF2B5EF4-FFF2-40B4-BE49-F238E27FC236}">
                <a16:creationId xmlns:a16="http://schemas.microsoft.com/office/drawing/2014/main" id="{40575A9C-C3BC-A462-BDF0-5A07A92FAD59}"/>
              </a:ext>
            </a:extLst>
          </p:cNvPr>
          <p:cNvSpPr txBox="1"/>
          <p:nvPr/>
        </p:nvSpPr>
        <p:spPr>
          <a:xfrm>
            <a:off x="5134484" y="3816998"/>
            <a:ext cx="3594649" cy="344275"/>
          </a:xfrm>
          <a:prstGeom prst="rect">
            <a:avLst/>
          </a:prstGeom>
          <a:noFill/>
          <a:ln>
            <a:noFill/>
          </a:ln>
        </p:spPr>
        <p:txBody>
          <a:bodyPr spcFirstLastPara="1" wrap="square" lIns="91425" tIns="0" rIns="91425" bIns="0" anchor="ctr" anchorCtr="0">
            <a:noAutofit/>
          </a:bodyPr>
          <a:lstStyle/>
          <a:p>
            <a:pPr marL="0" lvl="0" indent="0" rtl="0">
              <a:spcBef>
                <a:spcPts val="0"/>
              </a:spcBef>
              <a:spcAft>
                <a:spcPts val="0"/>
              </a:spcAft>
              <a:buNone/>
            </a:pPr>
            <a:r>
              <a:rPr lang="sr" sz="1600" dirty="0">
                <a:solidFill>
                  <a:schemeClr val="lt1">
                    <a:alpha val="90000"/>
                  </a:schemeClr>
                </a:solidFill>
                <a:latin typeface="Montserrat Black" panose="00000A00000000000000" pitchFamily="2" charset="0"/>
                <a:ea typeface="Montserrat Black"/>
                <a:cs typeface="Montserrat Black"/>
                <a:sym typeface="Montserrat Black"/>
              </a:rPr>
              <a:t>Rizik regresije</a:t>
            </a:r>
            <a:endParaRPr sz="1600" dirty="0">
              <a:solidFill>
                <a:schemeClr val="lt1">
                  <a:alpha val="90000"/>
                </a:schemeClr>
              </a:solidFill>
              <a:latin typeface="Montserrat Black" panose="00000A00000000000000" pitchFamily="2" charset="0"/>
              <a:ea typeface="Montserrat Black"/>
              <a:cs typeface="Montserrat Black"/>
              <a:sym typeface="Montserrat Black"/>
            </a:endParaRPr>
          </a:p>
        </p:txBody>
      </p:sp>
      <p:sp>
        <p:nvSpPr>
          <p:cNvPr id="43" name="_img_bullet_5">
            <a:extLst>
              <a:ext uri="{FF2B5EF4-FFF2-40B4-BE49-F238E27FC236}">
                <a16:creationId xmlns:a16="http://schemas.microsoft.com/office/drawing/2014/main" id="{88E2A4B8-5381-9AC7-921F-7F90CD52B012}"/>
              </a:ext>
            </a:extLst>
          </p:cNvPr>
          <p:cNvSpPr/>
          <p:nvPr/>
        </p:nvSpPr>
        <p:spPr>
          <a:xfrm>
            <a:off x="4779434" y="3869640"/>
            <a:ext cx="230470" cy="239992"/>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solidFill>
          <a:ln w="9525" cap="flat">
            <a:noFill/>
            <a:prstDash val="solid"/>
            <a:miter/>
          </a:ln>
        </p:spPr>
        <p:txBody>
          <a:bodyPr/>
          <a:lstStyle/>
          <a:p>
            <a:endParaRPr lang="en-GB"/>
          </a:p>
        </p:txBody>
      </p:sp>
      <p:sp>
        <p:nvSpPr>
          <p:cNvPr id="49" name="_text_main_content">
            <a:extLst>
              <a:ext uri="{FF2B5EF4-FFF2-40B4-BE49-F238E27FC236}">
                <a16:creationId xmlns:a16="http://schemas.microsoft.com/office/drawing/2014/main" id="{9CD26AB8-6295-70AF-8BAB-EE4D1C2211AA}"/>
              </a:ext>
            </a:extLst>
          </p:cNvPr>
          <p:cNvSpPr txBox="1"/>
          <p:nvPr/>
        </p:nvSpPr>
        <p:spPr>
          <a:xfrm>
            <a:off x="589500" y="1648741"/>
            <a:ext cx="3982500" cy="2605811"/>
          </a:xfrm>
          <a:prstGeom prst="rect">
            <a:avLst/>
          </a:prstGeom>
          <a:noFill/>
          <a:ln>
            <a:noFill/>
          </a:ln>
        </p:spPr>
        <p:txBody>
          <a:bodyPr spcFirstLastPara="1" wrap="square" lIns="91425" tIns="91425" rIns="360000" bIns="91425" anchor="t" anchorCtr="0">
            <a:spAutoFit/>
          </a:bodyPr>
          <a:lstStyle/>
          <a:p>
            <a:pPr marL="0" lvl="0" indent="0" algn="l" rtl="0">
              <a:spcBef>
                <a:spcPts val="0"/>
              </a:spcBef>
              <a:spcAft>
                <a:spcPts val="800"/>
              </a:spcAft>
              <a:buNone/>
            </a:pPr>
            <a:r>
              <a:rPr lang="sr" sz="1200" dirty="0">
                <a:solidFill>
                  <a:srgbClr val="D1E2ED"/>
                </a:solidFill>
                <a:latin typeface="Lato"/>
                <a:ea typeface="Lato"/>
                <a:cs typeface="Lato"/>
                <a:sym typeface="Lato"/>
              </a:rPr>
              <a:t>Specifikacija povezuje uočeni propust sa promenom i unapred kaže šta očekujemo. Poslednji red je provera: kojom komandom i kojim rezultatom ćemo potvrditi efekat. Dobra je i kada se hipoteza pokaže netačnom, ako je to izmereno.</a:t>
            </a:r>
            <a:endParaRPr sz="1200" dirty="0">
              <a:solidFill>
                <a:srgbClr val="D1E2ED"/>
              </a:solidFill>
              <a:latin typeface="Lato"/>
              <a:ea typeface="Lato"/>
              <a:cs typeface="Lato"/>
              <a:sym typeface="Lato"/>
            </a:endParaRPr>
          </a:p>
        </p:txBody>
      </p:sp>
      <p:pic>
        <p:nvPicPr>
          <p:cNvPr id="50" name="_image_small_company_logo" descr="EPAM"/>
          <p:cNvPicPr>
            <a:picLocks noChangeAspect="1"/>
          </p:cNvPicPr>
          <p:nvPr/>
        </p:nvPicPr>
        <p:blipFill>
          <a:blip r:embed="rId4"/>
          <a:stretch>
            <a:fillRect/>
          </a:stretch>
        </p:blipFill>
        <p:spPr>
          <a:xfrm>
            <a:off x="490324" y="344427"/>
            <a:ext cx="504923" cy="177800"/>
          </a:xfrm>
          <a:prstGeom prst="rect">
            <a:avLst/>
          </a:prstGeom>
        </p:spPr>
      </p:pic>
      <p:sp>
        <p:nvSpPr>
          <p:cNvPr id="47" name="_text_section">
            <a:extLst>
              <a:ext uri="{FF2B5EF4-FFF2-40B4-BE49-F238E27FC236}">
                <a16:creationId xmlns:a16="http://schemas.microsoft.com/office/drawing/2014/main" id="{7B42A645-2990-3E2F-79CB-7F037CAC30AE}"/>
              </a:ext>
            </a:extLst>
          </p:cNvPr>
          <p:cNvSpPr txBox="1">
            <a:spLocks/>
          </p:cNvSpPr>
          <p:nvPr/>
        </p:nvSpPr>
        <p:spPr>
          <a:xfrm>
            <a:off x="5927725" y="4663806"/>
            <a:ext cx="2564917" cy="15388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9pPr>
          </a:lstStyle>
          <a:p>
            <a:pPr marL="0" indent="0" algn="r"/>
            <a:r>
              <a:rPr lang="sr-Latn-RS" sz="1000" dirty="0">
                <a:solidFill>
                  <a:schemeClr val="lt1"/>
                </a:solidFill>
                <a:latin typeface="Lato"/>
                <a:ea typeface="Lato"/>
                <a:cs typeface="Lato"/>
                <a:sym typeface="Lato"/>
              </a:rPr>
              <a:t>Poboljšanje</a:t>
            </a:r>
            <a:endParaRPr lang="en-GB" sz="1000" dirty="0">
              <a:solidFill>
                <a:schemeClr val="lt1"/>
              </a:solidFill>
              <a:latin typeface="Lato"/>
              <a:ea typeface="Lato"/>
              <a:cs typeface="Lato"/>
              <a:sym typeface="Lato"/>
            </a:endParaRPr>
          </a:p>
        </p:txBody>
      </p:sp>
      <p:sp>
        <p:nvSpPr>
          <p:cNvPr id="45" name="_text_page">
            <a:extLst>
              <a:ext uri="{FF2B5EF4-FFF2-40B4-BE49-F238E27FC236}">
                <a16:creationId xmlns:a16="http://schemas.microsoft.com/office/drawing/2014/main" id="{51A1F65A-7AB2-6F31-7EDA-F277BE44D479}"/>
              </a:ext>
            </a:extLst>
          </p:cNvPr>
          <p:cNvSpPr txBox="1"/>
          <p:nvPr/>
        </p:nvSpPr>
        <p:spPr>
          <a:xfrm>
            <a:off x="8492643" y="4500000"/>
            <a:ext cx="469800" cy="481500"/>
          </a:xfrm>
          <a:prstGeom prst="rect">
            <a:avLst/>
          </a:prstGeom>
          <a:noFill/>
          <a:ln>
            <a:noFill/>
          </a:ln>
        </p:spPr>
        <p:txBody>
          <a:bodyPr spcFirstLastPara="1" wrap="square" lIns="0" tIns="91425" rIns="0" bIns="91425" anchor="t" anchorCtr="0">
            <a:noAutofit/>
          </a:bodyPr>
          <a:lstStyle/>
          <a:p>
            <a:pPr marL="0" lvl="0" indent="0" algn="ctr" rtl="0">
              <a:spcBef>
                <a:spcPts val="0"/>
              </a:spcBef>
              <a:spcAft>
                <a:spcPts val="0"/>
              </a:spcAft>
              <a:buNone/>
            </a:pPr>
            <a:r>
              <a:rPr lang="sr" sz="1800" dirty="0">
                <a:solidFill>
                  <a:schemeClr val="lt1"/>
                </a:solidFill>
                <a:latin typeface="Montserrat"/>
                <a:ea typeface="Montserrat"/>
                <a:cs typeface="Montserrat"/>
                <a:sym typeface="Montserrat"/>
              </a:rPr>
              <a:t>2</a:t>
            </a:r>
            <a:r>
              <a:rPr lang="en-US" sz="1800" dirty="0">
                <a:solidFill>
                  <a:schemeClr val="lt1"/>
                </a:solidFill>
                <a:latin typeface="Montserrat"/>
                <a:ea typeface="Montserrat"/>
                <a:cs typeface="Montserrat"/>
                <a:sym typeface="Montserrat"/>
              </a:rPr>
              <a:t>3</a:t>
            </a:r>
            <a:endParaRPr sz="1800" dirty="0">
              <a:solidFill>
                <a:schemeClr val="lt1"/>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9000" r="-29000"/>
          </a:stretch>
        </a:blip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CCEE615A-F458-2EA3-D615-19C3FED6FB9A}"/>
              </a:ext>
            </a:extLst>
          </p:cNvPr>
          <p:cNvSpPr/>
          <p:nvPr/>
        </p:nvSpPr>
        <p:spPr>
          <a:xfrm>
            <a:off x="2717800" y="0"/>
            <a:ext cx="6426201" cy="5143500"/>
          </a:xfrm>
          <a:custGeom>
            <a:avLst/>
            <a:gdLst>
              <a:gd name="csX0" fmla="*/ 905383 w 6426201"/>
              <a:gd name="csY0" fmla="*/ 0 h 5143500"/>
              <a:gd name="csX1" fmla="*/ 2497177 w 6426201"/>
              <a:gd name="csY1" fmla="*/ 0 h 5143500"/>
              <a:gd name="csX2" fmla="*/ 2467862 w 6426201"/>
              <a:gd name="csY2" fmla="*/ 35902 h 5143500"/>
              <a:gd name="csX3" fmla="*/ 2503842 w 6426201"/>
              <a:gd name="csY3" fmla="*/ 389331 h 5143500"/>
              <a:gd name="csX4" fmla="*/ 2901337 w 6426201"/>
              <a:gd name="csY4" fmla="*/ 389331 h 5143500"/>
              <a:gd name="csX5" fmla="*/ 3290630 w 6426201"/>
              <a:gd name="csY5" fmla="*/ 0 h 5143500"/>
              <a:gd name="csX6" fmla="*/ 4880482 w 6426201"/>
              <a:gd name="csY6" fmla="*/ 0 h 5143500"/>
              <a:gd name="csX7" fmla="*/ 1758651 w 6426201"/>
              <a:gd name="csY7" fmla="*/ 3121695 h 5143500"/>
              <a:gd name="csX8" fmla="*/ 1758651 w 6426201"/>
              <a:gd name="csY8" fmla="*/ 3519191 h 5143500"/>
              <a:gd name="csX9" fmla="*/ 2156147 w 6426201"/>
              <a:gd name="csY9" fmla="*/ 3519191 h 5143500"/>
              <a:gd name="csX10" fmla="*/ 5675617 w 6426201"/>
              <a:gd name="csY10" fmla="*/ 0 h 5143500"/>
              <a:gd name="csX11" fmla="*/ 6426201 w 6426201"/>
              <a:gd name="csY11" fmla="*/ 0 h 5143500"/>
              <a:gd name="csX12" fmla="*/ 6426201 w 6426201"/>
              <a:gd name="csY12" fmla="*/ 841724 h 5143500"/>
              <a:gd name="csX13" fmla="*/ 6399107 w 6426201"/>
              <a:gd name="csY13" fmla="*/ 874906 h 5143500"/>
              <a:gd name="csX14" fmla="*/ 6399107 w 6426201"/>
              <a:gd name="csY14" fmla="*/ 1184271 h 5143500"/>
              <a:gd name="csX15" fmla="*/ 6426201 w 6426201"/>
              <a:gd name="csY15" fmla="*/ 1217454 h 5143500"/>
              <a:gd name="csX16" fmla="*/ 6426201 w 6426201"/>
              <a:gd name="csY16" fmla="*/ 3224795 h 5143500"/>
              <a:gd name="csX17" fmla="*/ 5698729 w 6426201"/>
              <a:gd name="csY17" fmla="*/ 3952325 h 5143500"/>
              <a:gd name="csX18" fmla="*/ 5698729 w 6426201"/>
              <a:gd name="csY18" fmla="*/ 4349820 h 5143500"/>
              <a:gd name="csX19" fmla="*/ 6096226 w 6426201"/>
              <a:gd name="csY19" fmla="*/ 4349820 h 5143500"/>
              <a:gd name="csX20" fmla="*/ 6426201 w 6426201"/>
              <a:gd name="csY20" fmla="*/ 4019844 h 5143500"/>
              <a:gd name="csX21" fmla="*/ 6426201 w 6426201"/>
              <a:gd name="csY21" fmla="*/ 5143500 h 5143500"/>
              <a:gd name="csX22" fmla="*/ 5302181 w 6426201"/>
              <a:gd name="csY22" fmla="*/ 5143500 h 5143500"/>
              <a:gd name="csX23" fmla="*/ 5337216 w 6426201"/>
              <a:gd name="csY23" fmla="*/ 5100594 h 5143500"/>
              <a:gd name="csX24" fmla="*/ 5301235 w 6426201"/>
              <a:gd name="csY24" fmla="*/ 4747164 h 5143500"/>
              <a:gd name="csX25" fmla="*/ 4903739 w 6426201"/>
              <a:gd name="csY25" fmla="*/ 4747164 h 5143500"/>
              <a:gd name="csX26" fmla="*/ 4507404 w 6426201"/>
              <a:gd name="csY26" fmla="*/ 5143500 h 5143500"/>
              <a:gd name="csX27" fmla="*/ 2917405 w 6426201"/>
              <a:gd name="csY27" fmla="*/ 5143500 h 5143500"/>
              <a:gd name="csX28" fmla="*/ 6037591 w 6426201"/>
              <a:gd name="csY28" fmla="*/ 2023176 h 5143500"/>
              <a:gd name="csX29" fmla="*/ 6037591 w 6426201"/>
              <a:gd name="csY29" fmla="*/ 1625681 h 5143500"/>
              <a:gd name="csX30" fmla="*/ 5640096 w 6426201"/>
              <a:gd name="csY30" fmla="*/ 1625681 h 5143500"/>
              <a:gd name="csX31" fmla="*/ 2121855 w 6426201"/>
              <a:gd name="csY31" fmla="*/ 5143500 h 5143500"/>
              <a:gd name="csX32" fmla="*/ 896983 w 6426201"/>
              <a:gd name="csY32" fmla="*/ 5143500 h 5143500"/>
              <a:gd name="csX33" fmla="*/ 893618 w 6426201"/>
              <a:gd name="csY33" fmla="*/ 5132153 h 5143500"/>
              <a:gd name="csX34" fmla="*/ 1048034 w 6426201"/>
              <a:gd name="csY34" fmla="*/ 4627306 h 5143500"/>
              <a:gd name="csX35" fmla="*/ 1361157 w 6426201"/>
              <a:gd name="csY35" fmla="*/ 4314183 h 5143500"/>
              <a:gd name="csX36" fmla="*/ 1361157 w 6426201"/>
              <a:gd name="csY36" fmla="*/ 3916686 h 5143500"/>
              <a:gd name="csX37" fmla="*/ 963661 w 6426201"/>
              <a:gd name="csY37" fmla="*/ 3916686 h 5143500"/>
              <a:gd name="csX38" fmla="*/ 959702 w 6426201"/>
              <a:gd name="csY38" fmla="*/ 3920647 h 5143500"/>
              <a:gd name="csX39" fmla="*/ 164711 w 6426201"/>
              <a:gd name="csY39" fmla="*/ 3920647 h 5143500"/>
              <a:gd name="csX40" fmla="*/ 164711 w 6426201"/>
              <a:gd name="csY40" fmla="*/ 3125656 h 5143500"/>
              <a:gd name="csX41" fmla="*/ 2106042 w 6426201"/>
              <a:gd name="csY41" fmla="*/ 1184171 h 5143500"/>
              <a:gd name="csX42" fmla="*/ 2106042 w 6426201"/>
              <a:gd name="csY42" fmla="*/ 786674 h 5143500"/>
              <a:gd name="csX43" fmla="*/ 1708546 w 6426201"/>
              <a:gd name="csY43" fmla="*/ 786674 h 5143500"/>
              <a:gd name="csX44" fmla="*/ 1326585 w 6426201"/>
              <a:gd name="csY44" fmla="*/ 1168636 h 5143500"/>
              <a:gd name="csX45" fmla="*/ 531594 w 6426201"/>
              <a:gd name="csY45" fmla="*/ 1168636 h 5143500"/>
              <a:gd name="csX46" fmla="*/ 531594 w 6426201"/>
              <a:gd name="csY46" fmla="*/ 373644 h 514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426201" h="5143500">
                <a:moveTo>
                  <a:pt x="905383" y="0"/>
                </a:moveTo>
                <a:lnTo>
                  <a:pt x="2497177" y="0"/>
                </a:lnTo>
                <a:lnTo>
                  <a:pt x="2467862" y="35902"/>
                </a:lnTo>
                <a:cubicBezTo>
                  <a:pt x="2395902" y="144966"/>
                  <a:pt x="2407895" y="293384"/>
                  <a:pt x="2503842" y="389331"/>
                </a:cubicBezTo>
                <a:cubicBezTo>
                  <a:pt x="2613496" y="498985"/>
                  <a:pt x="2791683" y="498985"/>
                  <a:pt x="2901337" y="389331"/>
                </a:cubicBezTo>
                <a:lnTo>
                  <a:pt x="3290630" y="0"/>
                </a:lnTo>
                <a:lnTo>
                  <a:pt x="4880482" y="0"/>
                </a:lnTo>
                <a:lnTo>
                  <a:pt x="1758651" y="3121695"/>
                </a:lnTo>
                <a:cubicBezTo>
                  <a:pt x="1648997" y="3231349"/>
                  <a:pt x="1648997" y="3409537"/>
                  <a:pt x="1758651" y="3519191"/>
                </a:cubicBezTo>
                <a:cubicBezTo>
                  <a:pt x="1868305" y="3628845"/>
                  <a:pt x="2046494" y="3628845"/>
                  <a:pt x="2156147" y="3519191"/>
                </a:cubicBezTo>
                <a:lnTo>
                  <a:pt x="5675617" y="0"/>
                </a:lnTo>
                <a:lnTo>
                  <a:pt x="6426201" y="0"/>
                </a:lnTo>
                <a:lnTo>
                  <a:pt x="6426201" y="841724"/>
                </a:lnTo>
                <a:lnTo>
                  <a:pt x="6399107" y="874906"/>
                </a:lnTo>
                <a:cubicBezTo>
                  <a:pt x="6337426" y="968391"/>
                  <a:pt x="6337426" y="1090787"/>
                  <a:pt x="6399107" y="1184271"/>
                </a:cubicBezTo>
                <a:lnTo>
                  <a:pt x="6426201" y="1217454"/>
                </a:lnTo>
                <a:lnTo>
                  <a:pt x="6426201" y="3224795"/>
                </a:lnTo>
                <a:lnTo>
                  <a:pt x="5698729" y="3952325"/>
                </a:lnTo>
                <a:cubicBezTo>
                  <a:pt x="5589076" y="4061979"/>
                  <a:pt x="5589076" y="4240166"/>
                  <a:pt x="5698729" y="4349820"/>
                </a:cubicBezTo>
                <a:cubicBezTo>
                  <a:pt x="5808383" y="4459475"/>
                  <a:pt x="5986572" y="4459475"/>
                  <a:pt x="6096226" y="4349820"/>
                </a:cubicBezTo>
                <a:lnTo>
                  <a:pt x="6426201" y="4019844"/>
                </a:lnTo>
                <a:lnTo>
                  <a:pt x="6426201" y="5143500"/>
                </a:lnTo>
                <a:lnTo>
                  <a:pt x="5302181" y="5143500"/>
                </a:lnTo>
                <a:lnTo>
                  <a:pt x="5337216" y="5100594"/>
                </a:lnTo>
                <a:cubicBezTo>
                  <a:pt x="5409176" y="4991529"/>
                  <a:pt x="5397183" y="4843112"/>
                  <a:pt x="5301235" y="4747164"/>
                </a:cubicBezTo>
                <a:cubicBezTo>
                  <a:pt x="5191581" y="4637510"/>
                  <a:pt x="5013393" y="4637510"/>
                  <a:pt x="4903739" y="4747164"/>
                </a:cubicBezTo>
                <a:lnTo>
                  <a:pt x="4507404" y="5143500"/>
                </a:lnTo>
                <a:lnTo>
                  <a:pt x="2917405" y="5143500"/>
                </a:lnTo>
                <a:lnTo>
                  <a:pt x="6037591" y="2023176"/>
                </a:lnTo>
                <a:cubicBezTo>
                  <a:pt x="6147246" y="1913522"/>
                  <a:pt x="6147246" y="1735335"/>
                  <a:pt x="6037591" y="1625681"/>
                </a:cubicBezTo>
                <a:cubicBezTo>
                  <a:pt x="5927938" y="1516027"/>
                  <a:pt x="5749749" y="1516027"/>
                  <a:pt x="5640096" y="1625681"/>
                </a:cubicBezTo>
                <a:lnTo>
                  <a:pt x="2121855" y="5143500"/>
                </a:lnTo>
                <a:lnTo>
                  <a:pt x="896983" y="5143500"/>
                </a:lnTo>
                <a:lnTo>
                  <a:pt x="893618" y="5132153"/>
                </a:lnTo>
                <a:cubicBezTo>
                  <a:pt x="859304" y="4955007"/>
                  <a:pt x="910776" y="4764564"/>
                  <a:pt x="1048034" y="4627306"/>
                </a:cubicBezTo>
                <a:lnTo>
                  <a:pt x="1361157" y="4314183"/>
                </a:lnTo>
                <a:cubicBezTo>
                  <a:pt x="1470811" y="4204529"/>
                  <a:pt x="1470811" y="4026342"/>
                  <a:pt x="1361157" y="3916686"/>
                </a:cubicBezTo>
                <a:cubicBezTo>
                  <a:pt x="1251503" y="3807032"/>
                  <a:pt x="1073314" y="3807032"/>
                  <a:pt x="963661" y="3916686"/>
                </a:cubicBezTo>
                <a:lnTo>
                  <a:pt x="959702" y="3920647"/>
                </a:lnTo>
                <a:cubicBezTo>
                  <a:pt x="740088" y="4140107"/>
                  <a:pt x="384322" y="4140107"/>
                  <a:pt x="164711" y="3920647"/>
                </a:cubicBezTo>
                <a:cubicBezTo>
                  <a:pt x="-54903" y="3701034"/>
                  <a:pt x="-54903" y="3345115"/>
                  <a:pt x="164711" y="3125656"/>
                </a:cubicBezTo>
                <a:lnTo>
                  <a:pt x="2106042" y="1184171"/>
                </a:lnTo>
                <a:cubicBezTo>
                  <a:pt x="2215696" y="1074517"/>
                  <a:pt x="2215696" y="896328"/>
                  <a:pt x="2106042" y="786674"/>
                </a:cubicBezTo>
                <a:cubicBezTo>
                  <a:pt x="1996388" y="677020"/>
                  <a:pt x="1818200" y="677020"/>
                  <a:pt x="1708546" y="786674"/>
                </a:cubicBezTo>
                <a:lnTo>
                  <a:pt x="1326585" y="1168636"/>
                </a:lnTo>
                <a:cubicBezTo>
                  <a:pt x="1106973" y="1388249"/>
                  <a:pt x="751207" y="1388249"/>
                  <a:pt x="531594" y="1168636"/>
                </a:cubicBezTo>
                <a:cubicBezTo>
                  <a:pt x="311983" y="949024"/>
                  <a:pt x="311983" y="593258"/>
                  <a:pt x="531594" y="373644"/>
                </a:cubicBezTo>
                <a:close/>
              </a:path>
            </a:pathLst>
          </a:custGeom>
          <a:solidFill>
            <a:srgbClr val="FFFF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5" name="_text_title">
            <a:extLst>
              <a:ext uri="{FF2B5EF4-FFF2-40B4-BE49-F238E27FC236}">
                <a16:creationId xmlns:a16="http://schemas.microsoft.com/office/drawing/2014/main" id="{9A9350D6-202F-DCA6-04C4-F3F8A523D648}"/>
              </a:ext>
            </a:extLst>
          </p:cNvPr>
          <p:cNvSpPr txBox="1">
            <a:spLocks noGrp="1"/>
          </p:cNvSpPr>
          <p:nvPr>
            <p:ph type="ctrTitle"/>
          </p:nvPr>
        </p:nvSpPr>
        <p:spPr>
          <a:xfrm>
            <a:off x="589500" y="724453"/>
            <a:ext cx="8402846" cy="430887"/>
          </a:xfrm>
          <a:prstGeom prst="rect">
            <a:avLst/>
          </a:prstGeom>
        </p:spPr>
        <p:txBody>
          <a:bodyPr spcFirstLastPara="1" wrap="square" lIns="91425" tIns="0" rIns="91425" bIns="0" anchor="b" anchorCtr="0">
            <a:spAutoFit/>
          </a:bodyPr>
          <a:lstStyle/>
          <a:p>
            <a:pPr marL="0" lvl="0" indent="0" algn="l" rtl="0">
              <a:spcBef>
                <a:spcPts val="0"/>
              </a:spcBef>
              <a:spcAft>
                <a:spcPts val="0"/>
              </a:spcAft>
              <a:buSzPts val="990"/>
              <a:buNone/>
            </a:pPr>
            <a:r>
              <a:rPr lang="sr" sz="2800" spc="-150" dirty="0">
                <a:solidFill>
                  <a:schemeClr val="lt1">
                    <a:alpha val="90000"/>
                  </a:schemeClr>
                </a:solidFill>
                <a:latin typeface="Montserrat Black" panose="00000A00000000000000" pitchFamily="2" charset="0"/>
                <a:ea typeface="Montserrat"/>
                <a:cs typeface="Montserrat"/>
                <a:sym typeface="Montserrat"/>
              </a:rPr>
              <a:t>Primer specifikacije</a:t>
            </a:r>
            <a:endParaRPr sz="2800" spc="-150" dirty="0">
              <a:solidFill>
                <a:schemeClr val="lt1">
                  <a:alpha val="90000"/>
                </a:schemeClr>
              </a:solidFill>
              <a:latin typeface="Montserrat Black" panose="00000A00000000000000" pitchFamily="2" charset="0"/>
              <a:ea typeface="Montserrat"/>
              <a:cs typeface="Montserrat"/>
              <a:sym typeface="Montserrat"/>
            </a:endParaRPr>
          </a:p>
        </p:txBody>
      </p:sp>
      <p:sp>
        <p:nvSpPr>
          <p:cNvPr id="76" name="_text_subtitle">
            <a:extLst>
              <a:ext uri="{FF2B5EF4-FFF2-40B4-BE49-F238E27FC236}">
                <a16:creationId xmlns:a16="http://schemas.microsoft.com/office/drawing/2014/main" id="{89B0C66B-98BD-4D0C-58A2-B37A07AD43A4}"/>
              </a:ext>
            </a:extLst>
          </p:cNvPr>
          <p:cNvSpPr txBox="1">
            <a:spLocks noGrp="1"/>
          </p:cNvSpPr>
          <p:nvPr>
            <p:ph type="subTitle" idx="1"/>
          </p:nvPr>
        </p:nvSpPr>
        <p:spPr>
          <a:xfrm>
            <a:off x="589500" y="1158219"/>
            <a:ext cx="8402846" cy="307777"/>
          </a:xfrm>
          <a:prstGeom prst="rect">
            <a:avLst/>
          </a:prstGeom>
        </p:spPr>
        <p:txBody>
          <a:bodyPr spcFirstLastPara="1" wrap="square" lIns="91425" tIns="0" rIns="91425" bIns="0" anchor="t" anchorCtr="0">
            <a:spAutoFit/>
          </a:bodyPr>
          <a:lstStyle/>
          <a:p>
            <a:pPr marL="0" lvl="0" indent="0" algn="l" rtl="0">
              <a:spcBef>
                <a:spcPts val="0"/>
              </a:spcBef>
              <a:spcAft>
                <a:spcPts val="0"/>
              </a:spcAft>
              <a:buNone/>
            </a:pPr>
            <a:r>
              <a:rPr lang="sr" sz="2000" dirty="0">
                <a:solidFill>
                  <a:schemeClr val="lt1"/>
                </a:solidFill>
                <a:latin typeface="Montserrat" panose="00000500000000000000" pitchFamily="2" charset="0"/>
                <a:ea typeface="Lato"/>
                <a:cs typeface="Lato"/>
                <a:sym typeface="Lato"/>
              </a:rPr>
              <a:t>Propust na granici chunk-a</a:t>
            </a:r>
            <a:endParaRPr sz="2000" dirty="0">
              <a:solidFill>
                <a:schemeClr val="lt1"/>
              </a:solidFill>
              <a:latin typeface="Montserrat" panose="00000500000000000000" pitchFamily="2" charset="0"/>
              <a:ea typeface="Lato"/>
              <a:cs typeface="Lato"/>
              <a:sym typeface="Lato"/>
            </a:endParaRPr>
          </a:p>
        </p:txBody>
      </p:sp>
      <p:sp>
        <p:nvSpPr>
          <p:cNvPr id="77" name="_text_main_content">
            <a:extLst>
              <a:ext uri="{FF2B5EF4-FFF2-40B4-BE49-F238E27FC236}">
                <a16:creationId xmlns:a16="http://schemas.microsoft.com/office/drawing/2014/main" id="{01CCEE04-B5AA-8998-D5AD-F320F727EDBA}"/>
              </a:ext>
            </a:extLst>
          </p:cNvPr>
          <p:cNvSpPr txBox="1"/>
          <p:nvPr/>
        </p:nvSpPr>
        <p:spPr>
          <a:xfrm>
            <a:off x="589500" y="1648741"/>
            <a:ext cx="7914900" cy="252373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800"/>
              </a:spcAft>
              <a:buNone/>
            </a:pPr>
            <a:r>
              <a:rPr lang="sr" sz="1200" dirty="0">
                <a:solidFill>
                  <a:srgbClr val="D1E2ED"/>
                </a:solidFill>
                <a:latin typeface="Lato"/>
                <a:ea typeface="Lato"/>
                <a:cs typeface="Lato"/>
                <a:sym typeface="Lato"/>
              </a:rPr>
              <a:t>Propust: pitanja E04 i E09 traže broj dana za zamenu opreme. Tačan dokument je pronađen, ali broj dana je u susednom chunk-u.</a:t>
            </a:r>
            <a:endParaRPr sz="1200" dirty="0">
              <a:solidFill>
                <a:srgbClr val="D1E2ED"/>
              </a:solidFill>
              <a:latin typeface="Lato"/>
              <a:ea typeface="Lato"/>
              <a:cs typeface="Lato"/>
              <a:sym typeface="Lato"/>
            </a:endParaRPr>
          </a:p>
          <a:p>
            <a:pPr marL="0" lvl="0" indent="0" algn="l" rtl="0">
              <a:spcBef>
                <a:spcPts val="0"/>
              </a:spcBef>
              <a:spcAft>
                <a:spcPts val="800"/>
              </a:spcAft>
              <a:buNone/>
            </a:pPr>
            <a:r>
              <a:rPr lang="sr" sz="1200" dirty="0">
                <a:solidFill>
                  <a:srgbClr val="D1E2ED"/>
                </a:solidFill>
                <a:latin typeface="Lato"/>
                <a:ea typeface="Lato"/>
                <a:cs typeface="Lato"/>
                <a:sym typeface="Lato"/>
              </a:rPr>
              <a:t>Hipoteza: fiksno sečenje na 140 znakova seče rečenicu.</a:t>
            </a:r>
            <a:endParaRPr sz="1200" dirty="0">
              <a:solidFill>
                <a:srgbClr val="D1E2ED"/>
              </a:solidFill>
              <a:latin typeface="Lato"/>
              <a:ea typeface="Lato"/>
              <a:cs typeface="Lato"/>
              <a:sym typeface="Lato"/>
            </a:endParaRPr>
          </a:p>
          <a:p>
            <a:pPr marL="0" lvl="0" indent="0" algn="l" rtl="0">
              <a:spcBef>
                <a:spcPts val="0"/>
              </a:spcBef>
              <a:spcAft>
                <a:spcPts val="800"/>
              </a:spcAft>
              <a:buNone/>
            </a:pPr>
            <a:r>
              <a:rPr lang="sr" sz="1200" dirty="0">
                <a:solidFill>
                  <a:srgbClr val="D1E2ED"/>
                </a:solidFill>
                <a:latin typeface="Lato"/>
                <a:ea typeface="Lato"/>
                <a:cs typeface="Lato"/>
                <a:sym typeface="Lato"/>
              </a:rPr>
              <a:t>Promena: sečenje po granicama rečenica.</a:t>
            </a:r>
            <a:endParaRPr sz="1200" dirty="0">
              <a:solidFill>
                <a:srgbClr val="D1E2ED"/>
              </a:solidFill>
              <a:latin typeface="Lato"/>
              <a:ea typeface="Lato"/>
              <a:cs typeface="Lato"/>
              <a:sym typeface="Lato"/>
            </a:endParaRPr>
          </a:p>
          <a:p>
            <a:pPr marL="0" lvl="0" indent="0" algn="l" rtl="0">
              <a:spcBef>
                <a:spcPts val="0"/>
              </a:spcBef>
              <a:spcAft>
                <a:spcPts val="800"/>
              </a:spcAft>
              <a:buNone/>
            </a:pPr>
            <a:r>
              <a:rPr lang="sr" sz="1200" dirty="0">
                <a:solidFill>
                  <a:srgbClr val="D1E2ED"/>
                </a:solidFill>
                <a:latin typeface="Lato"/>
                <a:ea typeface="Lato"/>
                <a:cs typeface="Lato"/>
                <a:sym typeface="Lato"/>
              </a:rPr>
              <a:t>Očekivani efekat: E04 i E09 prelaze u tačne.</a:t>
            </a:r>
            <a:endParaRPr sz="1200" dirty="0">
              <a:solidFill>
                <a:srgbClr val="D1E2ED"/>
              </a:solidFill>
              <a:latin typeface="Lato"/>
              <a:ea typeface="Lato"/>
              <a:cs typeface="Lato"/>
              <a:sym typeface="Lato"/>
            </a:endParaRPr>
          </a:p>
          <a:p>
            <a:pPr marL="0" lvl="0" indent="0" algn="l" rtl="0">
              <a:spcBef>
                <a:spcPts val="0"/>
              </a:spcBef>
              <a:spcAft>
                <a:spcPts val="800"/>
              </a:spcAft>
              <a:buNone/>
            </a:pPr>
            <a:r>
              <a:rPr lang="sr" sz="1200" dirty="0">
                <a:solidFill>
                  <a:srgbClr val="D1E2ED"/>
                </a:solidFill>
                <a:latin typeface="Lato"/>
                <a:ea typeface="Lato"/>
                <a:cs typeface="Lato"/>
                <a:sym typeface="Lato"/>
              </a:rPr>
              <a:t>Rizik regresije: duži chunk-ovi mogu da snize ocene i povećaju broj odbijanja.</a:t>
            </a:r>
            <a:endParaRPr sz="1200" dirty="0">
              <a:solidFill>
                <a:srgbClr val="D1E2ED"/>
              </a:solidFill>
              <a:latin typeface="Lato"/>
              <a:ea typeface="Lato"/>
              <a:cs typeface="Lato"/>
              <a:sym typeface="Lato"/>
            </a:endParaRPr>
          </a:p>
          <a:p>
            <a:pPr marL="0" lvl="0" indent="0" algn="l" rtl="0">
              <a:spcBef>
                <a:spcPts val="0"/>
              </a:spcBef>
              <a:spcAft>
                <a:spcPts val="800"/>
              </a:spcAft>
              <a:buNone/>
            </a:pPr>
            <a:r>
              <a:rPr lang="sr" sz="1200" dirty="0">
                <a:solidFill>
                  <a:srgbClr val="D1E2ED"/>
                </a:solidFill>
                <a:latin typeface="Lato"/>
                <a:ea typeface="Lato"/>
                <a:cs typeface="Lato"/>
                <a:sym typeface="Lato"/>
              </a:rPr>
              <a:t>Provera: ceo eval skup, poređenje sa početnim rezultatom.</a:t>
            </a:r>
            <a:endParaRPr sz="1200" dirty="0">
              <a:solidFill>
                <a:srgbClr val="D1E2ED"/>
              </a:solidFill>
              <a:latin typeface="Lato"/>
              <a:ea typeface="Lato"/>
              <a:cs typeface="Lato"/>
              <a:sym typeface="Lato"/>
            </a:endParaRPr>
          </a:p>
        </p:txBody>
      </p:sp>
      <p:sp>
        <p:nvSpPr>
          <p:cNvPr id="3" name="Graphic 4">
            <a:extLst>
              <a:ext uri="{FF2B5EF4-FFF2-40B4-BE49-F238E27FC236}">
                <a16:creationId xmlns:a16="http://schemas.microsoft.com/office/drawing/2014/main" id="{196CB132-CCD2-8F8E-0354-6FEF50E45CED}"/>
              </a:ext>
            </a:extLst>
          </p:cNvPr>
          <p:cNvSpPr/>
          <p:nvPr/>
        </p:nvSpPr>
        <p:spPr>
          <a:xfrm>
            <a:off x="213083" y="343327"/>
            <a:ext cx="180000" cy="180000"/>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alpha val="95000"/>
            </a:srgbClr>
          </a:solidFill>
          <a:ln w="9525" cap="flat">
            <a:noFill/>
            <a:prstDash val="solid"/>
            <a:miter/>
          </a:ln>
        </p:spPr>
        <p:txBody>
          <a:bodyPr/>
          <a:lstStyle/>
          <a:p>
            <a:endParaRPr lang="en-GB"/>
          </a:p>
        </p:txBody>
      </p:sp>
      <p:pic>
        <p:nvPicPr>
          <p:cNvPr id="78" name="_image_small_company_logo" descr="EPAM"/>
          <p:cNvPicPr>
            <a:picLocks noChangeAspect="1"/>
          </p:cNvPicPr>
          <p:nvPr/>
        </p:nvPicPr>
        <p:blipFill>
          <a:blip r:embed="rId4"/>
          <a:stretch>
            <a:fillRect/>
          </a:stretch>
        </p:blipFill>
        <p:spPr>
          <a:xfrm>
            <a:off x="490324" y="344427"/>
            <a:ext cx="504923" cy="177800"/>
          </a:xfrm>
          <a:prstGeom prst="rect">
            <a:avLst/>
          </a:prstGeom>
        </p:spPr>
      </p:pic>
      <p:sp>
        <p:nvSpPr>
          <p:cNvPr id="9" name="_text_section">
            <a:extLst>
              <a:ext uri="{FF2B5EF4-FFF2-40B4-BE49-F238E27FC236}">
                <a16:creationId xmlns:a16="http://schemas.microsoft.com/office/drawing/2014/main" id="{EB8B8E35-59BE-97C9-309E-BC2EEE79BB0D}"/>
              </a:ext>
            </a:extLst>
          </p:cNvPr>
          <p:cNvSpPr txBox="1">
            <a:spLocks/>
          </p:cNvSpPr>
          <p:nvPr/>
        </p:nvSpPr>
        <p:spPr>
          <a:xfrm>
            <a:off x="5927725" y="4663806"/>
            <a:ext cx="2564917" cy="15388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9pPr>
          </a:lstStyle>
          <a:p>
            <a:pPr marL="0" indent="0" algn="r"/>
            <a:r>
              <a:rPr lang="sr-Latn-RS" sz="1000" dirty="0">
                <a:solidFill>
                  <a:schemeClr val="lt1"/>
                </a:solidFill>
                <a:latin typeface="Lato"/>
                <a:ea typeface="Lato"/>
                <a:cs typeface="Lato"/>
                <a:sym typeface="Lato"/>
              </a:rPr>
              <a:t>Poboljšanje</a:t>
            </a:r>
            <a:endParaRPr lang="en-GB" sz="1000" dirty="0">
              <a:solidFill>
                <a:schemeClr val="lt1"/>
              </a:solidFill>
              <a:latin typeface="Lato"/>
              <a:ea typeface="Lato"/>
              <a:cs typeface="Lato"/>
              <a:sym typeface="Lato"/>
            </a:endParaRPr>
          </a:p>
        </p:txBody>
      </p:sp>
      <p:sp>
        <p:nvSpPr>
          <p:cNvPr id="5" name="_text_page">
            <a:extLst>
              <a:ext uri="{FF2B5EF4-FFF2-40B4-BE49-F238E27FC236}">
                <a16:creationId xmlns:a16="http://schemas.microsoft.com/office/drawing/2014/main" id="{3C682F78-0194-56CA-EE15-FF0DD081B353}"/>
              </a:ext>
            </a:extLst>
          </p:cNvPr>
          <p:cNvSpPr txBox="1"/>
          <p:nvPr/>
        </p:nvSpPr>
        <p:spPr>
          <a:xfrm>
            <a:off x="8492643" y="4500000"/>
            <a:ext cx="469800" cy="481500"/>
          </a:xfrm>
          <a:prstGeom prst="rect">
            <a:avLst/>
          </a:prstGeom>
          <a:noFill/>
          <a:ln>
            <a:noFill/>
          </a:ln>
        </p:spPr>
        <p:txBody>
          <a:bodyPr spcFirstLastPara="1" wrap="square" lIns="0" tIns="91425" rIns="0" bIns="91425" anchor="t" anchorCtr="0">
            <a:noAutofit/>
          </a:bodyPr>
          <a:lstStyle/>
          <a:p>
            <a:pPr marL="0" lvl="0" indent="0" algn="ctr" rtl="0">
              <a:spcBef>
                <a:spcPts val="0"/>
              </a:spcBef>
              <a:spcAft>
                <a:spcPts val="0"/>
              </a:spcAft>
              <a:buNone/>
            </a:pPr>
            <a:r>
              <a:rPr lang="sr" sz="1800" dirty="0">
                <a:solidFill>
                  <a:schemeClr val="lt1"/>
                </a:solidFill>
                <a:latin typeface="Montserrat"/>
                <a:ea typeface="Montserrat"/>
                <a:cs typeface="Montserrat"/>
                <a:sym typeface="Montserrat"/>
              </a:rPr>
              <a:t>2</a:t>
            </a:r>
            <a:r>
              <a:rPr lang="en-US" sz="1800" dirty="0">
                <a:solidFill>
                  <a:schemeClr val="lt1"/>
                </a:solidFill>
                <a:latin typeface="Montserrat"/>
                <a:ea typeface="Montserrat"/>
                <a:cs typeface="Montserrat"/>
                <a:sym typeface="Montserrat"/>
              </a:rPr>
              <a:t>4</a:t>
            </a:r>
            <a:endParaRPr sz="1800" dirty="0">
              <a:solidFill>
                <a:schemeClr val="lt1"/>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9000" r="-29000"/>
          </a:stretch>
        </a:blip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CCEE615A-F458-2EA3-D615-19C3FED6FB9A}"/>
              </a:ext>
            </a:extLst>
          </p:cNvPr>
          <p:cNvSpPr/>
          <p:nvPr/>
        </p:nvSpPr>
        <p:spPr>
          <a:xfrm>
            <a:off x="2717800" y="0"/>
            <a:ext cx="6426201" cy="5143500"/>
          </a:xfrm>
          <a:custGeom>
            <a:avLst/>
            <a:gdLst>
              <a:gd name="csX0" fmla="*/ 905383 w 6426201"/>
              <a:gd name="csY0" fmla="*/ 0 h 5143500"/>
              <a:gd name="csX1" fmla="*/ 2497177 w 6426201"/>
              <a:gd name="csY1" fmla="*/ 0 h 5143500"/>
              <a:gd name="csX2" fmla="*/ 2467862 w 6426201"/>
              <a:gd name="csY2" fmla="*/ 35902 h 5143500"/>
              <a:gd name="csX3" fmla="*/ 2503842 w 6426201"/>
              <a:gd name="csY3" fmla="*/ 389331 h 5143500"/>
              <a:gd name="csX4" fmla="*/ 2901337 w 6426201"/>
              <a:gd name="csY4" fmla="*/ 389331 h 5143500"/>
              <a:gd name="csX5" fmla="*/ 3290630 w 6426201"/>
              <a:gd name="csY5" fmla="*/ 0 h 5143500"/>
              <a:gd name="csX6" fmla="*/ 4880482 w 6426201"/>
              <a:gd name="csY6" fmla="*/ 0 h 5143500"/>
              <a:gd name="csX7" fmla="*/ 1758651 w 6426201"/>
              <a:gd name="csY7" fmla="*/ 3121695 h 5143500"/>
              <a:gd name="csX8" fmla="*/ 1758651 w 6426201"/>
              <a:gd name="csY8" fmla="*/ 3519191 h 5143500"/>
              <a:gd name="csX9" fmla="*/ 2156147 w 6426201"/>
              <a:gd name="csY9" fmla="*/ 3519191 h 5143500"/>
              <a:gd name="csX10" fmla="*/ 5675617 w 6426201"/>
              <a:gd name="csY10" fmla="*/ 0 h 5143500"/>
              <a:gd name="csX11" fmla="*/ 6426201 w 6426201"/>
              <a:gd name="csY11" fmla="*/ 0 h 5143500"/>
              <a:gd name="csX12" fmla="*/ 6426201 w 6426201"/>
              <a:gd name="csY12" fmla="*/ 841724 h 5143500"/>
              <a:gd name="csX13" fmla="*/ 6399107 w 6426201"/>
              <a:gd name="csY13" fmla="*/ 874906 h 5143500"/>
              <a:gd name="csX14" fmla="*/ 6399107 w 6426201"/>
              <a:gd name="csY14" fmla="*/ 1184271 h 5143500"/>
              <a:gd name="csX15" fmla="*/ 6426201 w 6426201"/>
              <a:gd name="csY15" fmla="*/ 1217454 h 5143500"/>
              <a:gd name="csX16" fmla="*/ 6426201 w 6426201"/>
              <a:gd name="csY16" fmla="*/ 3224795 h 5143500"/>
              <a:gd name="csX17" fmla="*/ 5698729 w 6426201"/>
              <a:gd name="csY17" fmla="*/ 3952325 h 5143500"/>
              <a:gd name="csX18" fmla="*/ 5698729 w 6426201"/>
              <a:gd name="csY18" fmla="*/ 4349820 h 5143500"/>
              <a:gd name="csX19" fmla="*/ 6096226 w 6426201"/>
              <a:gd name="csY19" fmla="*/ 4349820 h 5143500"/>
              <a:gd name="csX20" fmla="*/ 6426201 w 6426201"/>
              <a:gd name="csY20" fmla="*/ 4019844 h 5143500"/>
              <a:gd name="csX21" fmla="*/ 6426201 w 6426201"/>
              <a:gd name="csY21" fmla="*/ 5143500 h 5143500"/>
              <a:gd name="csX22" fmla="*/ 5302181 w 6426201"/>
              <a:gd name="csY22" fmla="*/ 5143500 h 5143500"/>
              <a:gd name="csX23" fmla="*/ 5337216 w 6426201"/>
              <a:gd name="csY23" fmla="*/ 5100594 h 5143500"/>
              <a:gd name="csX24" fmla="*/ 5301235 w 6426201"/>
              <a:gd name="csY24" fmla="*/ 4747164 h 5143500"/>
              <a:gd name="csX25" fmla="*/ 4903739 w 6426201"/>
              <a:gd name="csY25" fmla="*/ 4747164 h 5143500"/>
              <a:gd name="csX26" fmla="*/ 4507404 w 6426201"/>
              <a:gd name="csY26" fmla="*/ 5143500 h 5143500"/>
              <a:gd name="csX27" fmla="*/ 2917405 w 6426201"/>
              <a:gd name="csY27" fmla="*/ 5143500 h 5143500"/>
              <a:gd name="csX28" fmla="*/ 6037591 w 6426201"/>
              <a:gd name="csY28" fmla="*/ 2023176 h 5143500"/>
              <a:gd name="csX29" fmla="*/ 6037591 w 6426201"/>
              <a:gd name="csY29" fmla="*/ 1625681 h 5143500"/>
              <a:gd name="csX30" fmla="*/ 5640096 w 6426201"/>
              <a:gd name="csY30" fmla="*/ 1625681 h 5143500"/>
              <a:gd name="csX31" fmla="*/ 2121855 w 6426201"/>
              <a:gd name="csY31" fmla="*/ 5143500 h 5143500"/>
              <a:gd name="csX32" fmla="*/ 896983 w 6426201"/>
              <a:gd name="csY32" fmla="*/ 5143500 h 5143500"/>
              <a:gd name="csX33" fmla="*/ 893618 w 6426201"/>
              <a:gd name="csY33" fmla="*/ 5132153 h 5143500"/>
              <a:gd name="csX34" fmla="*/ 1048034 w 6426201"/>
              <a:gd name="csY34" fmla="*/ 4627306 h 5143500"/>
              <a:gd name="csX35" fmla="*/ 1361157 w 6426201"/>
              <a:gd name="csY35" fmla="*/ 4314183 h 5143500"/>
              <a:gd name="csX36" fmla="*/ 1361157 w 6426201"/>
              <a:gd name="csY36" fmla="*/ 3916686 h 5143500"/>
              <a:gd name="csX37" fmla="*/ 963661 w 6426201"/>
              <a:gd name="csY37" fmla="*/ 3916686 h 5143500"/>
              <a:gd name="csX38" fmla="*/ 959702 w 6426201"/>
              <a:gd name="csY38" fmla="*/ 3920647 h 5143500"/>
              <a:gd name="csX39" fmla="*/ 164711 w 6426201"/>
              <a:gd name="csY39" fmla="*/ 3920647 h 5143500"/>
              <a:gd name="csX40" fmla="*/ 164711 w 6426201"/>
              <a:gd name="csY40" fmla="*/ 3125656 h 5143500"/>
              <a:gd name="csX41" fmla="*/ 2106042 w 6426201"/>
              <a:gd name="csY41" fmla="*/ 1184171 h 5143500"/>
              <a:gd name="csX42" fmla="*/ 2106042 w 6426201"/>
              <a:gd name="csY42" fmla="*/ 786674 h 5143500"/>
              <a:gd name="csX43" fmla="*/ 1708546 w 6426201"/>
              <a:gd name="csY43" fmla="*/ 786674 h 5143500"/>
              <a:gd name="csX44" fmla="*/ 1326585 w 6426201"/>
              <a:gd name="csY44" fmla="*/ 1168636 h 5143500"/>
              <a:gd name="csX45" fmla="*/ 531594 w 6426201"/>
              <a:gd name="csY45" fmla="*/ 1168636 h 5143500"/>
              <a:gd name="csX46" fmla="*/ 531594 w 6426201"/>
              <a:gd name="csY46" fmla="*/ 373644 h 514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426201" h="5143500">
                <a:moveTo>
                  <a:pt x="905383" y="0"/>
                </a:moveTo>
                <a:lnTo>
                  <a:pt x="2497177" y="0"/>
                </a:lnTo>
                <a:lnTo>
                  <a:pt x="2467862" y="35902"/>
                </a:lnTo>
                <a:cubicBezTo>
                  <a:pt x="2395902" y="144966"/>
                  <a:pt x="2407895" y="293384"/>
                  <a:pt x="2503842" y="389331"/>
                </a:cubicBezTo>
                <a:cubicBezTo>
                  <a:pt x="2613496" y="498985"/>
                  <a:pt x="2791683" y="498985"/>
                  <a:pt x="2901337" y="389331"/>
                </a:cubicBezTo>
                <a:lnTo>
                  <a:pt x="3290630" y="0"/>
                </a:lnTo>
                <a:lnTo>
                  <a:pt x="4880482" y="0"/>
                </a:lnTo>
                <a:lnTo>
                  <a:pt x="1758651" y="3121695"/>
                </a:lnTo>
                <a:cubicBezTo>
                  <a:pt x="1648997" y="3231349"/>
                  <a:pt x="1648997" y="3409537"/>
                  <a:pt x="1758651" y="3519191"/>
                </a:cubicBezTo>
                <a:cubicBezTo>
                  <a:pt x="1868305" y="3628845"/>
                  <a:pt x="2046494" y="3628845"/>
                  <a:pt x="2156147" y="3519191"/>
                </a:cubicBezTo>
                <a:lnTo>
                  <a:pt x="5675617" y="0"/>
                </a:lnTo>
                <a:lnTo>
                  <a:pt x="6426201" y="0"/>
                </a:lnTo>
                <a:lnTo>
                  <a:pt x="6426201" y="841724"/>
                </a:lnTo>
                <a:lnTo>
                  <a:pt x="6399107" y="874906"/>
                </a:lnTo>
                <a:cubicBezTo>
                  <a:pt x="6337426" y="968391"/>
                  <a:pt x="6337426" y="1090787"/>
                  <a:pt x="6399107" y="1184271"/>
                </a:cubicBezTo>
                <a:lnTo>
                  <a:pt x="6426201" y="1217454"/>
                </a:lnTo>
                <a:lnTo>
                  <a:pt x="6426201" y="3224795"/>
                </a:lnTo>
                <a:lnTo>
                  <a:pt x="5698729" y="3952325"/>
                </a:lnTo>
                <a:cubicBezTo>
                  <a:pt x="5589076" y="4061979"/>
                  <a:pt x="5589076" y="4240166"/>
                  <a:pt x="5698729" y="4349820"/>
                </a:cubicBezTo>
                <a:cubicBezTo>
                  <a:pt x="5808383" y="4459475"/>
                  <a:pt x="5986572" y="4459475"/>
                  <a:pt x="6096226" y="4349820"/>
                </a:cubicBezTo>
                <a:lnTo>
                  <a:pt x="6426201" y="4019844"/>
                </a:lnTo>
                <a:lnTo>
                  <a:pt x="6426201" y="5143500"/>
                </a:lnTo>
                <a:lnTo>
                  <a:pt x="5302181" y="5143500"/>
                </a:lnTo>
                <a:lnTo>
                  <a:pt x="5337216" y="5100594"/>
                </a:lnTo>
                <a:cubicBezTo>
                  <a:pt x="5409176" y="4991529"/>
                  <a:pt x="5397183" y="4843112"/>
                  <a:pt x="5301235" y="4747164"/>
                </a:cubicBezTo>
                <a:cubicBezTo>
                  <a:pt x="5191581" y="4637510"/>
                  <a:pt x="5013393" y="4637510"/>
                  <a:pt x="4903739" y="4747164"/>
                </a:cubicBezTo>
                <a:lnTo>
                  <a:pt x="4507404" y="5143500"/>
                </a:lnTo>
                <a:lnTo>
                  <a:pt x="2917405" y="5143500"/>
                </a:lnTo>
                <a:lnTo>
                  <a:pt x="6037591" y="2023176"/>
                </a:lnTo>
                <a:cubicBezTo>
                  <a:pt x="6147246" y="1913522"/>
                  <a:pt x="6147246" y="1735335"/>
                  <a:pt x="6037591" y="1625681"/>
                </a:cubicBezTo>
                <a:cubicBezTo>
                  <a:pt x="5927938" y="1516027"/>
                  <a:pt x="5749749" y="1516027"/>
                  <a:pt x="5640096" y="1625681"/>
                </a:cubicBezTo>
                <a:lnTo>
                  <a:pt x="2121855" y="5143500"/>
                </a:lnTo>
                <a:lnTo>
                  <a:pt x="896983" y="5143500"/>
                </a:lnTo>
                <a:lnTo>
                  <a:pt x="893618" y="5132153"/>
                </a:lnTo>
                <a:cubicBezTo>
                  <a:pt x="859304" y="4955007"/>
                  <a:pt x="910776" y="4764564"/>
                  <a:pt x="1048034" y="4627306"/>
                </a:cubicBezTo>
                <a:lnTo>
                  <a:pt x="1361157" y="4314183"/>
                </a:lnTo>
                <a:cubicBezTo>
                  <a:pt x="1470811" y="4204529"/>
                  <a:pt x="1470811" y="4026342"/>
                  <a:pt x="1361157" y="3916686"/>
                </a:cubicBezTo>
                <a:cubicBezTo>
                  <a:pt x="1251503" y="3807032"/>
                  <a:pt x="1073314" y="3807032"/>
                  <a:pt x="963661" y="3916686"/>
                </a:cubicBezTo>
                <a:lnTo>
                  <a:pt x="959702" y="3920647"/>
                </a:lnTo>
                <a:cubicBezTo>
                  <a:pt x="740088" y="4140107"/>
                  <a:pt x="384322" y="4140107"/>
                  <a:pt x="164711" y="3920647"/>
                </a:cubicBezTo>
                <a:cubicBezTo>
                  <a:pt x="-54903" y="3701034"/>
                  <a:pt x="-54903" y="3345115"/>
                  <a:pt x="164711" y="3125656"/>
                </a:cubicBezTo>
                <a:lnTo>
                  <a:pt x="2106042" y="1184171"/>
                </a:lnTo>
                <a:cubicBezTo>
                  <a:pt x="2215696" y="1074517"/>
                  <a:pt x="2215696" y="896328"/>
                  <a:pt x="2106042" y="786674"/>
                </a:cubicBezTo>
                <a:cubicBezTo>
                  <a:pt x="1996388" y="677020"/>
                  <a:pt x="1818200" y="677020"/>
                  <a:pt x="1708546" y="786674"/>
                </a:cubicBezTo>
                <a:lnTo>
                  <a:pt x="1326585" y="1168636"/>
                </a:lnTo>
                <a:cubicBezTo>
                  <a:pt x="1106973" y="1388249"/>
                  <a:pt x="751207" y="1388249"/>
                  <a:pt x="531594" y="1168636"/>
                </a:cubicBezTo>
                <a:cubicBezTo>
                  <a:pt x="311983" y="949024"/>
                  <a:pt x="311983" y="593258"/>
                  <a:pt x="531594" y="373644"/>
                </a:cubicBezTo>
                <a:close/>
              </a:path>
            </a:pathLst>
          </a:custGeom>
          <a:solidFill>
            <a:srgbClr val="FFFF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5" name="_text_title">
            <a:extLst>
              <a:ext uri="{FF2B5EF4-FFF2-40B4-BE49-F238E27FC236}">
                <a16:creationId xmlns:a16="http://schemas.microsoft.com/office/drawing/2014/main" id="{9A9350D6-202F-DCA6-04C4-F3F8A523D648}"/>
              </a:ext>
            </a:extLst>
          </p:cNvPr>
          <p:cNvSpPr txBox="1">
            <a:spLocks noGrp="1"/>
          </p:cNvSpPr>
          <p:nvPr>
            <p:ph type="ctrTitle"/>
          </p:nvPr>
        </p:nvSpPr>
        <p:spPr>
          <a:xfrm>
            <a:off x="589500" y="724453"/>
            <a:ext cx="8402846" cy="430887"/>
          </a:xfrm>
          <a:prstGeom prst="rect">
            <a:avLst/>
          </a:prstGeom>
        </p:spPr>
        <p:txBody>
          <a:bodyPr spcFirstLastPara="1" wrap="square" lIns="91425" tIns="0" rIns="91425" bIns="0" anchor="b" anchorCtr="0">
            <a:spAutoFit/>
          </a:bodyPr>
          <a:lstStyle/>
          <a:p>
            <a:pPr marL="0" lvl="0" indent="0" algn="l" rtl="0">
              <a:spcBef>
                <a:spcPts val="0"/>
              </a:spcBef>
              <a:spcAft>
                <a:spcPts val="0"/>
              </a:spcAft>
              <a:buSzPts val="990"/>
              <a:buNone/>
            </a:pPr>
            <a:r>
              <a:rPr lang="sr" sz="2800" spc="-150" dirty="0">
                <a:solidFill>
                  <a:schemeClr val="lt1">
                    <a:alpha val="90000"/>
                  </a:schemeClr>
                </a:solidFill>
                <a:latin typeface="Montserrat Black" panose="00000A00000000000000" pitchFamily="2" charset="0"/>
                <a:ea typeface="Montserrat"/>
                <a:cs typeface="Montserrat"/>
                <a:sym typeface="Montserrat"/>
              </a:rPr>
              <a:t>Meni mogućih poboljšanja</a:t>
            </a:r>
            <a:endParaRPr sz="2800" spc="-150" dirty="0">
              <a:solidFill>
                <a:schemeClr val="lt1">
                  <a:alpha val="90000"/>
                </a:schemeClr>
              </a:solidFill>
              <a:latin typeface="Montserrat Black" panose="00000A00000000000000" pitchFamily="2" charset="0"/>
              <a:ea typeface="Montserrat"/>
              <a:cs typeface="Montserrat"/>
              <a:sym typeface="Montserrat"/>
            </a:endParaRPr>
          </a:p>
        </p:txBody>
      </p:sp>
      <p:sp>
        <p:nvSpPr>
          <p:cNvPr id="76" name="_text_subtitle">
            <a:extLst>
              <a:ext uri="{FF2B5EF4-FFF2-40B4-BE49-F238E27FC236}">
                <a16:creationId xmlns:a16="http://schemas.microsoft.com/office/drawing/2014/main" id="{89B0C66B-98BD-4D0C-58A2-B37A07AD43A4}"/>
              </a:ext>
            </a:extLst>
          </p:cNvPr>
          <p:cNvSpPr txBox="1">
            <a:spLocks noGrp="1"/>
          </p:cNvSpPr>
          <p:nvPr>
            <p:ph type="subTitle" idx="1"/>
          </p:nvPr>
        </p:nvSpPr>
        <p:spPr>
          <a:xfrm>
            <a:off x="589500" y="1158219"/>
            <a:ext cx="8402846" cy="307777"/>
          </a:xfrm>
          <a:prstGeom prst="rect">
            <a:avLst/>
          </a:prstGeom>
        </p:spPr>
        <p:txBody>
          <a:bodyPr spcFirstLastPara="1" wrap="square" lIns="91425" tIns="0" rIns="91425" bIns="0" anchor="t" anchorCtr="0">
            <a:spAutoFit/>
          </a:bodyPr>
          <a:lstStyle/>
          <a:p>
            <a:pPr marL="0" lvl="0" indent="0" algn="l" rtl="0">
              <a:spcBef>
                <a:spcPts val="0"/>
              </a:spcBef>
              <a:spcAft>
                <a:spcPts val="0"/>
              </a:spcAft>
              <a:buNone/>
            </a:pPr>
            <a:r>
              <a:rPr lang="sr" sz="2000" dirty="0">
                <a:solidFill>
                  <a:schemeClr val="lt1"/>
                </a:solidFill>
                <a:latin typeface="Montserrat" panose="00000500000000000000" pitchFamily="2" charset="0"/>
                <a:ea typeface="Lato"/>
                <a:cs typeface="Lato"/>
                <a:sym typeface="Lato"/>
              </a:rPr>
              <a:t>Svaka stavka je jedna promena</a:t>
            </a:r>
            <a:endParaRPr sz="2000" dirty="0">
              <a:solidFill>
                <a:schemeClr val="lt1"/>
              </a:solidFill>
              <a:latin typeface="Montserrat" panose="00000500000000000000" pitchFamily="2" charset="0"/>
              <a:ea typeface="Lato"/>
              <a:cs typeface="Lato"/>
              <a:sym typeface="Lato"/>
            </a:endParaRPr>
          </a:p>
        </p:txBody>
      </p:sp>
      <p:sp>
        <p:nvSpPr>
          <p:cNvPr id="77" name="_text_main_content">
            <a:extLst>
              <a:ext uri="{FF2B5EF4-FFF2-40B4-BE49-F238E27FC236}">
                <a16:creationId xmlns:a16="http://schemas.microsoft.com/office/drawing/2014/main" id="{01CCEE04-B5AA-8998-D5AD-F320F727EDBA}"/>
              </a:ext>
            </a:extLst>
          </p:cNvPr>
          <p:cNvSpPr txBox="1"/>
          <p:nvPr/>
        </p:nvSpPr>
        <p:spPr>
          <a:xfrm>
            <a:off x="589500" y="1648741"/>
            <a:ext cx="7914900" cy="252373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800"/>
              </a:spcAft>
              <a:buNone/>
            </a:pPr>
            <a:r>
              <a:rPr lang="sr" sz="1200" dirty="0">
                <a:solidFill>
                  <a:srgbClr val="D1E2ED"/>
                </a:solidFill>
                <a:latin typeface="Lato"/>
                <a:ea typeface="Lato"/>
                <a:cs typeface="Lato"/>
                <a:sym typeface="Lato"/>
              </a:rPr>
              <a:t>• Sečenje po granicama rečenica ili pasusa</a:t>
            </a:r>
            <a:endParaRPr sz="1200" dirty="0">
              <a:solidFill>
                <a:srgbClr val="D1E2ED"/>
              </a:solidFill>
              <a:latin typeface="Lato"/>
              <a:ea typeface="Lato"/>
              <a:cs typeface="Lato"/>
              <a:sym typeface="Lato"/>
            </a:endParaRPr>
          </a:p>
          <a:p>
            <a:pPr marL="0" lvl="0" indent="0" algn="l" rtl="0">
              <a:spcBef>
                <a:spcPts val="0"/>
              </a:spcBef>
              <a:spcAft>
                <a:spcPts val="800"/>
              </a:spcAft>
              <a:buNone/>
            </a:pPr>
            <a:r>
              <a:rPr lang="sr" sz="1200" dirty="0">
                <a:solidFill>
                  <a:srgbClr val="D1E2ED"/>
                </a:solidFill>
                <a:latin typeface="Lato"/>
                <a:ea typeface="Lato"/>
                <a:cs typeface="Lato"/>
                <a:sym typeface="Lato"/>
              </a:rPr>
              <a:t>• Filtriranje čestih reči pri ocenjivanju</a:t>
            </a:r>
            <a:endParaRPr sz="1200" dirty="0">
              <a:solidFill>
                <a:srgbClr val="D1E2ED"/>
              </a:solidFill>
              <a:latin typeface="Lato"/>
              <a:ea typeface="Lato"/>
              <a:cs typeface="Lato"/>
              <a:sym typeface="Lato"/>
            </a:endParaRPr>
          </a:p>
          <a:p>
            <a:pPr marL="0" lvl="0" indent="0" algn="l" rtl="0">
              <a:spcBef>
                <a:spcPts val="0"/>
              </a:spcBef>
              <a:spcAft>
                <a:spcPts val="800"/>
              </a:spcAft>
              <a:buNone/>
            </a:pPr>
            <a:r>
              <a:rPr lang="sr" sz="1200" dirty="0">
                <a:solidFill>
                  <a:srgbClr val="D1E2ED"/>
                </a:solidFill>
                <a:latin typeface="Lato"/>
                <a:ea typeface="Lato"/>
                <a:cs typeface="Lato"/>
                <a:sym typeface="Lato"/>
              </a:rPr>
              <a:t>• Kalibracija praga odbijanja</a:t>
            </a:r>
            <a:endParaRPr sz="1200" dirty="0">
              <a:solidFill>
                <a:srgbClr val="D1E2ED"/>
              </a:solidFill>
              <a:latin typeface="Lato"/>
              <a:ea typeface="Lato"/>
              <a:cs typeface="Lato"/>
              <a:sym typeface="Lato"/>
            </a:endParaRPr>
          </a:p>
          <a:p>
            <a:pPr marL="0" lvl="0" indent="0" algn="l" rtl="0">
              <a:spcBef>
                <a:spcPts val="0"/>
              </a:spcBef>
              <a:spcAft>
                <a:spcPts val="800"/>
              </a:spcAft>
              <a:buNone/>
            </a:pPr>
            <a:r>
              <a:rPr lang="sr" sz="1200" dirty="0">
                <a:solidFill>
                  <a:srgbClr val="D1E2ED"/>
                </a:solidFill>
                <a:latin typeface="Lato"/>
                <a:ea typeface="Lato"/>
                <a:cs typeface="Lato"/>
                <a:sym typeface="Lato"/>
              </a:rPr>
              <a:t>• Citiranje samo chunk-ova iznad praga relevantnosti</a:t>
            </a:r>
            <a:endParaRPr sz="1200" dirty="0">
              <a:solidFill>
                <a:srgbClr val="D1E2ED"/>
              </a:solidFill>
              <a:latin typeface="Lato"/>
              <a:ea typeface="Lato"/>
              <a:cs typeface="Lato"/>
              <a:sym typeface="Lato"/>
            </a:endParaRPr>
          </a:p>
          <a:p>
            <a:pPr marL="0" lvl="0" indent="0" algn="l" rtl="0">
              <a:spcBef>
                <a:spcPts val="0"/>
              </a:spcBef>
              <a:spcAft>
                <a:spcPts val="800"/>
              </a:spcAft>
              <a:buNone/>
            </a:pPr>
            <a:r>
              <a:rPr lang="sr" sz="1200" dirty="0">
                <a:solidFill>
                  <a:srgbClr val="D1E2ED"/>
                </a:solidFill>
                <a:latin typeface="Lato"/>
                <a:ea typeface="Lato"/>
                <a:cs typeface="Lato"/>
                <a:sym typeface="Lato"/>
              </a:rPr>
              <a:t>• Metapodaci: filtriranje po važećoj verziji</a:t>
            </a:r>
            <a:endParaRPr sz="1200" dirty="0">
              <a:solidFill>
                <a:srgbClr val="D1E2ED"/>
              </a:solidFill>
              <a:latin typeface="Lato"/>
              <a:ea typeface="Lato"/>
              <a:cs typeface="Lato"/>
              <a:sym typeface="Lato"/>
            </a:endParaRPr>
          </a:p>
          <a:p>
            <a:pPr marL="0" lvl="0" indent="0" algn="l" rtl="0">
              <a:spcBef>
                <a:spcPts val="0"/>
              </a:spcBef>
              <a:spcAft>
                <a:spcPts val="800"/>
              </a:spcAft>
              <a:buNone/>
            </a:pPr>
            <a:r>
              <a:rPr lang="sr" sz="1200" dirty="0">
                <a:solidFill>
                  <a:srgbClr val="D1E2ED"/>
                </a:solidFill>
                <a:latin typeface="Lato"/>
                <a:ea typeface="Lato"/>
                <a:cs typeface="Lato"/>
                <a:sym typeface="Lato"/>
              </a:rPr>
              <a:t>• Promena broja dohvaćenih chunk-ova (top-k)</a:t>
            </a:r>
            <a:endParaRPr sz="1200" dirty="0">
              <a:solidFill>
                <a:srgbClr val="D1E2ED"/>
              </a:solidFill>
              <a:latin typeface="Lato"/>
              <a:ea typeface="Lato"/>
              <a:cs typeface="Lato"/>
              <a:sym typeface="Lato"/>
            </a:endParaRPr>
          </a:p>
          <a:p>
            <a:pPr marL="0" lvl="0" indent="0" algn="l" rtl="0">
              <a:spcBef>
                <a:spcPts val="0"/>
              </a:spcBef>
              <a:spcAft>
                <a:spcPts val="800"/>
              </a:spcAft>
              <a:buNone/>
            </a:pPr>
            <a:endParaRPr sz="1200" dirty="0">
              <a:solidFill>
                <a:srgbClr val="D1E2ED"/>
              </a:solidFill>
              <a:latin typeface="Lato"/>
              <a:ea typeface="Lato"/>
              <a:cs typeface="Lato"/>
              <a:sym typeface="Lato"/>
            </a:endParaRPr>
          </a:p>
          <a:p>
            <a:pPr marL="0" lvl="0" indent="0" algn="l" rtl="0">
              <a:spcBef>
                <a:spcPts val="0"/>
              </a:spcBef>
              <a:spcAft>
                <a:spcPts val="800"/>
              </a:spcAft>
              <a:buNone/>
            </a:pPr>
            <a:r>
              <a:rPr lang="sr" sz="1200" dirty="0">
                <a:solidFill>
                  <a:srgbClr val="D1E2ED"/>
                </a:solidFill>
                <a:latin typeface="Lato"/>
                <a:ea typeface="Lato"/>
                <a:cs typeface="Lato"/>
                <a:sym typeface="Lato"/>
              </a:rPr>
              <a:t>Birajte promenu koja cilja propust koji ste dokumentovali, a ne onu koja zvuči najnaprednije. Svaka promena može da popravi neka pitanja i pokvari druga, zato rizik regresije pišete pre izmene.</a:t>
            </a:r>
            <a:endParaRPr sz="1200" dirty="0">
              <a:solidFill>
                <a:srgbClr val="D1E2ED"/>
              </a:solidFill>
              <a:latin typeface="Lato"/>
              <a:ea typeface="Lato"/>
              <a:cs typeface="Lato"/>
              <a:sym typeface="Lato"/>
            </a:endParaRPr>
          </a:p>
        </p:txBody>
      </p:sp>
      <p:sp>
        <p:nvSpPr>
          <p:cNvPr id="3" name="Graphic 4">
            <a:extLst>
              <a:ext uri="{FF2B5EF4-FFF2-40B4-BE49-F238E27FC236}">
                <a16:creationId xmlns:a16="http://schemas.microsoft.com/office/drawing/2014/main" id="{196CB132-CCD2-8F8E-0354-6FEF50E45CED}"/>
              </a:ext>
            </a:extLst>
          </p:cNvPr>
          <p:cNvSpPr/>
          <p:nvPr/>
        </p:nvSpPr>
        <p:spPr>
          <a:xfrm>
            <a:off x="213083" y="343327"/>
            <a:ext cx="180000" cy="180000"/>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alpha val="95000"/>
            </a:srgbClr>
          </a:solidFill>
          <a:ln w="9525" cap="flat">
            <a:noFill/>
            <a:prstDash val="solid"/>
            <a:miter/>
          </a:ln>
        </p:spPr>
        <p:txBody>
          <a:bodyPr/>
          <a:lstStyle/>
          <a:p>
            <a:endParaRPr lang="en-GB"/>
          </a:p>
        </p:txBody>
      </p:sp>
      <p:pic>
        <p:nvPicPr>
          <p:cNvPr id="78" name="_image_small_company_logo" descr="EPAM"/>
          <p:cNvPicPr>
            <a:picLocks noChangeAspect="1"/>
          </p:cNvPicPr>
          <p:nvPr/>
        </p:nvPicPr>
        <p:blipFill>
          <a:blip r:embed="rId4"/>
          <a:stretch>
            <a:fillRect/>
          </a:stretch>
        </p:blipFill>
        <p:spPr>
          <a:xfrm>
            <a:off x="490324" y="344427"/>
            <a:ext cx="504923" cy="177800"/>
          </a:xfrm>
          <a:prstGeom prst="rect">
            <a:avLst/>
          </a:prstGeom>
        </p:spPr>
      </p:pic>
      <p:sp>
        <p:nvSpPr>
          <p:cNvPr id="9" name="_text_section">
            <a:extLst>
              <a:ext uri="{FF2B5EF4-FFF2-40B4-BE49-F238E27FC236}">
                <a16:creationId xmlns:a16="http://schemas.microsoft.com/office/drawing/2014/main" id="{EB8B8E35-59BE-97C9-309E-BC2EEE79BB0D}"/>
              </a:ext>
            </a:extLst>
          </p:cNvPr>
          <p:cNvSpPr txBox="1">
            <a:spLocks/>
          </p:cNvSpPr>
          <p:nvPr/>
        </p:nvSpPr>
        <p:spPr>
          <a:xfrm>
            <a:off x="5927725" y="4663806"/>
            <a:ext cx="2564917" cy="15388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9pPr>
          </a:lstStyle>
          <a:p>
            <a:pPr marL="0" indent="0" algn="r"/>
            <a:r>
              <a:rPr lang="sr-Latn-RS" sz="1000" dirty="0">
                <a:solidFill>
                  <a:schemeClr val="lt1"/>
                </a:solidFill>
                <a:latin typeface="Lato"/>
                <a:ea typeface="Lato"/>
                <a:cs typeface="Lato"/>
                <a:sym typeface="Lato"/>
              </a:rPr>
              <a:t>Poboljšanje</a:t>
            </a:r>
            <a:endParaRPr lang="en-GB" sz="1000" dirty="0">
              <a:solidFill>
                <a:schemeClr val="lt1"/>
              </a:solidFill>
              <a:latin typeface="Lato"/>
              <a:ea typeface="Lato"/>
              <a:cs typeface="Lato"/>
              <a:sym typeface="Lato"/>
            </a:endParaRPr>
          </a:p>
        </p:txBody>
      </p:sp>
      <p:sp>
        <p:nvSpPr>
          <p:cNvPr id="5" name="_text_page">
            <a:extLst>
              <a:ext uri="{FF2B5EF4-FFF2-40B4-BE49-F238E27FC236}">
                <a16:creationId xmlns:a16="http://schemas.microsoft.com/office/drawing/2014/main" id="{3C682F78-0194-56CA-EE15-FF0DD081B353}"/>
              </a:ext>
            </a:extLst>
          </p:cNvPr>
          <p:cNvSpPr txBox="1"/>
          <p:nvPr/>
        </p:nvSpPr>
        <p:spPr>
          <a:xfrm>
            <a:off x="8492643" y="4500000"/>
            <a:ext cx="469800" cy="481500"/>
          </a:xfrm>
          <a:prstGeom prst="rect">
            <a:avLst/>
          </a:prstGeom>
          <a:noFill/>
          <a:ln>
            <a:noFill/>
          </a:ln>
        </p:spPr>
        <p:txBody>
          <a:bodyPr spcFirstLastPara="1" wrap="square" lIns="0" tIns="91425" rIns="0" bIns="91425" anchor="t" anchorCtr="0">
            <a:noAutofit/>
          </a:bodyPr>
          <a:lstStyle/>
          <a:p>
            <a:pPr marL="0" lvl="0" indent="0" algn="ctr" rtl="0">
              <a:spcBef>
                <a:spcPts val="0"/>
              </a:spcBef>
              <a:spcAft>
                <a:spcPts val="0"/>
              </a:spcAft>
              <a:buNone/>
            </a:pPr>
            <a:r>
              <a:rPr lang="sr" sz="1800" dirty="0">
                <a:solidFill>
                  <a:schemeClr val="lt1"/>
                </a:solidFill>
                <a:latin typeface="Montserrat"/>
                <a:ea typeface="Montserrat"/>
                <a:cs typeface="Montserrat"/>
                <a:sym typeface="Montserrat"/>
              </a:rPr>
              <a:t>2</a:t>
            </a:r>
            <a:r>
              <a:rPr lang="en-US" sz="1800" dirty="0">
                <a:solidFill>
                  <a:schemeClr val="lt1"/>
                </a:solidFill>
                <a:latin typeface="Montserrat"/>
                <a:ea typeface="Montserrat"/>
                <a:cs typeface="Montserrat"/>
                <a:sym typeface="Montserrat"/>
              </a:rPr>
              <a:t>5</a:t>
            </a:r>
            <a:endParaRPr sz="1800" dirty="0">
              <a:solidFill>
                <a:schemeClr val="lt1"/>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9000" r="-29000"/>
          </a:stretch>
        </a:blip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CCEE615A-F458-2EA3-D615-19C3FED6FB9A}"/>
              </a:ext>
            </a:extLst>
          </p:cNvPr>
          <p:cNvSpPr/>
          <p:nvPr/>
        </p:nvSpPr>
        <p:spPr>
          <a:xfrm>
            <a:off x="2717800" y="0"/>
            <a:ext cx="6426201" cy="5143500"/>
          </a:xfrm>
          <a:custGeom>
            <a:avLst/>
            <a:gdLst>
              <a:gd name="csX0" fmla="*/ 905383 w 6426201"/>
              <a:gd name="csY0" fmla="*/ 0 h 5143500"/>
              <a:gd name="csX1" fmla="*/ 2497177 w 6426201"/>
              <a:gd name="csY1" fmla="*/ 0 h 5143500"/>
              <a:gd name="csX2" fmla="*/ 2467862 w 6426201"/>
              <a:gd name="csY2" fmla="*/ 35902 h 5143500"/>
              <a:gd name="csX3" fmla="*/ 2503842 w 6426201"/>
              <a:gd name="csY3" fmla="*/ 389331 h 5143500"/>
              <a:gd name="csX4" fmla="*/ 2901337 w 6426201"/>
              <a:gd name="csY4" fmla="*/ 389331 h 5143500"/>
              <a:gd name="csX5" fmla="*/ 3290630 w 6426201"/>
              <a:gd name="csY5" fmla="*/ 0 h 5143500"/>
              <a:gd name="csX6" fmla="*/ 4880482 w 6426201"/>
              <a:gd name="csY6" fmla="*/ 0 h 5143500"/>
              <a:gd name="csX7" fmla="*/ 1758651 w 6426201"/>
              <a:gd name="csY7" fmla="*/ 3121695 h 5143500"/>
              <a:gd name="csX8" fmla="*/ 1758651 w 6426201"/>
              <a:gd name="csY8" fmla="*/ 3519191 h 5143500"/>
              <a:gd name="csX9" fmla="*/ 2156147 w 6426201"/>
              <a:gd name="csY9" fmla="*/ 3519191 h 5143500"/>
              <a:gd name="csX10" fmla="*/ 5675617 w 6426201"/>
              <a:gd name="csY10" fmla="*/ 0 h 5143500"/>
              <a:gd name="csX11" fmla="*/ 6426201 w 6426201"/>
              <a:gd name="csY11" fmla="*/ 0 h 5143500"/>
              <a:gd name="csX12" fmla="*/ 6426201 w 6426201"/>
              <a:gd name="csY12" fmla="*/ 841724 h 5143500"/>
              <a:gd name="csX13" fmla="*/ 6399107 w 6426201"/>
              <a:gd name="csY13" fmla="*/ 874906 h 5143500"/>
              <a:gd name="csX14" fmla="*/ 6399107 w 6426201"/>
              <a:gd name="csY14" fmla="*/ 1184271 h 5143500"/>
              <a:gd name="csX15" fmla="*/ 6426201 w 6426201"/>
              <a:gd name="csY15" fmla="*/ 1217454 h 5143500"/>
              <a:gd name="csX16" fmla="*/ 6426201 w 6426201"/>
              <a:gd name="csY16" fmla="*/ 3224795 h 5143500"/>
              <a:gd name="csX17" fmla="*/ 5698729 w 6426201"/>
              <a:gd name="csY17" fmla="*/ 3952325 h 5143500"/>
              <a:gd name="csX18" fmla="*/ 5698729 w 6426201"/>
              <a:gd name="csY18" fmla="*/ 4349820 h 5143500"/>
              <a:gd name="csX19" fmla="*/ 6096226 w 6426201"/>
              <a:gd name="csY19" fmla="*/ 4349820 h 5143500"/>
              <a:gd name="csX20" fmla="*/ 6426201 w 6426201"/>
              <a:gd name="csY20" fmla="*/ 4019844 h 5143500"/>
              <a:gd name="csX21" fmla="*/ 6426201 w 6426201"/>
              <a:gd name="csY21" fmla="*/ 5143500 h 5143500"/>
              <a:gd name="csX22" fmla="*/ 5302181 w 6426201"/>
              <a:gd name="csY22" fmla="*/ 5143500 h 5143500"/>
              <a:gd name="csX23" fmla="*/ 5337216 w 6426201"/>
              <a:gd name="csY23" fmla="*/ 5100594 h 5143500"/>
              <a:gd name="csX24" fmla="*/ 5301235 w 6426201"/>
              <a:gd name="csY24" fmla="*/ 4747164 h 5143500"/>
              <a:gd name="csX25" fmla="*/ 4903739 w 6426201"/>
              <a:gd name="csY25" fmla="*/ 4747164 h 5143500"/>
              <a:gd name="csX26" fmla="*/ 4507404 w 6426201"/>
              <a:gd name="csY26" fmla="*/ 5143500 h 5143500"/>
              <a:gd name="csX27" fmla="*/ 2917405 w 6426201"/>
              <a:gd name="csY27" fmla="*/ 5143500 h 5143500"/>
              <a:gd name="csX28" fmla="*/ 6037591 w 6426201"/>
              <a:gd name="csY28" fmla="*/ 2023176 h 5143500"/>
              <a:gd name="csX29" fmla="*/ 6037591 w 6426201"/>
              <a:gd name="csY29" fmla="*/ 1625681 h 5143500"/>
              <a:gd name="csX30" fmla="*/ 5640096 w 6426201"/>
              <a:gd name="csY30" fmla="*/ 1625681 h 5143500"/>
              <a:gd name="csX31" fmla="*/ 2121855 w 6426201"/>
              <a:gd name="csY31" fmla="*/ 5143500 h 5143500"/>
              <a:gd name="csX32" fmla="*/ 896983 w 6426201"/>
              <a:gd name="csY32" fmla="*/ 5143500 h 5143500"/>
              <a:gd name="csX33" fmla="*/ 893618 w 6426201"/>
              <a:gd name="csY33" fmla="*/ 5132153 h 5143500"/>
              <a:gd name="csX34" fmla="*/ 1048034 w 6426201"/>
              <a:gd name="csY34" fmla="*/ 4627306 h 5143500"/>
              <a:gd name="csX35" fmla="*/ 1361157 w 6426201"/>
              <a:gd name="csY35" fmla="*/ 4314183 h 5143500"/>
              <a:gd name="csX36" fmla="*/ 1361157 w 6426201"/>
              <a:gd name="csY36" fmla="*/ 3916686 h 5143500"/>
              <a:gd name="csX37" fmla="*/ 963661 w 6426201"/>
              <a:gd name="csY37" fmla="*/ 3916686 h 5143500"/>
              <a:gd name="csX38" fmla="*/ 959702 w 6426201"/>
              <a:gd name="csY38" fmla="*/ 3920647 h 5143500"/>
              <a:gd name="csX39" fmla="*/ 164711 w 6426201"/>
              <a:gd name="csY39" fmla="*/ 3920647 h 5143500"/>
              <a:gd name="csX40" fmla="*/ 164711 w 6426201"/>
              <a:gd name="csY40" fmla="*/ 3125656 h 5143500"/>
              <a:gd name="csX41" fmla="*/ 2106042 w 6426201"/>
              <a:gd name="csY41" fmla="*/ 1184171 h 5143500"/>
              <a:gd name="csX42" fmla="*/ 2106042 w 6426201"/>
              <a:gd name="csY42" fmla="*/ 786674 h 5143500"/>
              <a:gd name="csX43" fmla="*/ 1708546 w 6426201"/>
              <a:gd name="csY43" fmla="*/ 786674 h 5143500"/>
              <a:gd name="csX44" fmla="*/ 1326585 w 6426201"/>
              <a:gd name="csY44" fmla="*/ 1168636 h 5143500"/>
              <a:gd name="csX45" fmla="*/ 531594 w 6426201"/>
              <a:gd name="csY45" fmla="*/ 1168636 h 5143500"/>
              <a:gd name="csX46" fmla="*/ 531594 w 6426201"/>
              <a:gd name="csY46" fmla="*/ 373644 h 514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426201" h="5143500">
                <a:moveTo>
                  <a:pt x="905383" y="0"/>
                </a:moveTo>
                <a:lnTo>
                  <a:pt x="2497177" y="0"/>
                </a:lnTo>
                <a:lnTo>
                  <a:pt x="2467862" y="35902"/>
                </a:lnTo>
                <a:cubicBezTo>
                  <a:pt x="2395902" y="144966"/>
                  <a:pt x="2407895" y="293384"/>
                  <a:pt x="2503842" y="389331"/>
                </a:cubicBezTo>
                <a:cubicBezTo>
                  <a:pt x="2613496" y="498985"/>
                  <a:pt x="2791683" y="498985"/>
                  <a:pt x="2901337" y="389331"/>
                </a:cubicBezTo>
                <a:lnTo>
                  <a:pt x="3290630" y="0"/>
                </a:lnTo>
                <a:lnTo>
                  <a:pt x="4880482" y="0"/>
                </a:lnTo>
                <a:lnTo>
                  <a:pt x="1758651" y="3121695"/>
                </a:lnTo>
                <a:cubicBezTo>
                  <a:pt x="1648997" y="3231349"/>
                  <a:pt x="1648997" y="3409537"/>
                  <a:pt x="1758651" y="3519191"/>
                </a:cubicBezTo>
                <a:cubicBezTo>
                  <a:pt x="1868305" y="3628845"/>
                  <a:pt x="2046494" y="3628845"/>
                  <a:pt x="2156147" y="3519191"/>
                </a:cubicBezTo>
                <a:lnTo>
                  <a:pt x="5675617" y="0"/>
                </a:lnTo>
                <a:lnTo>
                  <a:pt x="6426201" y="0"/>
                </a:lnTo>
                <a:lnTo>
                  <a:pt x="6426201" y="841724"/>
                </a:lnTo>
                <a:lnTo>
                  <a:pt x="6399107" y="874906"/>
                </a:lnTo>
                <a:cubicBezTo>
                  <a:pt x="6337426" y="968391"/>
                  <a:pt x="6337426" y="1090787"/>
                  <a:pt x="6399107" y="1184271"/>
                </a:cubicBezTo>
                <a:lnTo>
                  <a:pt x="6426201" y="1217454"/>
                </a:lnTo>
                <a:lnTo>
                  <a:pt x="6426201" y="3224795"/>
                </a:lnTo>
                <a:lnTo>
                  <a:pt x="5698729" y="3952325"/>
                </a:lnTo>
                <a:cubicBezTo>
                  <a:pt x="5589076" y="4061979"/>
                  <a:pt x="5589076" y="4240166"/>
                  <a:pt x="5698729" y="4349820"/>
                </a:cubicBezTo>
                <a:cubicBezTo>
                  <a:pt x="5808383" y="4459475"/>
                  <a:pt x="5986572" y="4459475"/>
                  <a:pt x="6096226" y="4349820"/>
                </a:cubicBezTo>
                <a:lnTo>
                  <a:pt x="6426201" y="4019844"/>
                </a:lnTo>
                <a:lnTo>
                  <a:pt x="6426201" y="5143500"/>
                </a:lnTo>
                <a:lnTo>
                  <a:pt x="5302181" y="5143500"/>
                </a:lnTo>
                <a:lnTo>
                  <a:pt x="5337216" y="5100594"/>
                </a:lnTo>
                <a:cubicBezTo>
                  <a:pt x="5409176" y="4991529"/>
                  <a:pt x="5397183" y="4843112"/>
                  <a:pt x="5301235" y="4747164"/>
                </a:cubicBezTo>
                <a:cubicBezTo>
                  <a:pt x="5191581" y="4637510"/>
                  <a:pt x="5013393" y="4637510"/>
                  <a:pt x="4903739" y="4747164"/>
                </a:cubicBezTo>
                <a:lnTo>
                  <a:pt x="4507404" y="5143500"/>
                </a:lnTo>
                <a:lnTo>
                  <a:pt x="2917405" y="5143500"/>
                </a:lnTo>
                <a:lnTo>
                  <a:pt x="6037591" y="2023176"/>
                </a:lnTo>
                <a:cubicBezTo>
                  <a:pt x="6147246" y="1913522"/>
                  <a:pt x="6147246" y="1735335"/>
                  <a:pt x="6037591" y="1625681"/>
                </a:cubicBezTo>
                <a:cubicBezTo>
                  <a:pt x="5927938" y="1516027"/>
                  <a:pt x="5749749" y="1516027"/>
                  <a:pt x="5640096" y="1625681"/>
                </a:cubicBezTo>
                <a:lnTo>
                  <a:pt x="2121855" y="5143500"/>
                </a:lnTo>
                <a:lnTo>
                  <a:pt x="896983" y="5143500"/>
                </a:lnTo>
                <a:lnTo>
                  <a:pt x="893618" y="5132153"/>
                </a:lnTo>
                <a:cubicBezTo>
                  <a:pt x="859304" y="4955007"/>
                  <a:pt x="910776" y="4764564"/>
                  <a:pt x="1048034" y="4627306"/>
                </a:cubicBezTo>
                <a:lnTo>
                  <a:pt x="1361157" y="4314183"/>
                </a:lnTo>
                <a:cubicBezTo>
                  <a:pt x="1470811" y="4204529"/>
                  <a:pt x="1470811" y="4026342"/>
                  <a:pt x="1361157" y="3916686"/>
                </a:cubicBezTo>
                <a:cubicBezTo>
                  <a:pt x="1251503" y="3807032"/>
                  <a:pt x="1073314" y="3807032"/>
                  <a:pt x="963661" y="3916686"/>
                </a:cubicBezTo>
                <a:lnTo>
                  <a:pt x="959702" y="3920647"/>
                </a:lnTo>
                <a:cubicBezTo>
                  <a:pt x="740088" y="4140107"/>
                  <a:pt x="384322" y="4140107"/>
                  <a:pt x="164711" y="3920647"/>
                </a:cubicBezTo>
                <a:cubicBezTo>
                  <a:pt x="-54903" y="3701034"/>
                  <a:pt x="-54903" y="3345115"/>
                  <a:pt x="164711" y="3125656"/>
                </a:cubicBezTo>
                <a:lnTo>
                  <a:pt x="2106042" y="1184171"/>
                </a:lnTo>
                <a:cubicBezTo>
                  <a:pt x="2215696" y="1074517"/>
                  <a:pt x="2215696" y="896328"/>
                  <a:pt x="2106042" y="786674"/>
                </a:cubicBezTo>
                <a:cubicBezTo>
                  <a:pt x="1996388" y="677020"/>
                  <a:pt x="1818200" y="677020"/>
                  <a:pt x="1708546" y="786674"/>
                </a:cubicBezTo>
                <a:lnTo>
                  <a:pt x="1326585" y="1168636"/>
                </a:lnTo>
                <a:cubicBezTo>
                  <a:pt x="1106973" y="1388249"/>
                  <a:pt x="751207" y="1388249"/>
                  <a:pt x="531594" y="1168636"/>
                </a:cubicBezTo>
                <a:cubicBezTo>
                  <a:pt x="311983" y="949024"/>
                  <a:pt x="311983" y="593258"/>
                  <a:pt x="531594" y="373644"/>
                </a:cubicBezTo>
                <a:close/>
              </a:path>
            </a:pathLst>
          </a:custGeom>
          <a:solidFill>
            <a:srgbClr val="FFFF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5" name="_text_title">
            <a:extLst>
              <a:ext uri="{FF2B5EF4-FFF2-40B4-BE49-F238E27FC236}">
                <a16:creationId xmlns:a16="http://schemas.microsoft.com/office/drawing/2014/main" id="{9A9350D6-202F-DCA6-04C4-F3F8A523D648}"/>
              </a:ext>
            </a:extLst>
          </p:cNvPr>
          <p:cNvSpPr txBox="1">
            <a:spLocks noGrp="1"/>
          </p:cNvSpPr>
          <p:nvPr>
            <p:ph type="ctrTitle"/>
          </p:nvPr>
        </p:nvSpPr>
        <p:spPr>
          <a:xfrm>
            <a:off x="589500" y="724453"/>
            <a:ext cx="8402846" cy="430887"/>
          </a:xfrm>
          <a:prstGeom prst="rect">
            <a:avLst/>
          </a:prstGeom>
        </p:spPr>
        <p:txBody>
          <a:bodyPr spcFirstLastPara="1" wrap="square" lIns="91425" tIns="0" rIns="91425" bIns="0" anchor="b" anchorCtr="0">
            <a:spAutoFit/>
          </a:bodyPr>
          <a:lstStyle/>
          <a:p>
            <a:pPr marL="0" lvl="0" indent="0" algn="l" rtl="0">
              <a:spcBef>
                <a:spcPts val="0"/>
              </a:spcBef>
              <a:spcAft>
                <a:spcPts val="0"/>
              </a:spcAft>
              <a:buSzPts val="990"/>
              <a:buNone/>
            </a:pPr>
            <a:r>
              <a:rPr lang="sr" sz="2800" spc="-150" dirty="0">
                <a:solidFill>
                  <a:schemeClr val="lt1">
                    <a:alpha val="90000"/>
                  </a:schemeClr>
                </a:solidFill>
                <a:latin typeface="Montserrat Black" panose="00000A00000000000000" pitchFamily="2" charset="0"/>
                <a:ea typeface="Montserrat"/>
                <a:cs typeface="Montserrat"/>
                <a:sym typeface="Montserrat"/>
              </a:rPr>
              <a:t>Napredne tehnike su stretch</a:t>
            </a:r>
            <a:endParaRPr sz="2800" spc="-150" dirty="0">
              <a:solidFill>
                <a:schemeClr val="lt1">
                  <a:alpha val="90000"/>
                </a:schemeClr>
              </a:solidFill>
              <a:latin typeface="Montserrat Black" panose="00000A00000000000000" pitchFamily="2" charset="0"/>
              <a:ea typeface="Montserrat"/>
              <a:cs typeface="Montserrat"/>
              <a:sym typeface="Montserrat"/>
            </a:endParaRPr>
          </a:p>
        </p:txBody>
      </p:sp>
      <p:sp>
        <p:nvSpPr>
          <p:cNvPr id="76" name="_text_subtitle">
            <a:extLst>
              <a:ext uri="{FF2B5EF4-FFF2-40B4-BE49-F238E27FC236}">
                <a16:creationId xmlns:a16="http://schemas.microsoft.com/office/drawing/2014/main" id="{89B0C66B-98BD-4D0C-58A2-B37A07AD43A4}"/>
              </a:ext>
            </a:extLst>
          </p:cNvPr>
          <p:cNvSpPr txBox="1">
            <a:spLocks noGrp="1"/>
          </p:cNvSpPr>
          <p:nvPr>
            <p:ph type="subTitle" idx="1"/>
          </p:nvPr>
        </p:nvSpPr>
        <p:spPr>
          <a:xfrm>
            <a:off x="589500" y="1158219"/>
            <a:ext cx="8402846" cy="307777"/>
          </a:xfrm>
          <a:prstGeom prst="rect">
            <a:avLst/>
          </a:prstGeom>
        </p:spPr>
        <p:txBody>
          <a:bodyPr spcFirstLastPara="1" wrap="square" lIns="91425" tIns="0" rIns="91425" bIns="0" anchor="t" anchorCtr="0">
            <a:spAutoFit/>
          </a:bodyPr>
          <a:lstStyle/>
          <a:p>
            <a:pPr marL="0" lvl="0" indent="0" algn="l" rtl="0">
              <a:spcBef>
                <a:spcPts val="0"/>
              </a:spcBef>
              <a:spcAft>
                <a:spcPts val="0"/>
              </a:spcAft>
              <a:buNone/>
            </a:pPr>
            <a:r>
              <a:rPr lang="sr" sz="2000" dirty="0">
                <a:solidFill>
                  <a:schemeClr val="lt1"/>
                </a:solidFill>
                <a:latin typeface="Montserrat" panose="00000500000000000000" pitchFamily="2" charset="0"/>
                <a:ea typeface="Lato"/>
                <a:cs typeface="Lato"/>
                <a:sym typeface="Lato"/>
              </a:rPr>
              <a:t>Korisne, ali tek posle predatog minimuma</a:t>
            </a:r>
            <a:endParaRPr sz="2000" dirty="0">
              <a:solidFill>
                <a:schemeClr val="lt1"/>
              </a:solidFill>
              <a:latin typeface="Montserrat" panose="00000500000000000000" pitchFamily="2" charset="0"/>
              <a:ea typeface="Lato"/>
              <a:cs typeface="Lato"/>
              <a:sym typeface="Lato"/>
            </a:endParaRPr>
          </a:p>
        </p:txBody>
      </p:sp>
      <p:sp>
        <p:nvSpPr>
          <p:cNvPr id="77" name="_text_main_content">
            <a:extLst>
              <a:ext uri="{FF2B5EF4-FFF2-40B4-BE49-F238E27FC236}">
                <a16:creationId xmlns:a16="http://schemas.microsoft.com/office/drawing/2014/main" id="{01CCEE04-B5AA-8998-D5AD-F320F727EDBA}"/>
              </a:ext>
            </a:extLst>
          </p:cNvPr>
          <p:cNvSpPr txBox="1"/>
          <p:nvPr/>
        </p:nvSpPr>
        <p:spPr>
          <a:xfrm>
            <a:off x="589500" y="1648741"/>
            <a:ext cx="7914900" cy="303669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800"/>
              </a:spcAft>
              <a:buNone/>
            </a:pPr>
            <a:r>
              <a:rPr lang="sr" sz="1200" dirty="0">
                <a:solidFill>
                  <a:srgbClr val="D1E2ED"/>
                </a:solidFill>
                <a:latin typeface="Lato"/>
                <a:ea typeface="Lato"/>
                <a:cs typeface="Lato"/>
                <a:sym typeface="Lato"/>
              </a:rPr>
              <a:t>Ove tehnike rešavaju stvarne slabosti leksičke pretrage, ali svaka dodaje pokretne delove, latenciju i trošak, i teže se pripisuje jednoj odluci.</a:t>
            </a:r>
            <a:endParaRPr sz="1200" dirty="0">
              <a:solidFill>
                <a:srgbClr val="D1E2ED"/>
              </a:solidFill>
              <a:latin typeface="Lato"/>
              <a:ea typeface="Lato"/>
              <a:cs typeface="Lato"/>
              <a:sym typeface="Lato"/>
            </a:endParaRPr>
          </a:p>
          <a:p>
            <a:pPr marL="0" lvl="0" indent="0" algn="l" rtl="0">
              <a:spcBef>
                <a:spcPts val="0"/>
              </a:spcBef>
              <a:spcAft>
                <a:spcPts val="800"/>
              </a:spcAft>
              <a:buNone/>
            </a:pPr>
            <a:endParaRPr sz="1200" dirty="0">
              <a:solidFill>
                <a:srgbClr val="D1E2ED"/>
              </a:solidFill>
              <a:latin typeface="Lato"/>
              <a:ea typeface="Lato"/>
              <a:cs typeface="Lato"/>
              <a:sym typeface="Lato"/>
            </a:endParaRPr>
          </a:p>
          <a:p>
            <a:pPr marL="0" lvl="0" indent="0" algn="l" rtl="0">
              <a:spcBef>
                <a:spcPts val="0"/>
              </a:spcBef>
              <a:spcAft>
                <a:spcPts val="800"/>
              </a:spcAft>
              <a:buNone/>
            </a:pPr>
            <a:r>
              <a:rPr lang="sr" sz="1200" dirty="0">
                <a:solidFill>
                  <a:srgbClr val="D1E2ED"/>
                </a:solidFill>
                <a:latin typeface="Lato"/>
                <a:ea typeface="Lato"/>
                <a:cs typeface="Lato"/>
                <a:sym typeface="Lato"/>
              </a:rPr>
              <a:t>• Hibridna pretraga: spaja leksičke (BM25) i embedding kandidate u jednu listu; hvata i tačne termine i parafraze.</a:t>
            </a:r>
            <a:endParaRPr sz="1200" dirty="0">
              <a:solidFill>
                <a:srgbClr val="D1E2ED"/>
              </a:solidFill>
              <a:latin typeface="Lato"/>
              <a:ea typeface="Lato"/>
              <a:cs typeface="Lato"/>
              <a:sym typeface="Lato"/>
            </a:endParaRPr>
          </a:p>
          <a:p>
            <a:pPr marL="0" lvl="0" indent="0" algn="l" rtl="0">
              <a:spcBef>
                <a:spcPts val="0"/>
              </a:spcBef>
              <a:spcAft>
                <a:spcPts val="800"/>
              </a:spcAft>
              <a:buNone/>
            </a:pPr>
            <a:r>
              <a:rPr lang="sr" sz="1200" dirty="0">
                <a:solidFill>
                  <a:srgbClr val="D1E2ED"/>
                </a:solidFill>
                <a:latin typeface="Lato"/>
                <a:ea typeface="Lato"/>
                <a:cs typeface="Lato"/>
                <a:sym typeface="Lato"/>
              </a:rPr>
              <a:t>• Reranking: prvi korak vraća širi skup kandidata, a precizniji model ih ponovo rangira; bolji redosled, veća latencija.</a:t>
            </a:r>
            <a:endParaRPr sz="1200" dirty="0">
              <a:solidFill>
                <a:srgbClr val="D1E2ED"/>
              </a:solidFill>
              <a:latin typeface="Lato"/>
              <a:ea typeface="Lato"/>
              <a:cs typeface="Lato"/>
              <a:sym typeface="Lato"/>
            </a:endParaRPr>
          </a:p>
          <a:p>
            <a:pPr marL="0" lvl="0" indent="0" algn="l" rtl="0">
              <a:spcBef>
                <a:spcPts val="0"/>
              </a:spcBef>
              <a:spcAft>
                <a:spcPts val="800"/>
              </a:spcAft>
              <a:buNone/>
            </a:pPr>
            <a:r>
              <a:rPr lang="sr" sz="1200" dirty="0">
                <a:solidFill>
                  <a:srgbClr val="D1E2ED"/>
                </a:solidFill>
                <a:latin typeface="Lato"/>
                <a:ea typeface="Lato"/>
                <a:cs typeface="Lato"/>
                <a:sym typeface="Lato"/>
              </a:rPr>
              <a:t>• Query rewriting: model preformuliše nejasno pitanje pre pretrage; multi-query šalje više verzija istog pitanja.</a:t>
            </a:r>
            <a:endParaRPr sz="1200" dirty="0">
              <a:solidFill>
                <a:srgbClr val="D1E2ED"/>
              </a:solidFill>
              <a:latin typeface="Lato"/>
              <a:ea typeface="Lato"/>
              <a:cs typeface="Lato"/>
              <a:sym typeface="Lato"/>
            </a:endParaRPr>
          </a:p>
          <a:p>
            <a:pPr marL="0" lvl="0" indent="0" algn="l" rtl="0">
              <a:spcBef>
                <a:spcPts val="0"/>
              </a:spcBef>
              <a:spcAft>
                <a:spcPts val="800"/>
              </a:spcAft>
              <a:buNone/>
            </a:pPr>
            <a:r>
              <a:rPr lang="sr" sz="1200" dirty="0">
                <a:solidFill>
                  <a:srgbClr val="D1E2ED"/>
                </a:solidFill>
                <a:latin typeface="Lato"/>
                <a:ea typeface="Lato"/>
                <a:cs typeface="Lato"/>
                <a:sym typeface="Lato"/>
              </a:rPr>
              <a:t>• Agentic RAG: model sam odlučuje da li i šta pretražuje i kada staje; fleksibilno, ali manje predvidivo.</a:t>
            </a:r>
            <a:endParaRPr sz="1200" dirty="0">
              <a:solidFill>
                <a:srgbClr val="D1E2ED"/>
              </a:solidFill>
              <a:latin typeface="Lato"/>
              <a:ea typeface="Lato"/>
              <a:cs typeface="Lato"/>
              <a:sym typeface="Lato"/>
            </a:endParaRPr>
          </a:p>
          <a:p>
            <a:pPr lvl="0">
              <a:spcAft>
                <a:spcPts val="800"/>
              </a:spcAft>
            </a:pPr>
            <a:r>
              <a:rPr lang="sr" sz="1200" dirty="0">
                <a:solidFill>
                  <a:srgbClr val="D1E2ED"/>
                </a:solidFill>
                <a:latin typeface="Lato"/>
                <a:ea typeface="Lato"/>
                <a:cs typeface="Lato"/>
                <a:sym typeface="Lato"/>
              </a:rPr>
              <a:t>• </a:t>
            </a:r>
            <a:r>
              <a:rPr lang="en-US" sz="1200" dirty="0" err="1">
                <a:solidFill>
                  <a:srgbClr val="D1E2ED"/>
                </a:solidFill>
                <a:latin typeface="Lato"/>
                <a:ea typeface="Lato"/>
                <a:cs typeface="Lato"/>
                <a:sym typeface="Lato"/>
              </a:rPr>
              <a:t>Dodatne</a:t>
            </a:r>
            <a:r>
              <a:rPr lang="en-US" sz="1200" dirty="0">
                <a:solidFill>
                  <a:srgbClr val="D1E2ED"/>
                </a:solidFill>
                <a:latin typeface="Lato"/>
                <a:ea typeface="Lato"/>
                <a:cs typeface="Lato"/>
                <a:sym typeface="Lato"/>
              </a:rPr>
              <a:t> </a:t>
            </a:r>
            <a:r>
              <a:rPr lang="en-US" sz="1200" dirty="0" err="1">
                <a:solidFill>
                  <a:srgbClr val="D1E2ED"/>
                </a:solidFill>
                <a:latin typeface="Lato"/>
                <a:ea typeface="Lato"/>
                <a:cs typeface="Lato"/>
                <a:sym typeface="Lato"/>
              </a:rPr>
              <a:t>tehnike</a:t>
            </a:r>
            <a:r>
              <a:rPr lang="en-US" sz="1200" dirty="0">
                <a:solidFill>
                  <a:srgbClr val="D1E2ED"/>
                </a:solidFill>
                <a:latin typeface="Lato"/>
                <a:ea typeface="Lato"/>
                <a:cs typeface="Lato"/>
                <a:sym typeface="Lato"/>
              </a:rPr>
              <a:t>:  Corpus (semantic chunking – topic based chunking, contextual retrieval – summary of where is what, multi-representation indexing – questions, summaries), Query (multi-query – multiple search phrases, </a:t>
            </a:r>
            <a:r>
              <a:rPr lang="en-US" sz="1200" dirty="0" err="1">
                <a:solidFill>
                  <a:srgbClr val="D1E2ED"/>
                </a:solidFill>
                <a:latin typeface="Lato"/>
                <a:ea typeface="Lato"/>
                <a:cs typeface="Lato"/>
                <a:sym typeface="Lato"/>
              </a:rPr>
              <a:t>HyDE</a:t>
            </a:r>
            <a:r>
              <a:rPr lang="en-US" sz="1200" dirty="0">
                <a:solidFill>
                  <a:srgbClr val="D1E2ED"/>
                </a:solidFill>
                <a:latin typeface="Lato"/>
                <a:ea typeface="Lato"/>
                <a:cs typeface="Lato"/>
                <a:sym typeface="Lato"/>
              </a:rPr>
              <a:t> - Hypothetical Document Embeddings – fake answer, query routing), Post-retrieval (reranking, context compression)</a:t>
            </a:r>
            <a:endParaRPr sz="1200" dirty="0">
              <a:solidFill>
                <a:srgbClr val="D1E2ED"/>
              </a:solidFill>
              <a:latin typeface="Lato"/>
              <a:ea typeface="Lato"/>
              <a:cs typeface="Lato"/>
              <a:sym typeface="Lato"/>
            </a:endParaRPr>
          </a:p>
          <a:p>
            <a:pPr marL="0" lvl="0" indent="0" algn="l" rtl="0">
              <a:spcBef>
                <a:spcPts val="0"/>
              </a:spcBef>
              <a:spcAft>
                <a:spcPts val="800"/>
              </a:spcAft>
              <a:buNone/>
            </a:pPr>
            <a:r>
              <a:rPr lang="sr" sz="1200" dirty="0">
                <a:solidFill>
                  <a:srgbClr val="D1E2ED"/>
                </a:solidFill>
                <a:latin typeface="Lato"/>
                <a:ea typeface="Lato"/>
                <a:cs typeface="Lato"/>
                <a:sym typeface="Lato"/>
              </a:rPr>
              <a:t>U zadatku dolaze tek posle predatog minimuma, kao odvojeno izmerena promena. Agentic RAG ostaje van zadatka.</a:t>
            </a:r>
            <a:endParaRPr sz="1200" dirty="0">
              <a:solidFill>
                <a:srgbClr val="D1E2ED"/>
              </a:solidFill>
              <a:latin typeface="Lato"/>
              <a:ea typeface="Lato"/>
              <a:cs typeface="Lato"/>
              <a:sym typeface="Lato"/>
            </a:endParaRPr>
          </a:p>
        </p:txBody>
      </p:sp>
      <p:sp>
        <p:nvSpPr>
          <p:cNvPr id="3" name="Graphic 4">
            <a:extLst>
              <a:ext uri="{FF2B5EF4-FFF2-40B4-BE49-F238E27FC236}">
                <a16:creationId xmlns:a16="http://schemas.microsoft.com/office/drawing/2014/main" id="{196CB132-CCD2-8F8E-0354-6FEF50E45CED}"/>
              </a:ext>
            </a:extLst>
          </p:cNvPr>
          <p:cNvSpPr/>
          <p:nvPr/>
        </p:nvSpPr>
        <p:spPr>
          <a:xfrm>
            <a:off x="213083" y="343327"/>
            <a:ext cx="180000" cy="180000"/>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alpha val="95000"/>
            </a:srgbClr>
          </a:solidFill>
          <a:ln w="9525" cap="flat">
            <a:noFill/>
            <a:prstDash val="solid"/>
            <a:miter/>
          </a:ln>
        </p:spPr>
        <p:txBody>
          <a:bodyPr/>
          <a:lstStyle/>
          <a:p>
            <a:endParaRPr lang="en-GB"/>
          </a:p>
        </p:txBody>
      </p:sp>
      <p:pic>
        <p:nvPicPr>
          <p:cNvPr id="78" name="_image_small_company_logo" descr="EPAM"/>
          <p:cNvPicPr>
            <a:picLocks noChangeAspect="1"/>
          </p:cNvPicPr>
          <p:nvPr/>
        </p:nvPicPr>
        <p:blipFill>
          <a:blip r:embed="rId4"/>
          <a:stretch>
            <a:fillRect/>
          </a:stretch>
        </p:blipFill>
        <p:spPr>
          <a:xfrm>
            <a:off x="490324" y="344427"/>
            <a:ext cx="504923" cy="177800"/>
          </a:xfrm>
          <a:prstGeom prst="rect">
            <a:avLst/>
          </a:prstGeom>
        </p:spPr>
      </p:pic>
      <p:sp>
        <p:nvSpPr>
          <p:cNvPr id="9" name="_text_section">
            <a:extLst>
              <a:ext uri="{FF2B5EF4-FFF2-40B4-BE49-F238E27FC236}">
                <a16:creationId xmlns:a16="http://schemas.microsoft.com/office/drawing/2014/main" id="{EB8B8E35-59BE-97C9-309E-BC2EEE79BB0D}"/>
              </a:ext>
            </a:extLst>
          </p:cNvPr>
          <p:cNvSpPr txBox="1">
            <a:spLocks/>
          </p:cNvSpPr>
          <p:nvPr/>
        </p:nvSpPr>
        <p:spPr>
          <a:xfrm>
            <a:off x="5927725" y="4663806"/>
            <a:ext cx="2564917" cy="15388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9pPr>
          </a:lstStyle>
          <a:p>
            <a:pPr marL="0" indent="0" algn="r"/>
            <a:r>
              <a:rPr lang="sr-Latn-RS" sz="1000" dirty="0">
                <a:solidFill>
                  <a:schemeClr val="lt1"/>
                </a:solidFill>
                <a:latin typeface="Lato"/>
                <a:ea typeface="Lato"/>
                <a:cs typeface="Lato"/>
                <a:sym typeface="Lato"/>
              </a:rPr>
              <a:t>Poboljšanje</a:t>
            </a:r>
            <a:endParaRPr lang="en-GB" sz="1000" dirty="0">
              <a:solidFill>
                <a:schemeClr val="lt1"/>
              </a:solidFill>
              <a:latin typeface="Lato"/>
              <a:ea typeface="Lato"/>
              <a:cs typeface="Lato"/>
              <a:sym typeface="Lato"/>
            </a:endParaRPr>
          </a:p>
        </p:txBody>
      </p:sp>
      <p:sp>
        <p:nvSpPr>
          <p:cNvPr id="5" name="_text_page">
            <a:extLst>
              <a:ext uri="{FF2B5EF4-FFF2-40B4-BE49-F238E27FC236}">
                <a16:creationId xmlns:a16="http://schemas.microsoft.com/office/drawing/2014/main" id="{3C682F78-0194-56CA-EE15-FF0DD081B353}"/>
              </a:ext>
            </a:extLst>
          </p:cNvPr>
          <p:cNvSpPr txBox="1"/>
          <p:nvPr/>
        </p:nvSpPr>
        <p:spPr>
          <a:xfrm>
            <a:off x="8492643" y="4500000"/>
            <a:ext cx="469800" cy="481500"/>
          </a:xfrm>
          <a:prstGeom prst="rect">
            <a:avLst/>
          </a:prstGeom>
          <a:noFill/>
          <a:ln>
            <a:noFill/>
          </a:ln>
        </p:spPr>
        <p:txBody>
          <a:bodyPr spcFirstLastPara="1" wrap="square" lIns="0" tIns="91425" rIns="0" bIns="91425" anchor="t" anchorCtr="0">
            <a:noAutofit/>
          </a:bodyPr>
          <a:lstStyle/>
          <a:p>
            <a:pPr marL="0" lvl="0" indent="0" algn="ctr" rtl="0">
              <a:spcBef>
                <a:spcPts val="0"/>
              </a:spcBef>
              <a:spcAft>
                <a:spcPts val="0"/>
              </a:spcAft>
              <a:buNone/>
            </a:pPr>
            <a:r>
              <a:rPr lang="sr" sz="1800" dirty="0">
                <a:solidFill>
                  <a:schemeClr val="lt1"/>
                </a:solidFill>
                <a:latin typeface="Montserrat"/>
                <a:ea typeface="Montserrat"/>
                <a:cs typeface="Montserrat"/>
                <a:sym typeface="Montserrat"/>
              </a:rPr>
              <a:t>2</a:t>
            </a:r>
            <a:r>
              <a:rPr lang="en-US" sz="1800" dirty="0">
                <a:solidFill>
                  <a:schemeClr val="lt1"/>
                </a:solidFill>
                <a:latin typeface="Montserrat"/>
                <a:ea typeface="Montserrat"/>
                <a:cs typeface="Montserrat"/>
                <a:sym typeface="Montserrat"/>
              </a:rPr>
              <a:t>6</a:t>
            </a:r>
            <a:endParaRPr sz="1800" dirty="0">
              <a:solidFill>
                <a:schemeClr val="lt1"/>
              </a:solidFill>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2F8FC"/>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806058D5-2280-EE3B-B56F-0AD0E1870AD3}"/>
              </a:ext>
            </a:extLst>
          </p:cNvPr>
          <p:cNvSpPr/>
          <p:nvPr/>
        </p:nvSpPr>
        <p:spPr>
          <a:xfrm>
            <a:off x="2717799" y="239842"/>
            <a:ext cx="6426201" cy="5143500"/>
          </a:xfrm>
          <a:custGeom>
            <a:avLst/>
            <a:gdLst>
              <a:gd name="csX0" fmla="*/ 905383 w 6426201"/>
              <a:gd name="csY0" fmla="*/ 0 h 5143500"/>
              <a:gd name="csX1" fmla="*/ 2497177 w 6426201"/>
              <a:gd name="csY1" fmla="*/ 0 h 5143500"/>
              <a:gd name="csX2" fmla="*/ 2467862 w 6426201"/>
              <a:gd name="csY2" fmla="*/ 35902 h 5143500"/>
              <a:gd name="csX3" fmla="*/ 2503842 w 6426201"/>
              <a:gd name="csY3" fmla="*/ 389331 h 5143500"/>
              <a:gd name="csX4" fmla="*/ 2901337 w 6426201"/>
              <a:gd name="csY4" fmla="*/ 389331 h 5143500"/>
              <a:gd name="csX5" fmla="*/ 3290630 w 6426201"/>
              <a:gd name="csY5" fmla="*/ 0 h 5143500"/>
              <a:gd name="csX6" fmla="*/ 4880482 w 6426201"/>
              <a:gd name="csY6" fmla="*/ 0 h 5143500"/>
              <a:gd name="csX7" fmla="*/ 1758651 w 6426201"/>
              <a:gd name="csY7" fmla="*/ 3121695 h 5143500"/>
              <a:gd name="csX8" fmla="*/ 1758651 w 6426201"/>
              <a:gd name="csY8" fmla="*/ 3519191 h 5143500"/>
              <a:gd name="csX9" fmla="*/ 2156147 w 6426201"/>
              <a:gd name="csY9" fmla="*/ 3519191 h 5143500"/>
              <a:gd name="csX10" fmla="*/ 5675617 w 6426201"/>
              <a:gd name="csY10" fmla="*/ 0 h 5143500"/>
              <a:gd name="csX11" fmla="*/ 6426201 w 6426201"/>
              <a:gd name="csY11" fmla="*/ 0 h 5143500"/>
              <a:gd name="csX12" fmla="*/ 6426201 w 6426201"/>
              <a:gd name="csY12" fmla="*/ 841724 h 5143500"/>
              <a:gd name="csX13" fmla="*/ 6399107 w 6426201"/>
              <a:gd name="csY13" fmla="*/ 874906 h 5143500"/>
              <a:gd name="csX14" fmla="*/ 6399107 w 6426201"/>
              <a:gd name="csY14" fmla="*/ 1184271 h 5143500"/>
              <a:gd name="csX15" fmla="*/ 6426201 w 6426201"/>
              <a:gd name="csY15" fmla="*/ 1217454 h 5143500"/>
              <a:gd name="csX16" fmla="*/ 6426201 w 6426201"/>
              <a:gd name="csY16" fmla="*/ 3224795 h 5143500"/>
              <a:gd name="csX17" fmla="*/ 5698729 w 6426201"/>
              <a:gd name="csY17" fmla="*/ 3952325 h 5143500"/>
              <a:gd name="csX18" fmla="*/ 5698729 w 6426201"/>
              <a:gd name="csY18" fmla="*/ 4349820 h 5143500"/>
              <a:gd name="csX19" fmla="*/ 6096226 w 6426201"/>
              <a:gd name="csY19" fmla="*/ 4349820 h 5143500"/>
              <a:gd name="csX20" fmla="*/ 6426201 w 6426201"/>
              <a:gd name="csY20" fmla="*/ 4019844 h 5143500"/>
              <a:gd name="csX21" fmla="*/ 6426201 w 6426201"/>
              <a:gd name="csY21" fmla="*/ 5143500 h 5143500"/>
              <a:gd name="csX22" fmla="*/ 5302181 w 6426201"/>
              <a:gd name="csY22" fmla="*/ 5143500 h 5143500"/>
              <a:gd name="csX23" fmla="*/ 5337216 w 6426201"/>
              <a:gd name="csY23" fmla="*/ 5100594 h 5143500"/>
              <a:gd name="csX24" fmla="*/ 5301235 w 6426201"/>
              <a:gd name="csY24" fmla="*/ 4747164 h 5143500"/>
              <a:gd name="csX25" fmla="*/ 4903739 w 6426201"/>
              <a:gd name="csY25" fmla="*/ 4747164 h 5143500"/>
              <a:gd name="csX26" fmla="*/ 4507404 w 6426201"/>
              <a:gd name="csY26" fmla="*/ 5143500 h 5143500"/>
              <a:gd name="csX27" fmla="*/ 2917405 w 6426201"/>
              <a:gd name="csY27" fmla="*/ 5143500 h 5143500"/>
              <a:gd name="csX28" fmla="*/ 6037591 w 6426201"/>
              <a:gd name="csY28" fmla="*/ 2023176 h 5143500"/>
              <a:gd name="csX29" fmla="*/ 6037591 w 6426201"/>
              <a:gd name="csY29" fmla="*/ 1625681 h 5143500"/>
              <a:gd name="csX30" fmla="*/ 5640096 w 6426201"/>
              <a:gd name="csY30" fmla="*/ 1625681 h 5143500"/>
              <a:gd name="csX31" fmla="*/ 2121855 w 6426201"/>
              <a:gd name="csY31" fmla="*/ 5143500 h 5143500"/>
              <a:gd name="csX32" fmla="*/ 896983 w 6426201"/>
              <a:gd name="csY32" fmla="*/ 5143500 h 5143500"/>
              <a:gd name="csX33" fmla="*/ 893618 w 6426201"/>
              <a:gd name="csY33" fmla="*/ 5132153 h 5143500"/>
              <a:gd name="csX34" fmla="*/ 1048034 w 6426201"/>
              <a:gd name="csY34" fmla="*/ 4627306 h 5143500"/>
              <a:gd name="csX35" fmla="*/ 1361157 w 6426201"/>
              <a:gd name="csY35" fmla="*/ 4314183 h 5143500"/>
              <a:gd name="csX36" fmla="*/ 1361157 w 6426201"/>
              <a:gd name="csY36" fmla="*/ 3916686 h 5143500"/>
              <a:gd name="csX37" fmla="*/ 963661 w 6426201"/>
              <a:gd name="csY37" fmla="*/ 3916686 h 5143500"/>
              <a:gd name="csX38" fmla="*/ 959702 w 6426201"/>
              <a:gd name="csY38" fmla="*/ 3920647 h 5143500"/>
              <a:gd name="csX39" fmla="*/ 164711 w 6426201"/>
              <a:gd name="csY39" fmla="*/ 3920647 h 5143500"/>
              <a:gd name="csX40" fmla="*/ 164711 w 6426201"/>
              <a:gd name="csY40" fmla="*/ 3125656 h 5143500"/>
              <a:gd name="csX41" fmla="*/ 2106042 w 6426201"/>
              <a:gd name="csY41" fmla="*/ 1184171 h 5143500"/>
              <a:gd name="csX42" fmla="*/ 2106042 w 6426201"/>
              <a:gd name="csY42" fmla="*/ 786674 h 5143500"/>
              <a:gd name="csX43" fmla="*/ 1708546 w 6426201"/>
              <a:gd name="csY43" fmla="*/ 786674 h 5143500"/>
              <a:gd name="csX44" fmla="*/ 1326585 w 6426201"/>
              <a:gd name="csY44" fmla="*/ 1168636 h 5143500"/>
              <a:gd name="csX45" fmla="*/ 531594 w 6426201"/>
              <a:gd name="csY45" fmla="*/ 1168636 h 5143500"/>
              <a:gd name="csX46" fmla="*/ 531594 w 6426201"/>
              <a:gd name="csY46" fmla="*/ 373644 h 514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426201" h="5143500">
                <a:moveTo>
                  <a:pt x="905383" y="0"/>
                </a:moveTo>
                <a:lnTo>
                  <a:pt x="2497177" y="0"/>
                </a:lnTo>
                <a:lnTo>
                  <a:pt x="2467862" y="35902"/>
                </a:lnTo>
                <a:cubicBezTo>
                  <a:pt x="2395902" y="144966"/>
                  <a:pt x="2407895" y="293384"/>
                  <a:pt x="2503842" y="389331"/>
                </a:cubicBezTo>
                <a:cubicBezTo>
                  <a:pt x="2613496" y="498985"/>
                  <a:pt x="2791683" y="498985"/>
                  <a:pt x="2901337" y="389331"/>
                </a:cubicBezTo>
                <a:lnTo>
                  <a:pt x="3290630" y="0"/>
                </a:lnTo>
                <a:lnTo>
                  <a:pt x="4880482" y="0"/>
                </a:lnTo>
                <a:lnTo>
                  <a:pt x="1758651" y="3121695"/>
                </a:lnTo>
                <a:cubicBezTo>
                  <a:pt x="1648997" y="3231349"/>
                  <a:pt x="1648997" y="3409537"/>
                  <a:pt x="1758651" y="3519191"/>
                </a:cubicBezTo>
                <a:cubicBezTo>
                  <a:pt x="1868305" y="3628845"/>
                  <a:pt x="2046494" y="3628845"/>
                  <a:pt x="2156147" y="3519191"/>
                </a:cubicBezTo>
                <a:lnTo>
                  <a:pt x="5675617" y="0"/>
                </a:lnTo>
                <a:lnTo>
                  <a:pt x="6426201" y="0"/>
                </a:lnTo>
                <a:lnTo>
                  <a:pt x="6426201" y="841724"/>
                </a:lnTo>
                <a:lnTo>
                  <a:pt x="6399107" y="874906"/>
                </a:lnTo>
                <a:cubicBezTo>
                  <a:pt x="6337426" y="968391"/>
                  <a:pt x="6337426" y="1090787"/>
                  <a:pt x="6399107" y="1184271"/>
                </a:cubicBezTo>
                <a:lnTo>
                  <a:pt x="6426201" y="1217454"/>
                </a:lnTo>
                <a:lnTo>
                  <a:pt x="6426201" y="3224795"/>
                </a:lnTo>
                <a:lnTo>
                  <a:pt x="5698729" y="3952325"/>
                </a:lnTo>
                <a:cubicBezTo>
                  <a:pt x="5589076" y="4061979"/>
                  <a:pt x="5589076" y="4240166"/>
                  <a:pt x="5698729" y="4349820"/>
                </a:cubicBezTo>
                <a:cubicBezTo>
                  <a:pt x="5808383" y="4459475"/>
                  <a:pt x="5986572" y="4459475"/>
                  <a:pt x="6096226" y="4349820"/>
                </a:cubicBezTo>
                <a:lnTo>
                  <a:pt x="6426201" y="4019844"/>
                </a:lnTo>
                <a:lnTo>
                  <a:pt x="6426201" y="5143500"/>
                </a:lnTo>
                <a:lnTo>
                  <a:pt x="5302181" y="5143500"/>
                </a:lnTo>
                <a:lnTo>
                  <a:pt x="5337216" y="5100594"/>
                </a:lnTo>
                <a:cubicBezTo>
                  <a:pt x="5409176" y="4991529"/>
                  <a:pt x="5397183" y="4843112"/>
                  <a:pt x="5301235" y="4747164"/>
                </a:cubicBezTo>
                <a:cubicBezTo>
                  <a:pt x="5191581" y="4637510"/>
                  <a:pt x="5013393" y="4637510"/>
                  <a:pt x="4903739" y="4747164"/>
                </a:cubicBezTo>
                <a:lnTo>
                  <a:pt x="4507404" y="5143500"/>
                </a:lnTo>
                <a:lnTo>
                  <a:pt x="2917405" y="5143500"/>
                </a:lnTo>
                <a:lnTo>
                  <a:pt x="6037591" y="2023176"/>
                </a:lnTo>
                <a:cubicBezTo>
                  <a:pt x="6147246" y="1913522"/>
                  <a:pt x="6147246" y="1735335"/>
                  <a:pt x="6037591" y="1625681"/>
                </a:cubicBezTo>
                <a:cubicBezTo>
                  <a:pt x="5927938" y="1516027"/>
                  <a:pt x="5749749" y="1516027"/>
                  <a:pt x="5640096" y="1625681"/>
                </a:cubicBezTo>
                <a:lnTo>
                  <a:pt x="2121855" y="5143500"/>
                </a:lnTo>
                <a:lnTo>
                  <a:pt x="896983" y="5143500"/>
                </a:lnTo>
                <a:lnTo>
                  <a:pt x="893618" y="5132153"/>
                </a:lnTo>
                <a:cubicBezTo>
                  <a:pt x="859304" y="4955007"/>
                  <a:pt x="910776" y="4764564"/>
                  <a:pt x="1048034" y="4627306"/>
                </a:cubicBezTo>
                <a:lnTo>
                  <a:pt x="1361157" y="4314183"/>
                </a:lnTo>
                <a:cubicBezTo>
                  <a:pt x="1470811" y="4204529"/>
                  <a:pt x="1470811" y="4026342"/>
                  <a:pt x="1361157" y="3916686"/>
                </a:cubicBezTo>
                <a:cubicBezTo>
                  <a:pt x="1251503" y="3807032"/>
                  <a:pt x="1073314" y="3807032"/>
                  <a:pt x="963661" y="3916686"/>
                </a:cubicBezTo>
                <a:lnTo>
                  <a:pt x="959702" y="3920647"/>
                </a:lnTo>
                <a:cubicBezTo>
                  <a:pt x="740088" y="4140107"/>
                  <a:pt x="384322" y="4140107"/>
                  <a:pt x="164711" y="3920647"/>
                </a:cubicBezTo>
                <a:cubicBezTo>
                  <a:pt x="-54903" y="3701034"/>
                  <a:pt x="-54903" y="3345115"/>
                  <a:pt x="164711" y="3125656"/>
                </a:cubicBezTo>
                <a:lnTo>
                  <a:pt x="2106042" y="1184171"/>
                </a:lnTo>
                <a:cubicBezTo>
                  <a:pt x="2215696" y="1074517"/>
                  <a:pt x="2215696" y="896328"/>
                  <a:pt x="2106042" y="786674"/>
                </a:cubicBezTo>
                <a:cubicBezTo>
                  <a:pt x="1996388" y="677020"/>
                  <a:pt x="1818200" y="677020"/>
                  <a:pt x="1708546" y="786674"/>
                </a:cubicBezTo>
                <a:lnTo>
                  <a:pt x="1326585" y="1168636"/>
                </a:lnTo>
                <a:cubicBezTo>
                  <a:pt x="1106973" y="1388249"/>
                  <a:pt x="751207" y="1388249"/>
                  <a:pt x="531594" y="1168636"/>
                </a:cubicBezTo>
                <a:cubicBezTo>
                  <a:pt x="311983" y="949024"/>
                  <a:pt x="311983" y="593258"/>
                  <a:pt x="531594" y="373644"/>
                </a:cubicBezTo>
                <a:close/>
              </a:path>
            </a:pathLst>
          </a:custGeom>
          <a:solidFill>
            <a:srgbClr val="0D4077">
              <a:alpha val="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64" name="_text_section_title">
            <a:extLst>
              <a:ext uri="{FF2B5EF4-FFF2-40B4-BE49-F238E27FC236}">
                <a16:creationId xmlns:a16="http://schemas.microsoft.com/office/drawing/2014/main" id="{050D3A50-478B-E953-D043-C88D1BD25BE9}"/>
              </a:ext>
            </a:extLst>
          </p:cNvPr>
          <p:cNvSpPr txBox="1">
            <a:spLocks noGrp="1"/>
          </p:cNvSpPr>
          <p:nvPr>
            <p:ph type="ctrTitle"/>
          </p:nvPr>
        </p:nvSpPr>
        <p:spPr>
          <a:xfrm>
            <a:off x="1147233" y="1956197"/>
            <a:ext cx="6849534" cy="1231106"/>
          </a:xfrm>
          <a:prstGeom prst="rect">
            <a:avLst/>
          </a:prstGeom>
        </p:spPr>
        <p:txBody>
          <a:bodyPr spcFirstLastPara="1" wrap="square" lIns="91425" tIns="0" rIns="91425" bIns="0" anchor="b" anchorCtr="0">
            <a:spAutoFit/>
          </a:bodyPr>
          <a:lstStyle/>
          <a:p>
            <a:pPr algn="l">
              <a:buSzPts val="990"/>
            </a:pPr>
            <a:r>
              <a:rPr lang="en-GB" sz="4000" spc="-150" dirty="0" err="1">
                <a:solidFill>
                  <a:srgbClr val="0D4077">
                    <a:alpha val="90000"/>
                  </a:srgbClr>
                </a:solidFill>
                <a:latin typeface="Montserrat Black" panose="00000A00000000000000" pitchFamily="2" charset="0"/>
                <a:ea typeface="Montserrat"/>
                <a:cs typeface="Montserrat"/>
                <a:sym typeface="Montserrat"/>
              </a:rPr>
              <a:t>Aktivnost</a:t>
            </a:r>
            <a:r>
              <a:rPr lang="en-GB" sz="4000" spc="-150" dirty="0">
                <a:solidFill>
                  <a:srgbClr val="0D4077">
                    <a:alpha val="90000"/>
                  </a:srgbClr>
                </a:solidFill>
                <a:latin typeface="Montserrat Black" panose="00000A00000000000000" pitchFamily="2" charset="0"/>
                <a:ea typeface="Montserrat"/>
                <a:cs typeface="Montserrat"/>
                <a:sym typeface="Montserrat"/>
              </a:rPr>
              <a:t> u </a:t>
            </a:r>
            <a:r>
              <a:rPr lang="en-GB" sz="4000" spc="-150" dirty="0" err="1">
                <a:solidFill>
                  <a:srgbClr val="0D4077">
                    <a:alpha val="90000"/>
                  </a:srgbClr>
                </a:solidFill>
                <a:latin typeface="Montserrat Black" panose="00000A00000000000000" pitchFamily="2" charset="0"/>
                <a:ea typeface="Montserrat"/>
                <a:cs typeface="Montserrat"/>
                <a:sym typeface="Montserrat"/>
              </a:rPr>
              <a:t>grupama</a:t>
            </a:r>
            <a:r>
              <a:rPr lang="en-GB" sz="4000" spc="-150" dirty="0">
                <a:solidFill>
                  <a:srgbClr val="0D4077">
                    <a:alpha val="90000"/>
                  </a:srgbClr>
                </a:solidFill>
                <a:latin typeface="Montserrat Black" panose="00000A00000000000000" pitchFamily="2" charset="0"/>
                <a:ea typeface="Montserrat"/>
                <a:cs typeface="Montserrat"/>
                <a:sym typeface="Montserrat"/>
              </a:rPr>
              <a:t>: 15 </a:t>
            </a:r>
            <a:r>
              <a:rPr lang="en-GB" sz="4000" spc="-150" dirty="0" err="1">
                <a:solidFill>
                  <a:srgbClr val="0D4077">
                    <a:alpha val="90000"/>
                  </a:srgbClr>
                </a:solidFill>
                <a:latin typeface="Montserrat Black" panose="00000A00000000000000" pitchFamily="2" charset="0"/>
                <a:ea typeface="Montserrat"/>
                <a:cs typeface="Montserrat"/>
                <a:sym typeface="Montserrat"/>
              </a:rPr>
              <a:t>minuta</a:t>
            </a:r>
            <a:endParaRPr lang="sr-Latn-RS" sz="4000" spc="-150" dirty="0">
              <a:solidFill>
                <a:srgbClr val="0D4077">
                  <a:alpha val="90000"/>
                </a:srgbClr>
              </a:solidFill>
              <a:latin typeface="Montserrat Black" panose="00000A00000000000000" pitchFamily="2" charset="0"/>
              <a:ea typeface="Montserrat"/>
              <a:cs typeface="Montserrat"/>
              <a:sym typeface="Montserra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14C18-965C-AD3C-14C9-D71A58F99AF3}"/>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026AA35D-4B5D-0DD8-F5B1-ADAD25669EB6}"/>
              </a:ext>
            </a:extLst>
          </p:cNvPr>
          <p:cNvSpPr/>
          <p:nvPr/>
        </p:nvSpPr>
        <p:spPr>
          <a:xfrm>
            <a:off x="2717799" y="239842"/>
            <a:ext cx="6426201" cy="5143500"/>
          </a:xfrm>
          <a:custGeom>
            <a:avLst/>
            <a:gdLst>
              <a:gd name="csX0" fmla="*/ 905383 w 6426201"/>
              <a:gd name="csY0" fmla="*/ 0 h 5143500"/>
              <a:gd name="csX1" fmla="*/ 2497177 w 6426201"/>
              <a:gd name="csY1" fmla="*/ 0 h 5143500"/>
              <a:gd name="csX2" fmla="*/ 2467862 w 6426201"/>
              <a:gd name="csY2" fmla="*/ 35902 h 5143500"/>
              <a:gd name="csX3" fmla="*/ 2503842 w 6426201"/>
              <a:gd name="csY3" fmla="*/ 389331 h 5143500"/>
              <a:gd name="csX4" fmla="*/ 2901337 w 6426201"/>
              <a:gd name="csY4" fmla="*/ 389331 h 5143500"/>
              <a:gd name="csX5" fmla="*/ 3290630 w 6426201"/>
              <a:gd name="csY5" fmla="*/ 0 h 5143500"/>
              <a:gd name="csX6" fmla="*/ 4880482 w 6426201"/>
              <a:gd name="csY6" fmla="*/ 0 h 5143500"/>
              <a:gd name="csX7" fmla="*/ 1758651 w 6426201"/>
              <a:gd name="csY7" fmla="*/ 3121695 h 5143500"/>
              <a:gd name="csX8" fmla="*/ 1758651 w 6426201"/>
              <a:gd name="csY8" fmla="*/ 3519191 h 5143500"/>
              <a:gd name="csX9" fmla="*/ 2156147 w 6426201"/>
              <a:gd name="csY9" fmla="*/ 3519191 h 5143500"/>
              <a:gd name="csX10" fmla="*/ 5675617 w 6426201"/>
              <a:gd name="csY10" fmla="*/ 0 h 5143500"/>
              <a:gd name="csX11" fmla="*/ 6426201 w 6426201"/>
              <a:gd name="csY11" fmla="*/ 0 h 5143500"/>
              <a:gd name="csX12" fmla="*/ 6426201 w 6426201"/>
              <a:gd name="csY12" fmla="*/ 841724 h 5143500"/>
              <a:gd name="csX13" fmla="*/ 6399107 w 6426201"/>
              <a:gd name="csY13" fmla="*/ 874906 h 5143500"/>
              <a:gd name="csX14" fmla="*/ 6399107 w 6426201"/>
              <a:gd name="csY14" fmla="*/ 1184271 h 5143500"/>
              <a:gd name="csX15" fmla="*/ 6426201 w 6426201"/>
              <a:gd name="csY15" fmla="*/ 1217454 h 5143500"/>
              <a:gd name="csX16" fmla="*/ 6426201 w 6426201"/>
              <a:gd name="csY16" fmla="*/ 3224795 h 5143500"/>
              <a:gd name="csX17" fmla="*/ 5698729 w 6426201"/>
              <a:gd name="csY17" fmla="*/ 3952325 h 5143500"/>
              <a:gd name="csX18" fmla="*/ 5698729 w 6426201"/>
              <a:gd name="csY18" fmla="*/ 4349820 h 5143500"/>
              <a:gd name="csX19" fmla="*/ 6096226 w 6426201"/>
              <a:gd name="csY19" fmla="*/ 4349820 h 5143500"/>
              <a:gd name="csX20" fmla="*/ 6426201 w 6426201"/>
              <a:gd name="csY20" fmla="*/ 4019844 h 5143500"/>
              <a:gd name="csX21" fmla="*/ 6426201 w 6426201"/>
              <a:gd name="csY21" fmla="*/ 5143500 h 5143500"/>
              <a:gd name="csX22" fmla="*/ 5302181 w 6426201"/>
              <a:gd name="csY22" fmla="*/ 5143500 h 5143500"/>
              <a:gd name="csX23" fmla="*/ 5337216 w 6426201"/>
              <a:gd name="csY23" fmla="*/ 5100594 h 5143500"/>
              <a:gd name="csX24" fmla="*/ 5301235 w 6426201"/>
              <a:gd name="csY24" fmla="*/ 4747164 h 5143500"/>
              <a:gd name="csX25" fmla="*/ 4903739 w 6426201"/>
              <a:gd name="csY25" fmla="*/ 4747164 h 5143500"/>
              <a:gd name="csX26" fmla="*/ 4507404 w 6426201"/>
              <a:gd name="csY26" fmla="*/ 5143500 h 5143500"/>
              <a:gd name="csX27" fmla="*/ 2917405 w 6426201"/>
              <a:gd name="csY27" fmla="*/ 5143500 h 5143500"/>
              <a:gd name="csX28" fmla="*/ 6037591 w 6426201"/>
              <a:gd name="csY28" fmla="*/ 2023176 h 5143500"/>
              <a:gd name="csX29" fmla="*/ 6037591 w 6426201"/>
              <a:gd name="csY29" fmla="*/ 1625681 h 5143500"/>
              <a:gd name="csX30" fmla="*/ 5640096 w 6426201"/>
              <a:gd name="csY30" fmla="*/ 1625681 h 5143500"/>
              <a:gd name="csX31" fmla="*/ 2121855 w 6426201"/>
              <a:gd name="csY31" fmla="*/ 5143500 h 5143500"/>
              <a:gd name="csX32" fmla="*/ 896983 w 6426201"/>
              <a:gd name="csY32" fmla="*/ 5143500 h 5143500"/>
              <a:gd name="csX33" fmla="*/ 893618 w 6426201"/>
              <a:gd name="csY33" fmla="*/ 5132153 h 5143500"/>
              <a:gd name="csX34" fmla="*/ 1048034 w 6426201"/>
              <a:gd name="csY34" fmla="*/ 4627306 h 5143500"/>
              <a:gd name="csX35" fmla="*/ 1361157 w 6426201"/>
              <a:gd name="csY35" fmla="*/ 4314183 h 5143500"/>
              <a:gd name="csX36" fmla="*/ 1361157 w 6426201"/>
              <a:gd name="csY36" fmla="*/ 3916686 h 5143500"/>
              <a:gd name="csX37" fmla="*/ 963661 w 6426201"/>
              <a:gd name="csY37" fmla="*/ 3916686 h 5143500"/>
              <a:gd name="csX38" fmla="*/ 959702 w 6426201"/>
              <a:gd name="csY38" fmla="*/ 3920647 h 5143500"/>
              <a:gd name="csX39" fmla="*/ 164711 w 6426201"/>
              <a:gd name="csY39" fmla="*/ 3920647 h 5143500"/>
              <a:gd name="csX40" fmla="*/ 164711 w 6426201"/>
              <a:gd name="csY40" fmla="*/ 3125656 h 5143500"/>
              <a:gd name="csX41" fmla="*/ 2106042 w 6426201"/>
              <a:gd name="csY41" fmla="*/ 1184171 h 5143500"/>
              <a:gd name="csX42" fmla="*/ 2106042 w 6426201"/>
              <a:gd name="csY42" fmla="*/ 786674 h 5143500"/>
              <a:gd name="csX43" fmla="*/ 1708546 w 6426201"/>
              <a:gd name="csY43" fmla="*/ 786674 h 5143500"/>
              <a:gd name="csX44" fmla="*/ 1326585 w 6426201"/>
              <a:gd name="csY44" fmla="*/ 1168636 h 5143500"/>
              <a:gd name="csX45" fmla="*/ 531594 w 6426201"/>
              <a:gd name="csY45" fmla="*/ 1168636 h 5143500"/>
              <a:gd name="csX46" fmla="*/ 531594 w 6426201"/>
              <a:gd name="csY46" fmla="*/ 373644 h 514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426201" h="5143500">
                <a:moveTo>
                  <a:pt x="905383" y="0"/>
                </a:moveTo>
                <a:lnTo>
                  <a:pt x="2497177" y="0"/>
                </a:lnTo>
                <a:lnTo>
                  <a:pt x="2467862" y="35902"/>
                </a:lnTo>
                <a:cubicBezTo>
                  <a:pt x="2395902" y="144966"/>
                  <a:pt x="2407895" y="293384"/>
                  <a:pt x="2503842" y="389331"/>
                </a:cubicBezTo>
                <a:cubicBezTo>
                  <a:pt x="2613496" y="498985"/>
                  <a:pt x="2791683" y="498985"/>
                  <a:pt x="2901337" y="389331"/>
                </a:cubicBezTo>
                <a:lnTo>
                  <a:pt x="3290630" y="0"/>
                </a:lnTo>
                <a:lnTo>
                  <a:pt x="4880482" y="0"/>
                </a:lnTo>
                <a:lnTo>
                  <a:pt x="1758651" y="3121695"/>
                </a:lnTo>
                <a:cubicBezTo>
                  <a:pt x="1648997" y="3231349"/>
                  <a:pt x="1648997" y="3409537"/>
                  <a:pt x="1758651" y="3519191"/>
                </a:cubicBezTo>
                <a:cubicBezTo>
                  <a:pt x="1868305" y="3628845"/>
                  <a:pt x="2046494" y="3628845"/>
                  <a:pt x="2156147" y="3519191"/>
                </a:cubicBezTo>
                <a:lnTo>
                  <a:pt x="5675617" y="0"/>
                </a:lnTo>
                <a:lnTo>
                  <a:pt x="6426201" y="0"/>
                </a:lnTo>
                <a:lnTo>
                  <a:pt x="6426201" y="841724"/>
                </a:lnTo>
                <a:lnTo>
                  <a:pt x="6399107" y="874906"/>
                </a:lnTo>
                <a:cubicBezTo>
                  <a:pt x="6337426" y="968391"/>
                  <a:pt x="6337426" y="1090787"/>
                  <a:pt x="6399107" y="1184271"/>
                </a:cubicBezTo>
                <a:lnTo>
                  <a:pt x="6426201" y="1217454"/>
                </a:lnTo>
                <a:lnTo>
                  <a:pt x="6426201" y="3224795"/>
                </a:lnTo>
                <a:lnTo>
                  <a:pt x="5698729" y="3952325"/>
                </a:lnTo>
                <a:cubicBezTo>
                  <a:pt x="5589076" y="4061979"/>
                  <a:pt x="5589076" y="4240166"/>
                  <a:pt x="5698729" y="4349820"/>
                </a:cubicBezTo>
                <a:cubicBezTo>
                  <a:pt x="5808383" y="4459475"/>
                  <a:pt x="5986572" y="4459475"/>
                  <a:pt x="6096226" y="4349820"/>
                </a:cubicBezTo>
                <a:lnTo>
                  <a:pt x="6426201" y="4019844"/>
                </a:lnTo>
                <a:lnTo>
                  <a:pt x="6426201" y="5143500"/>
                </a:lnTo>
                <a:lnTo>
                  <a:pt x="5302181" y="5143500"/>
                </a:lnTo>
                <a:lnTo>
                  <a:pt x="5337216" y="5100594"/>
                </a:lnTo>
                <a:cubicBezTo>
                  <a:pt x="5409176" y="4991529"/>
                  <a:pt x="5397183" y="4843112"/>
                  <a:pt x="5301235" y="4747164"/>
                </a:cubicBezTo>
                <a:cubicBezTo>
                  <a:pt x="5191581" y="4637510"/>
                  <a:pt x="5013393" y="4637510"/>
                  <a:pt x="4903739" y="4747164"/>
                </a:cubicBezTo>
                <a:lnTo>
                  <a:pt x="4507404" y="5143500"/>
                </a:lnTo>
                <a:lnTo>
                  <a:pt x="2917405" y="5143500"/>
                </a:lnTo>
                <a:lnTo>
                  <a:pt x="6037591" y="2023176"/>
                </a:lnTo>
                <a:cubicBezTo>
                  <a:pt x="6147246" y="1913522"/>
                  <a:pt x="6147246" y="1735335"/>
                  <a:pt x="6037591" y="1625681"/>
                </a:cubicBezTo>
                <a:cubicBezTo>
                  <a:pt x="5927938" y="1516027"/>
                  <a:pt x="5749749" y="1516027"/>
                  <a:pt x="5640096" y="1625681"/>
                </a:cubicBezTo>
                <a:lnTo>
                  <a:pt x="2121855" y="5143500"/>
                </a:lnTo>
                <a:lnTo>
                  <a:pt x="896983" y="5143500"/>
                </a:lnTo>
                <a:lnTo>
                  <a:pt x="893618" y="5132153"/>
                </a:lnTo>
                <a:cubicBezTo>
                  <a:pt x="859304" y="4955007"/>
                  <a:pt x="910776" y="4764564"/>
                  <a:pt x="1048034" y="4627306"/>
                </a:cubicBezTo>
                <a:lnTo>
                  <a:pt x="1361157" y="4314183"/>
                </a:lnTo>
                <a:cubicBezTo>
                  <a:pt x="1470811" y="4204529"/>
                  <a:pt x="1470811" y="4026342"/>
                  <a:pt x="1361157" y="3916686"/>
                </a:cubicBezTo>
                <a:cubicBezTo>
                  <a:pt x="1251503" y="3807032"/>
                  <a:pt x="1073314" y="3807032"/>
                  <a:pt x="963661" y="3916686"/>
                </a:cubicBezTo>
                <a:lnTo>
                  <a:pt x="959702" y="3920647"/>
                </a:lnTo>
                <a:cubicBezTo>
                  <a:pt x="740088" y="4140107"/>
                  <a:pt x="384322" y="4140107"/>
                  <a:pt x="164711" y="3920647"/>
                </a:cubicBezTo>
                <a:cubicBezTo>
                  <a:pt x="-54903" y="3701034"/>
                  <a:pt x="-54903" y="3345115"/>
                  <a:pt x="164711" y="3125656"/>
                </a:cubicBezTo>
                <a:lnTo>
                  <a:pt x="2106042" y="1184171"/>
                </a:lnTo>
                <a:cubicBezTo>
                  <a:pt x="2215696" y="1074517"/>
                  <a:pt x="2215696" y="896328"/>
                  <a:pt x="2106042" y="786674"/>
                </a:cubicBezTo>
                <a:cubicBezTo>
                  <a:pt x="1996388" y="677020"/>
                  <a:pt x="1818200" y="677020"/>
                  <a:pt x="1708546" y="786674"/>
                </a:cubicBezTo>
                <a:lnTo>
                  <a:pt x="1326585" y="1168636"/>
                </a:lnTo>
                <a:cubicBezTo>
                  <a:pt x="1106973" y="1388249"/>
                  <a:pt x="751207" y="1388249"/>
                  <a:pt x="531594" y="1168636"/>
                </a:cubicBezTo>
                <a:cubicBezTo>
                  <a:pt x="311983" y="949024"/>
                  <a:pt x="311983" y="593258"/>
                  <a:pt x="531594" y="373644"/>
                </a:cubicBezTo>
                <a:close/>
              </a:path>
            </a:pathLst>
          </a:custGeom>
          <a:solidFill>
            <a:srgbClr val="0D4077">
              <a:alpha val="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64" name="_text_section_title">
            <a:extLst>
              <a:ext uri="{FF2B5EF4-FFF2-40B4-BE49-F238E27FC236}">
                <a16:creationId xmlns:a16="http://schemas.microsoft.com/office/drawing/2014/main" id="{DF82B538-72D0-AF1B-12E6-AAAEB6DDD8DB}"/>
              </a:ext>
            </a:extLst>
          </p:cNvPr>
          <p:cNvSpPr txBox="1">
            <a:spLocks noGrp="1"/>
          </p:cNvSpPr>
          <p:nvPr>
            <p:ph type="ctrTitle"/>
          </p:nvPr>
        </p:nvSpPr>
        <p:spPr>
          <a:xfrm>
            <a:off x="897467" y="1956197"/>
            <a:ext cx="6849534" cy="615553"/>
          </a:xfrm>
          <a:prstGeom prst="rect">
            <a:avLst/>
          </a:prstGeom>
        </p:spPr>
        <p:txBody>
          <a:bodyPr spcFirstLastPara="1" wrap="square" lIns="91425" tIns="0" rIns="91425" bIns="0" anchor="b" anchorCtr="0">
            <a:spAutoFit/>
          </a:bodyPr>
          <a:lstStyle/>
          <a:p>
            <a:pPr marL="0" lvl="0" indent="0" algn="l" rtl="0">
              <a:spcBef>
                <a:spcPts val="0"/>
              </a:spcBef>
              <a:spcAft>
                <a:spcPts val="0"/>
              </a:spcAft>
              <a:buNone/>
            </a:pPr>
            <a:r>
              <a:rPr lang="sr" sz="4000" spc="-150" dirty="0">
                <a:solidFill>
                  <a:srgbClr val="0D4077">
                    <a:alpha val="90000"/>
                  </a:srgbClr>
                </a:solidFill>
                <a:latin typeface="Montserrat Black" panose="00000A00000000000000" pitchFamily="2" charset="0"/>
                <a:ea typeface="Montserrat"/>
                <a:cs typeface="Montserrat"/>
                <a:sym typeface="Montserrat"/>
              </a:rPr>
              <a:t>Pauza: 5 minuta</a:t>
            </a:r>
            <a:endParaRPr sz="4000" spc="-150" dirty="0">
              <a:solidFill>
                <a:srgbClr val="0D4077">
                  <a:alpha val="90000"/>
                </a:srgbClr>
              </a:solidFill>
              <a:latin typeface="Montserrat Black" panose="00000A00000000000000" pitchFamily="2" charset="0"/>
              <a:ea typeface="Montserrat"/>
              <a:cs typeface="Montserrat"/>
              <a:sym typeface="Montserrat"/>
            </a:endParaRPr>
          </a:p>
        </p:txBody>
      </p:sp>
      <p:sp>
        <p:nvSpPr>
          <p:cNvPr id="65" name="_text_section_subtitle">
            <a:extLst>
              <a:ext uri="{FF2B5EF4-FFF2-40B4-BE49-F238E27FC236}">
                <a16:creationId xmlns:a16="http://schemas.microsoft.com/office/drawing/2014/main" id="{AFE02FDE-54E0-D918-0C24-D34A2A9F7491}"/>
              </a:ext>
            </a:extLst>
          </p:cNvPr>
          <p:cNvSpPr txBox="1">
            <a:spLocks noGrp="1"/>
          </p:cNvSpPr>
          <p:nvPr>
            <p:ph type="subTitle" idx="1"/>
          </p:nvPr>
        </p:nvSpPr>
        <p:spPr>
          <a:xfrm>
            <a:off x="897467" y="2571750"/>
            <a:ext cx="6849534" cy="489534"/>
          </a:xfrm>
          <a:prstGeom prst="rect">
            <a:avLst/>
          </a:prstGeom>
        </p:spPr>
        <p:txBody>
          <a:bodyPr spcFirstLastPara="1" wrap="square" lIns="91425" tIns="180000" rIns="91425" bIns="0" anchor="t" anchorCtr="0">
            <a:spAutoFit/>
          </a:bodyPr>
          <a:lstStyle/>
          <a:p>
            <a:pPr marL="0" lvl="0" indent="0" algn="l" rtl="0">
              <a:spcBef>
                <a:spcPts val="0"/>
              </a:spcBef>
              <a:spcAft>
                <a:spcPts val="0"/>
              </a:spcAft>
              <a:buNone/>
            </a:pPr>
            <a:r>
              <a:rPr lang="en-GB" sz="2000" dirty="0">
                <a:solidFill>
                  <a:srgbClr val="0D4077"/>
                </a:solidFill>
                <a:latin typeface="Montserrat" panose="00000500000000000000" pitchFamily="2" charset="0"/>
                <a:ea typeface="Lato"/>
                <a:cs typeface="Lato"/>
                <a:sym typeface="Lato"/>
              </a:rPr>
              <a:t>Posle pauze: </a:t>
            </a:r>
            <a:r>
              <a:rPr lang="en-GB" sz="2000" dirty="0" err="1">
                <a:solidFill>
                  <a:srgbClr val="0D4077"/>
                </a:solidFill>
                <a:latin typeface="Montserrat" panose="00000500000000000000" pitchFamily="2" charset="0"/>
                <a:ea typeface="Lato"/>
                <a:cs typeface="Lato"/>
                <a:sym typeface="Lato"/>
              </a:rPr>
              <a:t>nedeljni</a:t>
            </a:r>
            <a:r>
              <a:rPr lang="en-GB" sz="2000" dirty="0">
                <a:solidFill>
                  <a:srgbClr val="0D4077"/>
                </a:solidFill>
                <a:latin typeface="Montserrat" panose="00000500000000000000" pitchFamily="2" charset="0"/>
                <a:ea typeface="Lato"/>
                <a:cs typeface="Lato"/>
                <a:sym typeface="Lato"/>
              </a:rPr>
              <a:t> </a:t>
            </a:r>
            <a:r>
              <a:rPr lang="en-GB" sz="2000" dirty="0" err="1">
                <a:solidFill>
                  <a:srgbClr val="0D4077"/>
                </a:solidFill>
                <a:latin typeface="Montserrat" panose="00000500000000000000" pitchFamily="2" charset="0"/>
                <a:ea typeface="Lato"/>
                <a:cs typeface="Lato"/>
                <a:sym typeface="Lato"/>
              </a:rPr>
              <a:t>zadatak</a:t>
            </a:r>
            <a:r>
              <a:rPr lang="en-GB" sz="2000" dirty="0">
                <a:solidFill>
                  <a:srgbClr val="0D4077"/>
                </a:solidFill>
                <a:latin typeface="Montserrat" panose="00000500000000000000" pitchFamily="2" charset="0"/>
                <a:ea typeface="Lato"/>
                <a:cs typeface="Lato"/>
                <a:sym typeface="Lato"/>
              </a:rPr>
              <a:t>.</a:t>
            </a:r>
            <a:endParaRPr sz="2000" dirty="0">
              <a:solidFill>
                <a:srgbClr val="0D4077"/>
              </a:solidFill>
              <a:latin typeface="Montserrat" panose="00000500000000000000" pitchFamily="2" charset="0"/>
              <a:ea typeface="Lato"/>
              <a:cs typeface="Lato"/>
              <a:sym typeface="Lato"/>
            </a:endParaRPr>
          </a:p>
        </p:txBody>
      </p:sp>
    </p:spTree>
    <p:extLst>
      <p:ext uri="{BB962C8B-B14F-4D97-AF65-F5344CB8AC3E}">
        <p14:creationId xmlns:p14="http://schemas.microsoft.com/office/powerpoint/2010/main" val="37587988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2F8FC"/>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806058D5-2280-EE3B-B56F-0AD0E1870AD3}"/>
              </a:ext>
            </a:extLst>
          </p:cNvPr>
          <p:cNvSpPr/>
          <p:nvPr/>
        </p:nvSpPr>
        <p:spPr>
          <a:xfrm>
            <a:off x="2717800" y="0"/>
            <a:ext cx="6426201" cy="5143500"/>
          </a:xfrm>
          <a:custGeom>
            <a:avLst/>
            <a:gdLst>
              <a:gd name="csX0" fmla="*/ 905383 w 6426201"/>
              <a:gd name="csY0" fmla="*/ 0 h 5143500"/>
              <a:gd name="csX1" fmla="*/ 2497177 w 6426201"/>
              <a:gd name="csY1" fmla="*/ 0 h 5143500"/>
              <a:gd name="csX2" fmla="*/ 2467862 w 6426201"/>
              <a:gd name="csY2" fmla="*/ 35902 h 5143500"/>
              <a:gd name="csX3" fmla="*/ 2503842 w 6426201"/>
              <a:gd name="csY3" fmla="*/ 389331 h 5143500"/>
              <a:gd name="csX4" fmla="*/ 2901337 w 6426201"/>
              <a:gd name="csY4" fmla="*/ 389331 h 5143500"/>
              <a:gd name="csX5" fmla="*/ 3290630 w 6426201"/>
              <a:gd name="csY5" fmla="*/ 0 h 5143500"/>
              <a:gd name="csX6" fmla="*/ 4880482 w 6426201"/>
              <a:gd name="csY6" fmla="*/ 0 h 5143500"/>
              <a:gd name="csX7" fmla="*/ 1758651 w 6426201"/>
              <a:gd name="csY7" fmla="*/ 3121695 h 5143500"/>
              <a:gd name="csX8" fmla="*/ 1758651 w 6426201"/>
              <a:gd name="csY8" fmla="*/ 3519191 h 5143500"/>
              <a:gd name="csX9" fmla="*/ 2156147 w 6426201"/>
              <a:gd name="csY9" fmla="*/ 3519191 h 5143500"/>
              <a:gd name="csX10" fmla="*/ 5675617 w 6426201"/>
              <a:gd name="csY10" fmla="*/ 0 h 5143500"/>
              <a:gd name="csX11" fmla="*/ 6426201 w 6426201"/>
              <a:gd name="csY11" fmla="*/ 0 h 5143500"/>
              <a:gd name="csX12" fmla="*/ 6426201 w 6426201"/>
              <a:gd name="csY12" fmla="*/ 841724 h 5143500"/>
              <a:gd name="csX13" fmla="*/ 6399107 w 6426201"/>
              <a:gd name="csY13" fmla="*/ 874906 h 5143500"/>
              <a:gd name="csX14" fmla="*/ 6399107 w 6426201"/>
              <a:gd name="csY14" fmla="*/ 1184271 h 5143500"/>
              <a:gd name="csX15" fmla="*/ 6426201 w 6426201"/>
              <a:gd name="csY15" fmla="*/ 1217454 h 5143500"/>
              <a:gd name="csX16" fmla="*/ 6426201 w 6426201"/>
              <a:gd name="csY16" fmla="*/ 3224795 h 5143500"/>
              <a:gd name="csX17" fmla="*/ 5698729 w 6426201"/>
              <a:gd name="csY17" fmla="*/ 3952325 h 5143500"/>
              <a:gd name="csX18" fmla="*/ 5698729 w 6426201"/>
              <a:gd name="csY18" fmla="*/ 4349820 h 5143500"/>
              <a:gd name="csX19" fmla="*/ 6096226 w 6426201"/>
              <a:gd name="csY19" fmla="*/ 4349820 h 5143500"/>
              <a:gd name="csX20" fmla="*/ 6426201 w 6426201"/>
              <a:gd name="csY20" fmla="*/ 4019844 h 5143500"/>
              <a:gd name="csX21" fmla="*/ 6426201 w 6426201"/>
              <a:gd name="csY21" fmla="*/ 5143500 h 5143500"/>
              <a:gd name="csX22" fmla="*/ 5302181 w 6426201"/>
              <a:gd name="csY22" fmla="*/ 5143500 h 5143500"/>
              <a:gd name="csX23" fmla="*/ 5337216 w 6426201"/>
              <a:gd name="csY23" fmla="*/ 5100594 h 5143500"/>
              <a:gd name="csX24" fmla="*/ 5301235 w 6426201"/>
              <a:gd name="csY24" fmla="*/ 4747164 h 5143500"/>
              <a:gd name="csX25" fmla="*/ 4903739 w 6426201"/>
              <a:gd name="csY25" fmla="*/ 4747164 h 5143500"/>
              <a:gd name="csX26" fmla="*/ 4507404 w 6426201"/>
              <a:gd name="csY26" fmla="*/ 5143500 h 5143500"/>
              <a:gd name="csX27" fmla="*/ 2917405 w 6426201"/>
              <a:gd name="csY27" fmla="*/ 5143500 h 5143500"/>
              <a:gd name="csX28" fmla="*/ 6037591 w 6426201"/>
              <a:gd name="csY28" fmla="*/ 2023176 h 5143500"/>
              <a:gd name="csX29" fmla="*/ 6037591 w 6426201"/>
              <a:gd name="csY29" fmla="*/ 1625681 h 5143500"/>
              <a:gd name="csX30" fmla="*/ 5640096 w 6426201"/>
              <a:gd name="csY30" fmla="*/ 1625681 h 5143500"/>
              <a:gd name="csX31" fmla="*/ 2121855 w 6426201"/>
              <a:gd name="csY31" fmla="*/ 5143500 h 5143500"/>
              <a:gd name="csX32" fmla="*/ 896983 w 6426201"/>
              <a:gd name="csY32" fmla="*/ 5143500 h 5143500"/>
              <a:gd name="csX33" fmla="*/ 893618 w 6426201"/>
              <a:gd name="csY33" fmla="*/ 5132153 h 5143500"/>
              <a:gd name="csX34" fmla="*/ 1048034 w 6426201"/>
              <a:gd name="csY34" fmla="*/ 4627306 h 5143500"/>
              <a:gd name="csX35" fmla="*/ 1361157 w 6426201"/>
              <a:gd name="csY35" fmla="*/ 4314183 h 5143500"/>
              <a:gd name="csX36" fmla="*/ 1361157 w 6426201"/>
              <a:gd name="csY36" fmla="*/ 3916686 h 5143500"/>
              <a:gd name="csX37" fmla="*/ 963661 w 6426201"/>
              <a:gd name="csY37" fmla="*/ 3916686 h 5143500"/>
              <a:gd name="csX38" fmla="*/ 959702 w 6426201"/>
              <a:gd name="csY38" fmla="*/ 3920647 h 5143500"/>
              <a:gd name="csX39" fmla="*/ 164711 w 6426201"/>
              <a:gd name="csY39" fmla="*/ 3920647 h 5143500"/>
              <a:gd name="csX40" fmla="*/ 164711 w 6426201"/>
              <a:gd name="csY40" fmla="*/ 3125656 h 5143500"/>
              <a:gd name="csX41" fmla="*/ 2106042 w 6426201"/>
              <a:gd name="csY41" fmla="*/ 1184171 h 5143500"/>
              <a:gd name="csX42" fmla="*/ 2106042 w 6426201"/>
              <a:gd name="csY42" fmla="*/ 786674 h 5143500"/>
              <a:gd name="csX43" fmla="*/ 1708546 w 6426201"/>
              <a:gd name="csY43" fmla="*/ 786674 h 5143500"/>
              <a:gd name="csX44" fmla="*/ 1326585 w 6426201"/>
              <a:gd name="csY44" fmla="*/ 1168636 h 5143500"/>
              <a:gd name="csX45" fmla="*/ 531594 w 6426201"/>
              <a:gd name="csY45" fmla="*/ 1168636 h 5143500"/>
              <a:gd name="csX46" fmla="*/ 531594 w 6426201"/>
              <a:gd name="csY46" fmla="*/ 373644 h 514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426201" h="5143500">
                <a:moveTo>
                  <a:pt x="905383" y="0"/>
                </a:moveTo>
                <a:lnTo>
                  <a:pt x="2497177" y="0"/>
                </a:lnTo>
                <a:lnTo>
                  <a:pt x="2467862" y="35902"/>
                </a:lnTo>
                <a:cubicBezTo>
                  <a:pt x="2395902" y="144966"/>
                  <a:pt x="2407895" y="293384"/>
                  <a:pt x="2503842" y="389331"/>
                </a:cubicBezTo>
                <a:cubicBezTo>
                  <a:pt x="2613496" y="498985"/>
                  <a:pt x="2791683" y="498985"/>
                  <a:pt x="2901337" y="389331"/>
                </a:cubicBezTo>
                <a:lnTo>
                  <a:pt x="3290630" y="0"/>
                </a:lnTo>
                <a:lnTo>
                  <a:pt x="4880482" y="0"/>
                </a:lnTo>
                <a:lnTo>
                  <a:pt x="1758651" y="3121695"/>
                </a:lnTo>
                <a:cubicBezTo>
                  <a:pt x="1648997" y="3231349"/>
                  <a:pt x="1648997" y="3409537"/>
                  <a:pt x="1758651" y="3519191"/>
                </a:cubicBezTo>
                <a:cubicBezTo>
                  <a:pt x="1868305" y="3628845"/>
                  <a:pt x="2046494" y="3628845"/>
                  <a:pt x="2156147" y="3519191"/>
                </a:cubicBezTo>
                <a:lnTo>
                  <a:pt x="5675617" y="0"/>
                </a:lnTo>
                <a:lnTo>
                  <a:pt x="6426201" y="0"/>
                </a:lnTo>
                <a:lnTo>
                  <a:pt x="6426201" y="841724"/>
                </a:lnTo>
                <a:lnTo>
                  <a:pt x="6399107" y="874906"/>
                </a:lnTo>
                <a:cubicBezTo>
                  <a:pt x="6337426" y="968391"/>
                  <a:pt x="6337426" y="1090787"/>
                  <a:pt x="6399107" y="1184271"/>
                </a:cubicBezTo>
                <a:lnTo>
                  <a:pt x="6426201" y="1217454"/>
                </a:lnTo>
                <a:lnTo>
                  <a:pt x="6426201" y="3224795"/>
                </a:lnTo>
                <a:lnTo>
                  <a:pt x="5698729" y="3952325"/>
                </a:lnTo>
                <a:cubicBezTo>
                  <a:pt x="5589076" y="4061979"/>
                  <a:pt x="5589076" y="4240166"/>
                  <a:pt x="5698729" y="4349820"/>
                </a:cubicBezTo>
                <a:cubicBezTo>
                  <a:pt x="5808383" y="4459475"/>
                  <a:pt x="5986572" y="4459475"/>
                  <a:pt x="6096226" y="4349820"/>
                </a:cubicBezTo>
                <a:lnTo>
                  <a:pt x="6426201" y="4019844"/>
                </a:lnTo>
                <a:lnTo>
                  <a:pt x="6426201" y="5143500"/>
                </a:lnTo>
                <a:lnTo>
                  <a:pt x="5302181" y="5143500"/>
                </a:lnTo>
                <a:lnTo>
                  <a:pt x="5337216" y="5100594"/>
                </a:lnTo>
                <a:cubicBezTo>
                  <a:pt x="5409176" y="4991529"/>
                  <a:pt x="5397183" y="4843112"/>
                  <a:pt x="5301235" y="4747164"/>
                </a:cubicBezTo>
                <a:cubicBezTo>
                  <a:pt x="5191581" y="4637510"/>
                  <a:pt x="5013393" y="4637510"/>
                  <a:pt x="4903739" y="4747164"/>
                </a:cubicBezTo>
                <a:lnTo>
                  <a:pt x="4507404" y="5143500"/>
                </a:lnTo>
                <a:lnTo>
                  <a:pt x="2917405" y="5143500"/>
                </a:lnTo>
                <a:lnTo>
                  <a:pt x="6037591" y="2023176"/>
                </a:lnTo>
                <a:cubicBezTo>
                  <a:pt x="6147246" y="1913522"/>
                  <a:pt x="6147246" y="1735335"/>
                  <a:pt x="6037591" y="1625681"/>
                </a:cubicBezTo>
                <a:cubicBezTo>
                  <a:pt x="5927938" y="1516027"/>
                  <a:pt x="5749749" y="1516027"/>
                  <a:pt x="5640096" y="1625681"/>
                </a:cubicBezTo>
                <a:lnTo>
                  <a:pt x="2121855" y="5143500"/>
                </a:lnTo>
                <a:lnTo>
                  <a:pt x="896983" y="5143500"/>
                </a:lnTo>
                <a:lnTo>
                  <a:pt x="893618" y="5132153"/>
                </a:lnTo>
                <a:cubicBezTo>
                  <a:pt x="859304" y="4955007"/>
                  <a:pt x="910776" y="4764564"/>
                  <a:pt x="1048034" y="4627306"/>
                </a:cubicBezTo>
                <a:lnTo>
                  <a:pt x="1361157" y="4314183"/>
                </a:lnTo>
                <a:cubicBezTo>
                  <a:pt x="1470811" y="4204529"/>
                  <a:pt x="1470811" y="4026342"/>
                  <a:pt x="1361157" y="3916686"/>
                </a:cubicBezTo>
                <a:cubicBezTo>
                  <a:pt x="1251503" y="3807032"/>
                  <a:pt x="1073314" y="3807032"/>
                  <a:pt x="963661" y="3916686"/>
                </a:cubicBezTo>
                <a:lnTo>
                  <a:pt x="959702" y="3920647"/>
                </a:lnTo>
                <a:cubicBezTo>
                  <a:pt x="740088" y="4140107"/>
                  <a:pt x="384322" y="4140107"/>
                  <a:pt x="164711" y="3920647"/>
                </a:cubicBezTo>
                <a:cubicBezTo>
                  <a:pt x="-54903" y="3701034"/>
                  <a:pt x="-54903" y="3345115"/>
                  <a:pt x="164711" y="3125656"/>
                </a:cubicBezTo>
                <a:lnTo>
                  <a:pt x="2106042" y="1184171"/>
                </a:lnTo>
                <a:cubicBezTo>
                  <a:pt x="2215696" y="1074517"/>
                  <a:pt x="2215696" y="896328"/>
                  <a:pt x="2106042" y="786674"/>
                </a:cubicBezTo>
                <a:cubicBezTo>
                  <a:pt x="1996388" y="677020"/>
                  <a:pt x="1818200" y="677020"/>
                  <a:pt x="1708546" y="786674"/>
                </a:cubicBezTo>
                <a:lnTo>
                  <a:pt x="1326585" y="1168636"/>
                </a:lnTo>
                <a:cubicBezTo>
                  <a:pt x="1106973" y="1388249"/>
                  <a:pt x="751207" y="1388249"/>
                  <a:pt x="531594" y="1168636"/>
                </a:cubicBezTo>
                <a:cubicBezTo>
                  <a:pt x="311983" y="949024"/>
                  <a:pt x="311983" y="593258"/>
                  <a:pt x="531594" y="373644"/>
                </a:cubicBezTo>
                <a:close/>
              </a:path>
            </a:pathLst>
          </a:custGeom>
          <a:solidFill>
            <a:srgbClr val="0D4077">
              <a:alpha val="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64" name="_text_section_title">
            <a:extLst>
              <a:ext uri="{FF2B5EF4-FFF2-40B4-BE49-F238E27FC236}">
                <a16:creationId xmlns:a16="http://schemas.microsoft.com/office/drawing/2014/main" id="{050D3A50-478B-E953-D043-C88D1BD25BE9}"/>
              </a:ext>
            </a:extLst>
          </p:cNvPr>
          <p:cNvSpPr txBox="1">
            <a:spLocks noGrp="1"/>
          </p:cNvSpPr>
          <p:nvPr>
            <p:ph type="ctrTitle"/>
          </p:nvPr>
        </p:nvSpPr>
        <p:spPr>
          <a:xfrm>
            <a:off x="897467" y="1956197"/>
            <a:ext cx="6849534" cy="615553"/>
          </a:xfrm>
          <a:prstGeom prst="rect">
            <a:avLst/>
          </a:prstGeom>
        </p:spPr>
        <p:txBody>
          <a:bodyPr spcFirstLastPara="1" wrap="square" lIns="91425" tIns="0" rIns="91425" bIns="0" anchor="b" anchorCtr="0">
            <a:spAutoFit/>
          </a:bodyPr>
          <a:lstStyle/>
          <a:p>
            <a:pPr marL="0" lvl="0" indent="0" algn="l" rtl="0">
              <a:spcBef>
                <a:spcPts val="0"/>
              </a:spcBef>
              <a:spcAft>
                <a:spcPts val="0"/>
              </a:spcAft>
              <a:buNone/>
            </a:pPr>
            <a:r>
              <a:rPr lang="sr" sz="4000" spc="-150" dirty="0">
                <a:solidFill>
                  <a:srgbClr val="0D4077">
                    <a:alpha val="90000"/>
                  </a:srgbClr>
                </a:solidFill>
                <a:latin typeface="Montserrat Black" panose="00000A00000000000000" pitchFamily="2" charset="0"/>
                <a:ea typeface="Montserrat"/>
                <a:cs typeface="Montserrat"/>
                <a:sym typeface="Montserrat"/>
              </a:rPr>
              <a:t>Nedeljni zadatak</a:t>
            </a:r>
            <a:endParaRPr sz="4000" spc="-150" dirty="0">
              <a:solidFill>
                <a:srgbClr val="0D4077">
                  <a:alpha val="90000"/>
                </a:srgbClr>
              </a:solidFill>
              <a:latin typeface="Montserrat Black" panose="00000A00000000000000" pitchFamily="2" charset="0"/>
              <a:ea typeface="Montserrat"/>
              <a:cs typeface="Montserrat"/>
              <a:sym typeface="Montserrat"/>
            </a:endParaRPr>
          </a:p>
        </p:txBody>
      </p:sp>
      <p:sp>
        <p:nvSpPr>
          <p:cNvPr id="65" name="_text_section_subtitle">
            <a:extLst>
              <a:ext uri="{FF2B5EF4-FFF2-40B4-BE49-F238E27FC236}">
                <a16:creationId xmlns:a16="http://schemas.microsoft.com/office/drawing/2014/main" id="{1A30F914-E789-A81B-2828-166B98C32AB0}"/>
              </a:ext>
            </a:extLst>
          </p:cNvPr>
          <p:cNvSpPr txBox="1">
            <a:spLocks noGrp="1"/>
          </p:cNvSpPr>
          <p:nvPr>
            <p:ph type="subTitle" idx="1"/>
          </p:nvPr>
        </p:nvSpPr>
        <p:spPr>
          <a:xfrm>
            <a:off x="897467" y="2571750"/>
            <a:ext cx="6849534" cy="1105088"/>
          </a:xfrm>
          <a:prstGeom prst="rect">
            <a:avLst/>
          </a:prstGeom>
        </p:spPr>
        <p:txBody>
          <a:bodyPr spcFirstLastPara="1" wrap="square" lIns="91425" tIns="180000" rIns="91425" bIns="0" anchor="t" anchorCtr="0">
            <a:spAutoFit/>
          </a:bodyPr>
          <a:lstStyle/>
          <a:p>
            <a:pPr marL="0" lvl="0" indent="0" algn="l" rtl="0">
              <a:spcBef>
                <a:spcPts val="0"/>
              </a:spcBef>
              <a:spcAft>
                <a:spcPts val="0"/>
              </a:spcAft>
              <a:buNone/>
            </a:pPr>
            <a:r>
              <a:rPr lang="en-GB" sz="2000" dirty="0">
                <a:solidFill>
                  <a:srgbClr val="0D4077"/>
                </a:solidFill>
                <a:latin typeface="Montserrat" panose="00000500000000000000" pitchFamily="2" charset="0"/>
                <a:ea typeface="Lato"/>
                <a:cs typeface="Lato"/>
                <a:sym typeface="Lato"/>
              </a:rPr>
              <a:t>Isti ciklus primenjujete na zajednički slab checkpoint, u paru, do Sesije 2.</a:t>
            </a:r>
            <a:endParaRPr sz="2000" dirty="0">
              <a:solidFill>
                <a:srgbClr val="0D4077"/>
              </a:solidFill>
              <a:latin typeface="Montserrat" panose="00000500000000000000" pitchFamily="2" charset="0"/>
              <a:ea typeface="Lato"/>
              <a:cs typeface="Lato"/>
              <a:sym typeface="Lat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9000" r="-29000"/>
          </a:stretch>
        </a:blip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CCEE615A-F458-2EA3-D615-19C3FED6FB9A}"/>
              </a:ext>
            </a:extLst>
          </p:cNvPr>
          <p:cNvSpPr/>
          <p:nvPr/>
        </p:nvSpPr>
        <p:spPr>
          <a:xfrm>
            <a:off x="2717800" y="0"/>
            <a:ext cx="6426201" cy="5143500"/>
          </a:xfrm>
          <a:custGeom>
            <a:avLst/>
            <a:gdLst>
              <a:gd name="csX0" fmla="*/ 905383 w 6426201"/>
              <a:gd name="csY0" fmla="*/ 0 h 5143500"/>
              <a:gd name="csX1" fmla="*/ 2497177 w 6426201"/>
              <a:gd name="csY1" fmla="*/ 0 h 5143500"/>
              <a:gd name="csX2" fmla="*/ 2467862 w 6426201"/>
              <a:gd name="csY2" fmla="*/ 35902 h 5143500"/>
              <a:gd name="csX3" fmla="*/ 2503842 w 6426201"/>
              <a:gd name="csY3" fmla="*/ 389331 h 5143500"/>
              <a:gd name="csX4" fmla="*/ 2901337 w 6426201"/>
              <a:gd name="csY4" fmla="*/ 389331 h 5143500"/>
              <a:gd name="csX5" fmla="*/ 3290630 w 6426201"/>
              <a:gd name="csY5" fmla="*/ 0 h 5143500"/>
              <a:gd name="csX6" fmla="*/ 4880482 w 6426201"/>
              <a:gd name="csY6" fmla="*/ 0 h 5143500"/>
              <a:gd name="csX7" fmla="*/ 1758651 w 6426201"/>
              <a:gd name="csY7" fmla="*/ 3121695 h 5143500"/>
              <a:gd name="csX8" fmla="*/ 1758651 w 6426201"/>
              <a:gd name="csY8" fmla="*/ 3519191 h 5143500"/>
              <a:gd name="csX9" fmla="*/ 2156147 w 6426201"/>
              <a:gd name="csY9" fmla="*/ 3519191 h 5143500"/>
              <a:gd name="csX10" fmla="*/ 5675617 w 6426201"/>
              <a:gd name="csY10" fmla="*/ 0 h 5143500"/>
              <a:gd name="csX11" fmla="*/ 6426201 w 6426201"/>
              <a:gd name="csY11" fmla="*/ 0 h 5143500"/>
              <a:gd name="csX12" fmla="*/ 6426201 w 6426201"/>
              <a:gd name="csY12" fmla="*/ 841724 h 5143500"/>
              <a:gd name="csX13" fmla="*/ 6399107 w 6426201"/>
              <a:gd name="csY13" fmla="*/ 874906 h 5143500"/>
              <a:gd name="csX14" fmla="*/ 6399107 w 6426201"/>
              <a:gd name="csY14" fmla="*/ 1184271 h 5143500"/>
              <a:gd name="csX15" fmla="*/ 6426201 w 6426201"/>
              <a:gd name="csY15" fmla="*/ 1217454 h 5143500"/>
              <a:gd name="csX16" fmla="*/ 6426201 w 6426201"/>
              <a:gd name="csY16" fmla="*/ 3224795 h 5143500"/>
              <a:gd name="csX17" fmla="*/ 5698729 w 6426201"/>
              <a:gd name="csY17" fmla="*/ 3952325 h 5143500"/>
              <a:gd name="csX18" fmla="*/ 5698729 w 6426201"/>
              <a:gd name="csY18" fmla="*/ 4349820 h 5143500"/>
              <a:gd name="csX19" fmla="*/ 6096226 w 6426201"/>
              <a:gd name="csY19" fmla="*/ 4349820 h 5143500"/>
              <a:gd name="csX20" fmla="*/ 6426201 w 6426201"/>
              <a:gd name="csY20" fmla="*/ 4019844 h 5143500"/>
              <a:gd name="csX21" fmla="*/ 6426201 w 6426201"/>
              <a:gd name="csY21" fmla="*/ 5143500 h 5143500"/>
              <a:gd name="csX22" fmla="*/ 5302181 w 6426201"/>
              <a:gd name="csY22" fmla="*/ 5143500 h 5143500"/>
              <a:gd name="csX23" fmla="*/ 5337216 w 6426201"/>
              <a:gd name="csY23" fmla="*/ 5100594 h 5143500"/>
              <a:gd name="csX24" fmla="*/ 5301235 w 6426201"/>
              <a:gd name="csY24" fmla="*/ 4747164 h 5143500"/>
              <a:gd name="csX25" fmla="*/ 4903739 w 6426201"/>
              <a:gd name="csY25" fmla="*/ 4747164 h 5143500"/>
              <a:gd name="csX26" fmla="*/ 4507404 w 6426201"/>
              <a:gd name="csY26" fmla="*/ 5143500 h 5143500"/>
              <a:gd name="csX27" fmla="*/ 2917405 w 6426201"/>
              <a:gd name="csY27" fmla="*/ 5143500 h 5143500"/>
              <a:gd name="csX28" fmla="*/ 6037591 w 6426201"/>
              <a:gd name="csY28" fmla="*/ 2023176 h 5143500"/>
              <a:gd name="csX29" fmla="*/ 6037591 w 6426201"/>
              <a:gd name="csY29" fmla="*/ 1625681 h 5143500"/>
              <a:gd name="csX30" fmla="*/ 5640096 w 6426201"/>
              <a:gd name="csY30" fmla="*/ 1625681 h 5143500"/>
              <a:gd name="csX31" fmla="*/ 2121855 w 6426201"/>
              <a:gd name="csY31" fmla="*/ 5143500 h 5143500"/>
              <a:gd name="csX32" fmla="*/ 896983 w 6426201"/>
              <a:gd name="csY32" fmla="*/ 5143500 h 5143500"/>
              <a:gd name="csX33" fmla="*/ 893618 w 6426201"/>
              <a:gd name="csY33" fmla="*/ 5132153 h 5143500"/>
              <a:gd name="csX34" fmla="*/ 1048034 w 6426201"/>
              <a:gd name="csY34" fmla="*/ 4627306 h 5143500"/>
              <a:gd name="csX35" fmla="*/ 1361157 w 6426201"/>
              <a:gd name="csY35" fmla="*/ 4314183 h 5143500"/>
              <a:gd name="csX36" fmla="*/ 1361157 w 6426201"/>
              <a:gd name="csY36" fmla="*/ 3916686 h 5143500"/>
              <a:gd name="csX37" fmla="*/ 963661 w 6426201"/>
              <a:gd name="csY37" fmla="*/ 3916686 h 5143500"/>
              <a:gd name="csX38" fmla="*/ 959702 w 6426201"/>
              <a:gd name="csY38" fmla="*/ 3920647 h 5143500"/>
              <a:gd name="csX39" fmla="*/ 164711 w 6426201"/>
              <a:gd name="csY39" fmla="*/ 3920647 h 5143500"/>
              <a:gd name="csX40" fmla="*/ 164711 w 6426201"/>
              <a:gd name="csY40" fmla="*/ 3125656 h 5143500"/>
              <a:gd name="csX41" fmla="*/ 2106042 w 6426201"/>
              <a:gd name="csY41" fmla="*/ 1184171 h 5143500"/>
              <a:gd name="csX42" fmla="*/ 2106042 w 6426201"/>
              <a:gd name="csY42" fmla="*/ 786674 h 5143500"/>
              <a:gd name="csX43" fmla="*/ 1708546 w 6426201"/>
              <a:gd name="csY43" fmla="*/ 786674 h 5143500"/>
              <a:gd name="csX44" fmla="*/ 1326585 w 6426201"/>
              <a:gd name="csY44" fmla="*/ 1168636 h 5143500"/>
              <a:gd name="csX45" fmla="*/ 531594 w 6426201"/>
              <a:gd name="csY45" fmla="*/ 1168636 h 5143500"/>
              <a:gd name="csX46" fmla="*/ 531594 w 6426201"/>
              <a:gd name="csY46" fmla="*/ 373644 h 514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Lst>
            <a:rect l="l" t="t" r="r" b="b"/>
            <a:pathLst>
              <a:path w="6426201" h="5143500">
                <a:moveTo>
                  <a:pt x="905383" y="0"/>
                </a:moveTo>
                <a:lnTo>
                  <a:pt x="2497177" y="0"/>
                </a:lnTo>
                <a:lnTo>
                  <a:pt x="2467862" y="35902"/>
                </a:lnTo>
                <a:cubicBezTo>
                  <a:pt x="2395902" y="144966"/>
                  <a:pt x="2407895" y="293384"/>
                  <a:pt x="2503842" y="389331"/>
                </a:cubicBezTo>
                <a:cubicBezTo>
                  <a:pt x="2613496" y="498985"/>
                  <a:pt x="2791683" y="498985"/>
                  <a:pt x="2901337" y="389331"/>
                </a:cubicBezTo>
                <a:lnTo>
                  <a:pt x="3290630" y="0"/>
                </a:lnTo>
                <a:lnTo>
                  <a:pt x="4880482" y="0"/>
                </a:lnTo>
                <a:lnTo>
                  <a:pt x="1758651" y="3121695"/>
                </a:lnTo>
                <a:cubicBezTo>
                  <a:pt x="1648997" y="3231349"/>
                  <a:pt x="1648997" y="3409537"/>
                  <a:pt x="1758651" y="3519191"/>
                </a:cubicBezTo>
                <a:cubicBezTo>
                  <a:pt x="1868305" y="3628845"/>
                  <a:pt x="2046494" y="3628845"/>
                  <a:pt x="2156147" y="3519191"/>
                </a:cubicBezTo>
                <a:lnTo>
                  <a:pt x="5675617" y="0"/>
                </a:lnTo>
                <a:lnTo>
                  <a:pt x="6426201" y="0"/>
                </a:lnTo>
                <a:lnTo>
                  <a:pt x="6426201" y="841724"/>
                </a:lnTo>
                <a:lnTo>
                  <a:pt x="6399107" y="874906"/>
                </a:lnTo>
                <a:cubicBezTo>
                  <a:pt x="6337426" y="968391"/>
                  <a:pt x="6337426" y="1090787"/>
                  <a:pt x="6399107" y="1184271"/>
                </a:cubicBezTo>
                <a:lnTo>
                  <a:pt x="6426201" y="1217454"/>
                </a:lnTo>
                <a:lnTo>
                  <a:pt x="6426201" y="3224795"/>
                </a:lnTo>
                <a:lnTo>
                  <a:pt x="5698729" y="3952325"/>
                </a:lnTo>
                <a:cubicBezTo>
                  <a:pt x="5589076" y="4061979"/>
                  <a:pt x="5589076" y="4240166"/>
                  <a:pt x="5698729" y="4349820"/>
                </a:cubicBezTo>
                <a:cubicBezTo>
                  <a:pt x="5808383" y="4459475"/>
                  <a:pt x="5986572" y="4459475"/>
                  <a:pt x="6096226" y="4349820"/>
                </a:cubicBezTo>
                <a:lnTo>
                  <a:pt x="6426201" y="4019844"/>
                </a:lnTo>
                <a:lnTo>
                  <a:pt x="6426201" y="5143500"/>
                </a:lnTo>
                <a:lnTo>
                  <a:pt x="5302181" y="5143500"/>
                </a:lnTo>
                <a:lnTo>
                  <a:pt x="5337216" y="5100594"/>
                </a:lnTo>
                <a:cubicBezTo>
                  <a:pt x="5409176" y="4991529"/>
                  <a:pt x="5397183" y="4843112"/>
                  <a:pt x="5301235" y="4747164"/>
                </a:cubicBezTo>
                <a:cubicBezTo>
                  <a:pt x="5191581" y="4637510"/>
                  <a:pt x="5013393" y="4637510"/>
                  <a:pt x="4903739" y="4747164"/>
                </a:cubicBezTo>
                <a:lnTo>
                  <a:pt x="4507404" y="5143500"/>
                </a:lnTo>
                <a:lnTo>
                  <a:pt x="2917405" y="5143500"/>
                </a:lnTo>
                <a:lnTo>
                  <a:pt x="6037591" y="2023176"/>
                </a:lnTo>
                <a:cubicBezTo>
                  <a:pt x="6147246" y="1913522"/>
                  <a:pt x="6147246" y="1735335"/>
                  <a:pt x="6037591" y="1625681"/>
                </a:cubicBezTo>
                <a:cubicBezTo>
                  <a:pt x="5927938" y="1516027"/>
                  <a:pt x="5749749" y="1516027"/>
                  <a:pt x="5640096" y="1625681"/>
                </a:cubicBezTo>
                <a:lnTo>
                  <a:pt x="2121855" y="5143500"/>
                </a:lnTo>
                <a:lnTo>
                  <a:pt x="896983" y="5143500"/>
                </a:lnTo>
                <a:lnTo>
                  <a:pt x="893618" y="5132153"/>
                </a:lnTo>
                <a:cubicBezTo>
                  <a:pt x="859304" y="4955007"/>
                  <a:pt x="910776" y="4764564"/>
                  <a:pt x="1048034" y="4627306"/>
                </a:cubicBezTo>
                <a:lnTo>
                  <a:pt x="1361157" y="4314183"/>
                </a:lnTo>
                <a:cubicBezTo>
                  <a:pt x="1470811" y="4204529"/>
                  <a:pt x="1470811" y="4026342"/>
                  <a:pt x="1361157" y="3916686"/>
                </a:cubicBezTo>
                <a:cubicBezTo>
                  <a:pt x="1251503" y="3807032"/>
                  <a:pt x="1073314" y="3807032"/>
                  <a:pt x="963661" y="3916686"/>
                </a:cubicBezTo>
                <a:lnTo>
                  <a:pt x="959702" y="3920647"/>
                </a:lnTo>
                <a:cubicBezTo>
                  <a:pt x="740088" y="4140107"/>
                  <a:pt x="384322" y="4140107"/>
                  <a:pt x="164711" y="3920647"/>
                </a:cubicBezTo>
                <a:cubicBezTo>
                  <a:pt x="-54903" y="3701034"/>
                  <a:pt x="-54903" y="3345115"/>
                  <a:pt x="164711" y="3125656"/>
                </a:cubicBezTo>
                <a:lnTo>
                  <a:pt x="2106042" y="1184171"/>
                </a:lnTo>
                <a:cubicBezTo>
                  <a:pt x="2215696" y="1074517"/>
                  <a:pt x="2215696" y="896328"/>
                  <a:pt x="2106042" y="786674"/>
                </a:cubicBezTo>
                <a:cubicBezTo>
                  <a:pt x="1996388" y="677020"/>
                  <a:pt x="1818200" y="677020"/>
                  <a:pt x="1708546" y="786674"/>
                </a:cubicBezTo>
                <a:lnTo>
                  <a:pt x="1326585" y="1168636"/>
                </a:lnTo>
                <a:cubicBezTo>
                  <a:pt x="1106973" y="1388249"/>
                  <a:pt x="751207" y="1388249"/>
                  <a:pt x="531594" y="1168636"/>
                </a:cubicBezTo>
                <a:cubicBezTo>
                  <a:pt x="311983" y="949024"/>
                  <a:pt x="311983" y="593258"/>
                  <a:pt x="531594" y="373644"/>
                </a:cubicBezTo>
                <a:close/>
              </a:path>
            </a:pathLst>
          </a:custGeom>
          <a:solidFill>
            <a:srgbClr val="FFFFFF">
              <a:alpha val="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5" name="_text_title">
            <a:extLst>
              <a:ext uri="{FF2B5EF4-FFF2-40B4-BE49-F238E27FC236}">
                <a16:creationId xmlns:a16="http://schemas.microsoft.com/office/drawing/2014/main" id="{9A9350D6-202F-DCA6-04C4-F3F8A523D648}"/>
              </a:ext>
            </a:extLst>
          </p:cNvPr>
          <p:cNvSpPr txBox="1">
            <a:spLocks noGrp="1"/>
          </p:cNvSpPr>
          <p:nvPr>
            <p:ph type="ctrTitle"/>
          </p:nvPr>
        </p:nvSpPr>
        <p:spPr>
          <a:xfrm>
            <a:off x="589500" y="724453"/>
            <a:ext cx="8402846" cy="430887"/>
          </a:xfrm>
          <a:prstGeom prst="rect">
            <a:avLst/>
          </a:prstGeom>
        </p:spPr>
        <p:txBody>
          <a:bodyPr spcFirstLastPara="1" wrap="square" lIns="91425" tIns="0" rIns="91425" bIns="0" anchor="b" anchorCtr="0">
            <a:spAutoFit/>
          </a:bodyPr>
          <a:lstStyle/>
          <a:p>
            <a:pPr marL="0" lvl="0" indent="0" algn="l" rtl="0">
              <a:spcBef>
                <a:spcPts val="0"/>
              </a:spcBef>
              <a:spcAft>
                <a:spcPts val="0"/>
              </a:spcAft>
              <a:buSzPts val="990"/>
              <a:buNone/>
            </a:pPr>
            <a:r>
              <a:rPr lang="sr" sz="2800" spc="-150" dirty="0">
                <a:solidFill>
                  <a:schemeClr val="lt1">
                    <a:alpha val="90000"/>
                  </a:schemeClr>
                </a:solidFill>
                <a:latin typeface="Montserrat Black" panose="00000A00000000000000" pitchFamily="2" charset="0"/>
                <a:ea typeface="Montserrat"/>
                <a:cs typeface="Montserrat"/>
                <a:sym typeface="Montserrat"/>
              </a:rPr>
              <a:t>Tok zadatka</a:t>
            </a:r>
            <a:endParaRPr sz="2800" spc="-150" dirty="0">
              <a:solidFill>
                <a:schemeClr val="lt1">
                  <a:alpha val="90000"/>
                </a:schemeClr>
              </a:solidFill>
              <a:latin typeface="Montserrat Black" panose="00000A00000000000000" pitchFamily="2" charset="0"/>
              <a:ea typeface="Montserrat"/>
              <a:cs typeface="Montserrat"/>
              <a:sym typeface="Montserrat"/>
            </a:endParaRPr>
          </a:p>
        </p:txBody>
      </p:sp>
      <p:sp>
        <p:nvSpPr>
          <p:cNvPr id="76" name="_text_subtitle">
            <a:extLst>
              <a:ext uri="{FF2B5EF4-FFF2-40B4-BE49-F238E27FC236}">
                <a16:creationId xmlns:a16="http://schemas.microsoft.com/office/drawing/2014/main" id="{89B0C66B-98BD-4D0C-58A2-B37A07AD43A4}"/>
              </a:ext>
            </a:extLst>
          </p:cNvPr>
          <p:cNvSpPr txBox="1">
            <a:spLocks noGrp="1"/>
          </p:cNvSpPr>
          <p:nvPr>
            <p:ph type="subTitle" idx="1"/>
          </p:nvPr>
        </p:nvSpPr>
        <p:spPr>
          <a:xfrm>
            <a:off x="589500" y="1158219"/>
            <a:ext cx="8402846" cy="307777"/>
          </a:xfrm>
          <a:prstGeom prst="rect">
            <a:avLst/>
          </a:prstGeom>
        </p:spPr>
        <p:txBody>
          <a:bodyPr spcFirstLastPara="1" wrap="square" lIns="91425" tIns="0" rIns="91425" bIns="0" anchor="t" anchorCtr="0">
            <a:spAutoFit/>
          </a:bodyPr>
          <a:lstStyle/>
          <a:p>
            <a:pPr marL="0" lvl="0" indent="0" algn="l" rtl="0">
              <a:spcBef>
                <a:spcPts val="0"/>
              </a:spcBef>
              <a:spcAft>
                <a:spcPts val="0"/>
              </a:spcAft>
              <a:buNone/>
            </a:pPr>
            <a:r>
              <a:rPr lang="sr" sz="2000" dirty="0">
                <a:solidFill>
                  <a:schemeClr val="lt1"/>
                </a:solidFill>
                <a:latin typeface="Montserrat" panose="00000500000000000000" pitchFamily="2" charset="0"/>
                <a:ea typeface="Lato"/>
                <a:cs typeface="Lato"/>
                <a:sym typeface="Lato"/>
              </a:rPr>
              <a:t>Osam koraka od početnog stanja do predaje</a:t>
            </a:r>
            <a:endParaRPr sz="2000" dirty="0">
              <a:solidFill>
                <a:schemeClr val="lt1"/>
              </a:solidFill>
              <a:latin typeface="Montserrat" panose="00000500000000000000" pitchFamily="2" charset="0"/>
              <a:ea typeface="Lato"/>
              <a:cs typeface="Lato"/>
              <a:sym typeface="Lato"/>
            </a:endParaRPr>
          </a:p>
        </p:txBody>
      </p:sp>
      <p:sp>
        <p:nvSpPr>
          <p:cNvPr id="77" name="_text_main_content">
            <a:extLst>
              <a:ext uri="{FF2B5EF4-FFF2-40B4-BE49-F238E27FC236}">
                <a16:creationId xmlns:a16="http://schemas.microsoft.com/office/drawing/2014/main" id="{01CCEE04-B5AA-8998-D5AD-F320F727EDBA}"/>
              </a:ext>
            </a:extLst>
          </p:cNvPr>
          <p:cNvSpPr txBox="1"/>
          <p:nvPr/>
        </p:nvSpPr>
        <p:spPr>
          <a:xfrm>
            <a:off x="589500" y="1648741"/>
            <a:ext cx="7914900" cy="252373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800"/>
              </a:spcAft>
              <a:buNone/>
            </a:pPr>
            <a:r>
              <a:rPr lang="sr" sz="1200" dirty="0">
                <a:solidFill>
                  <a:srgbClr val="D1E2ED"/>
                </a:solidFill>
                <a:latin typeface="Lato"/>
                <a:ea typeface="Lato"/>
                <a:cs typeface="Lato"/>
                <a:sym typeface="Lato"/>
              </a:rPr>
              <a:t>1. Preuzmite slab checkpoint i pokrenite testove.</a:t>
            </a:r>
            <a:endParaRPr sz="1200" dirty="0">
              <a:solidFill>
                <a:srgbClr val="D1E2ED"/>
              </a:solidFill>
              <a:latin typeface="Lato"/>
              <a:ea typeface="Lato"/>
              <a:cs typeface="Lato"/>
              <a:sym typeface="Lato"/>
            </a:endParaRPr>
          </a:p>
          <a:p>
            <a:pPr marL="0" lvl="0" indent="0" algn="l" rtl="0">
              <a:spcBef>
                <a:spcPts val="0"/>
              </a:spcBef>
              <a:spcAft>
                <a:spcPts val="800"/>
              </a:spcAft>
              <a:buNone/>
            </a:pPr>
            <a:r>
              <a:rPr lang="sr" sz="1200" dirty="0">
                <a:solidFill>
                  <a:srgbClr val="D1E2ED"/>
                </a:solidFill>
                <a:latin typeface="Lato"/>
                <a:ea typeface="Lato"/>
                <a:cs typeface="Lato"/>
                <a:sym typeface="Lato"/>
              </a:rPr>
              <a:t>2. Pokrenite eval skup i sačuvajte početni rezultat.</a:t>
            </a:r>
            <a:endParaRPr sz="1200" dirty="0">
              <a:solidFill>
                <a:srgbClr val="D1E2ED"/>
              </a:solidFill>
              <a:latin typeface="Lato"/>
              <a:ea typeface="Lato"/>
              <a:cs typeface="Lato"/>
              <a:sym typeface="Lato"/>
            </a:endParaRPr>
          </a:p>
          <a:p>
            <a:pPr marL="0" lvl="0" indent="0" algn="l" rtl="0">
              <a:spcBef>
                <a:spcPts val="0"/>
              </a:spcBef>
              <a:spcAft>
                <a:spcPts val="800"/>
              </a:spcAft>
              <a:buNone/>
            </a:pPr>
            <a:r>
              <a:rPr lang="sr" sz="1200" dirty="0">
                <a:solidFill>
                  <a:srgbClr val="D1E2ED"/>
                </a:solidFill>
                <a:latin typeface="Lato"/>
                <a:ea typeface="Lato"/>
                <a:cs typeface="Lato"/>
                <a:sym typeface="Lato"/>
              </a:rPr>
              <a:t>3. Dokumentujte najmanje dva propusta sa ID-jem pitanja i tipom.</a:t>
            </a:r>
            <a:endParaRPr sz="1200" dirty="0">
              <a:solidFill>
                <a:srgbClr val="D1E2ED"/>
              </a:solidFill>
              <a:latin typeface="Lato"/>
              <a:ea typeface="Lato"/>
              <a:cs typeface="Lato"/>
              <a:sym typeface="Lato"/>
            </a:endParaRPr>
          </a:p>
          <a:p>
            <a:pPr marL="0" lvl="0" indent="0" algn="l" rtl="0">
              <a:spcBef>
                <a:spcPts val="0"/>
              </a:spcBef>
              <a:spcAft>
                <a:spcPts val="800"/>
              </a:spcAft>
              <a:buNone/>
            </a:pPr>
            <a:r>
              <a:rPr lang="sr" sz="1200" dirty="0">
                <a:solidFill>
                  <a:srgbClr val="D1E2ED"/>
                </a:solidFill>
                <a:latin typeface="Lato"/>
                <a:ea typeface="Lato"/>
                <a:cs typeface="Lato"/>
                <a:sym typeface="Lato"/>
              </a:rPr>
              <a:t>4. Napišite specifikaciju jedne promene.</a:t>
            </a:r>
            <a:endParaRPr sz="1200" dirty="0">
              <a:solidFill>
                <a:srgbClr val="D1E2ED"/>
              </a:solidFill>
              <a:latin typeface="Lato"/>
              <a:ea typeface="Lato"/>
              <a:cs typeface="Lato"/>
              <a:sym typeface="Lato"/>
            </a:endParaRPr>
          </a:p>
          <a:p>
            <a:pPr marL="0" lvl="0" indent="0" algn="l" rtl="0">
              <a:spcBef>
                <a:spcPts val="0"/>
              </a:spcBef>
              <a:spcAft>
                <a:spcPts val="800"/>
              </a:spcAft>
              <a:buNone/>
            </a:pPr>
            <a:r>
              <a:rPr lang="sr" sz="1200" dirty="0">
                <a:solidFill>
                  <a:srgbClr val="D1E2ED"/>
                </a:solidFill>
                <a:latin typeface="Lato"/>
                <a:ea typeface="Lato"/>
                <a:cs typeface="Lato"/>
                <a:sym typeface="Lato"/>
              </a:rPr>
              <a:t>5. Primenite tačno tu promenu.</a:t>
            </a:r>
            <a:endParaRPr sz="1200" dirty="0">
              <a:solidFill>
                <a:srgbClr val="D1E2ED"/>
              </a:solidFill>
              <a:latin typeface="Lato"/>
              <a:ea typeface="Lato"/>
              <a:cs typeface="Lato"/>
              <a:sym typeface="Lato"/>
            </a:endParaRPr>
          </a:p>
          <a:p>
            <a:pPr marL="0" lvl="0" indent="0" algn="l" rtl="0">
              <a:spcBef>
                <a:spcPts val="0"/>
              </a:spcBef>
              <a:spcAft>
                <a:spcPts val="800"/>
              </a:spcAft>
              <a:buNone/>
            </a:pPr>
            <a:r>
              <a:rPr lang="sr" sz="1200" dirty="0">
                <a:solidFill>
                  <a:srgbClr val="D1E2ED"/>
                </a:solidFill>
                <a:latin typeface="Lato"/>
                <a:ea typeface="Lato"/>
                <a:cs typeface="Lato"/>
                <a:sym typeface="Lato"/>
              </a:rPr>
              <a:t>6. Ponovo pokrenite ceo eval skup i uporedite rezultate.</a:t>
            </a:r>
            <a:endParaRPr sz="1200" dirty="0">
              <a:solidFill>
                <a:srgbClr val="D1E2ED"/>
              </a:solidFill>
              <a:latin typeface="Lato"/>
              <a:ea typeface="Lato"/>
              <a:cs typeface="Lato"/>
              <a:sym typeface="Lato"/>
            </a:endParaRPr>
          </a:p>
          <a:p>
            <a:pPr marL="0" lvl="0" indent="0" algn="l" rtl="0">
              <a:spcBef>
                <a:spcPts val="0"/>
              </a:spcBef>
              <a:spcAft>
                <a:spcPts val="800"/>
              </a:spcAft>
              <a:buNone/>
            </a:pPr>
            <a:r>
              <a:rPr lang="sr" sz="1200" dirty="0">
                <a:solidFill>
                  <a:srgbClr val="D1E2ED"/>
                </a:solidFill>
                <a:latin typeface="Lato"/>
                <a:ea typeface="Lato"/>
                <a:cs typeface="Lato"/>
                <a:sym typeface="Lato"/>
              </a:rPr>
              <a:t>7. Napišite izveštaj pre i posle, sa regresijama i ograničenjima.</a:t>
            </a:r>
            <a:endParaRPr sz="1200" dirty="0">
              <a:solidFill>
                <a:srgbClr val="D1E2ED"/>
              </a:solidFill>
              <a:latin typeface="Lato"/>
              <a:ea typeface="Lato"/>
              <a:cs typeface="Lato"/>
              <a:sym typeface="Lato"/>
            </a:endParaRPr>
          </a:p>
          <a:p>
            <a:pPr marL="0" lvl="0" indent="0" algn="l" rtl="0">
              <a:spcBef>
                <a:spcPts val="0"/>
              </a:spcBef>
              <a:spcAft>
                <a:spcPts val="800"/>
              </a:spcAft>
              <a:buNone/>
            </a:pPr>
            <a:r>
              <a:rPr lang="sr" sz="1200" dirty="0">
                <a:solidFill>
                  <a:srgbClr val="D1E2ED"/>
                </a:solidFill>
                <a:latin typeface="Lato"/>
                <a:ea typeface="Lato"/>
                <a:cs typeface="Lato"/>
                <a:sym typeface="Lato"/>
              </a:rPr>
              <a:t>8. Zamolite drugi par da pregleda izveštaj pre predaje.</a:t>
            </a:r>
            <a:endParaRPr sz="1200" dirty="0">
              <a:solidFill>
                <a:srgbClr val="D1E2ED"/>
              </a:solidFill>
              <a:latin typeface="Lato"/>
              <a:ea typeface="Lato"/>
              <a:cs typeface="Lato"/>
              <a:sym typeface="Lato"/>
            </a:endParaRPr>
          </a:p>
        </p:txBody>
      </p:sp>
      <p:sp>
        <p:nvSpPr>
          <p:cNvPr id="3" name="Graphic 4">
            <a:extLst>
              <a:ext uri="{FF2B5EF4-FFF2-40B4-BE49-F238E27FC236}">
                <a16:creationId xmlns:a16="http://schemas.microsoft.com/office/drawing/2014/main" id="{196CB132-CCD2-8F8E-0354-6FEF50E45CED}"/>
              </a:ext>
            </a:extLst>
          </p:cNvPr>
          <p:cNvSpPr/>
          <p:nvPr/>
        </p:nvSpPr>
        <p:spPr>
          <a:xfrm>
            <a:off x="213083" y="343327"/>
            <a:ext cx="180000" cy="180000"/>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alpha val="95000"/>
            </a:srgbClr>
          </a:solidFill>
          <a:ln w="9525" cap="flat">
            <a:noFill/>
            <a:prstDash val="solid"/>
            <a:miter/>
          </a:ln>
        </p:spPr>
        <p:txBody>
          <a:bodyPr/>
          <a:lstStyle/>
          <a:p>
            <a:endParaRPr lang="en-GB"/>
          </a:p>
        </p:txBody>
      </p:sp>
      <p:pic>
        <p:nvPicPr>
          <p:cNvPr id="78" name="_image_small_company_logo" descr="EPAM"/>
          <p:cNvPicPr>
            <a:picLocks noChangeAspect="1"/>
          </p:cNvPicPr>
          <p:nvPr/>
        </p:nvPicPr>
        <p:blipFill>
          <a:blip r:embed="rId4"/>
          <a:stretch>
            <a:fillRect/>
          </a:stretch>
        </p:blipFill>
        <p:spPr>
          <a:xfrm>
            <a:off x="490324" y="344427"/>
            <a:ext cx="504923" cy="177800"/>
          </a:xfrm>
          <a:prstGeom prst="rect">
            <a:avLst/>
          </a:prstGeom>
        </p:spPr>
      </p:pic>
      <p:sp>
        <p:nvSpPr>
          <p:cNvPr id="9" name="_text_section">
            <a:extLst>
              <a:ext uri="{FF2B5EF4-FFF2-40B4-BE49-F238E27FC236}">
                <a16:creationId xmlns:a16="http://schemas.microsoft.com/office/drawing/2014/main" id="{EB8B8E35-59BE-97C9-309E-BC2EEE79BB0D}"/>
              </a:ext>
            </a:extLst>
          </p:cNvPr>
          <p:cNvSpPr txBox="1">
            <a:spLocks/>
          </p:cNvSpPr>
          <p:nvPr/>
        </p:nvSpPr>
        <p:spPr>
          <a:xfrm>
            <a:off x="5927725" y="4663806"/>
            <a:ext cx="2564917" cy="15388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spc="0">
                <a:solidFill>
                  <a:schemeClr val="dk2"/>
                </a:solidFill>
                <a:latin typeface="Arial"/>
                <a:ea typeface="Arial"/>
                <a:cs typeface="Arial"/>
                <a:sym typeface="Arial"/>
              </a:defRPr>
            </a:lvl9pPr>
          </a:lstStyle>
          <a:p>
            <a:pPr marL="0" indent="0" algn="r"/>
            <a:r>
              <a:rPr lang="sr-Latn-RS" sz="1000" dirty="0">
                <a:solidFill>
                  <a:schemeClr val="lt1"/>
                </a:solidFill>
                <a:latin typeface="Lato"/>
                <a:ea typeface="Lato"/>
                <a:cs typeface="Lato"/>
                <a:sym typeface="Lato"/>
              </a:rPr>
              <a:t>Zadatak</a:t>
            </a:r>
            <a:endParaRPr lang="en-GB" sz="1000" dirty="0">
              <a:solidFill>
                <a:schemeClr val="lt1"/>
              </a:solidFill>
              <a:latin typeface="Lato"/>
              <a:ea typeface="Lato"/>
              <a:cs typeface="Lato"/>
              <a:sym typeface="Lato"/>
            </a:endParaRPr>
          </a:p>
        </p:txBody>
      </p:sp>
      <p:sp>
        <p:nvSpPr>
          <p:cNvPr id="5" name="_text_page">
            <a:extLst>
              <a:ext uri="{FF2B5EF4-FFF2-40B4-BE49-F238E27FC236}">
                <a16:creationId xmlns:a16="http://schemas.microsoft.com/office/drawing/2014/main" id="{3C682F78-0194-56CA-EE15-FF0DD081B353}"/>
              </a:ext>
            </a:extLst>
          </p:cNvPr>
          <p:cNvSpPr txBox="1"/>
          <p:nvPr/>
        </p:nvSpPr>
        <p:spPr>
          <a:xfrm>
            <a:off x="8492643" y="4500000"/>
            <a:ext cx="469800" cy="481500"/>
          </a:xfrm>
          <a:prstGeom prst="rect">
            <a:avLst/>
          </a:prstGeom>
          <a:noFill/>
          <a:ln>
            <a:noFill/>
          </a:ln>
        </p:spPr>
        <p:txBody>
          <a:bodyPr spcFirstLastPara="1" wrap="square" lIns="0" tIns="91425" rIns="0" bIns="91425" anchor="t" anchorCtr="0">
            <a:noAutofit/>
          </a:bodyPr>
          <a:lstStyle/>
          <a:p>
            <a:pPr marL="0" lvl="0" indent="0" algn="ctr" rtl="0">
              <a:spcBef>
                <a:spcPts val="0"/>
              </a:spcBef>
              <a:spcAft>
                <a:spcPts val="0"/>
              </a:spcAft>
              <a:buNone/>
            </a:pPr>
            <a:r>
              <a:rPr lang="sr" sz="1800" dirty="0">
                <a:solidFill>
                  <a:schemeClr val="lt1"/>
                </a:solidFill>
                <a:latin typeface="Montserrat"/>
                <a:ea typeface="Montserrat"/>
                <a:cs typeface="Montserrat"/>
                <a:sym typeface="Montserrat"/>
              </a:rPr>
              <a:t>3</a:t>
            </a:r>
            <a:r>
              <a:rPr lang="en-US" sz="1800" dirty="0">
                <a:solidFill>
                  <a:schemeClr val="lt1"/>
                </a:solidFill>
                <a:latin typeface="Montserrat"/>
                <a:ea typeface="Montserrat"/>
                <a:cs typeface="Montserrat"/>
                <a:sym typeface="Montserrat"/>
              </a:rPr>
              <a:t>0</a:t>
            </a:r>
            <a:endParaRPr sz="1800" dirty="0">
              <a:solidFill>
                <a:schemeClr val="lt1"/>
              </a:solidFill>
              <a:latin typeface="Montserrat"/>
              <a:ea typeface="Montserrat"/>
              <a:cs typeface="Montserrat"/>
              <a:sym typeface="Montserra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9000" r="-29000"/>
          </a:stretch>
        </a:blipFill>
        <a:effectLst/>
      </p:bgPr>
    </p:bg>
    <p:spTree>
      <p:nvGrpSpPr>
        <p:cNvPr id="1" name=""/>
        <p:cNvGrpSpPr/>
        <p:nvPr/>
      </p:nvGrpSpPr>
      <p:grpSpPr>
        <a:xfrm>
          <a:off x="0" y="0"/>
          <a:ext cx="0" cy="0"/>
          <a:chOff x="0" y="0"/>
          <a:chExt cx="0" cy="0"/>
        </a:xfrm>
      </p:grpSpPr>
      <p:sp>
        <p:nvSpPr>
          <p:cNvPr id="255" name="Google Shape;255;p27"/>
          <p:cNvSpPr txBox="1">
            <a:spLocks noGrp="1"/>
          </p:cNvSpPr>
          <p:nvPr>
            <p:ph type="ctrTitle"/>
          </p:nvPr>
        </p:nvSpPr>
        <p:spPr>
          <a:xfrm>
            <a:off x="311700" y="2202433"/>
            <a:ext cx="8520600" cy="738633"/>
          </a:xfrm>
          <a:prstGeom prst="rect">
            <a:avLst/>
          </a:prstGeom>
        </p:spPr>
        <p:txBody>
          <a:bodyPr spcFirstLastPara="1" wrap="square" lIns="91425" tIns="91425" rIns="91425" bIns="91425" anchor="b" anchorCtr="0">
            <a:spAutoFit/>
          </a:bodyPr>
          <a:lstStyle/>
          <a:p>
            <a:pPr marL="0" lvl="0" indent="0" algn="ctr" rtl="0">
              <a:spcBef>
                <a:spcPts val="0"/>
              </a:spcBef>
              <a:spcAft>
                <a:spcPts val="0"/>
              </a:spcAft>
              <a:buSzPts val="990"/>
              <a:buNone/>
            </a:pPr>
            <a:r>
              <a:rPr lang="sr" sz="3600" spc="-150" dirty="0">
                <a:solidFill>
                  <a:schemeClr val="lt1">
                    <a:alpha val="90000"/>
                  </a:schemeClr>
                </a:solidFill>
                <a:latin typeface="Montserrat Black" panose="00000A00000000000000" pitchFamily="2" charset="0"/>
                <a:ea typeface="Montserrat"/>
                <a:cs typeface="Montserrat"/>
                <a:sym typeface="Montserrat"/>
              </a:rPr>
              <a:t>Hvala!</a:t>
            </a:r>
            <a:endParaRPr sz="3600" spc="-150" dirty="0">
              <a:solidFill>
                <a:schemeClr val="lt1">
                  <a:alpha val="90000"/>
                </a:schemeClr>
              </a:solidFill>
              <a:latin typeface="Montserrat Black" panose="00000A00000000000000" pitchFamily="2" charset="0"/>
              <a:ea typeface="Montserrat"/>
              <a:cs typeface="Montserrat"/>
              <a:sym typeface="Montserrat"/>
            </a:endParaRPr>
          </a:p>
        </p:txBody>
      </p:sp>
      <p:sp>
        <p:nvSpPr>
          <p:cNvPr id="3" name="Graphic 4">
            <a:extLst>
              <a:ext uri="{FF2B5EF4-FFF2-40B4-BE49-F238E27FC236}">
                <a16:creationId xmlns:a16="http://schemas.microsoft.com/office/drawing/2014/main" id="{BD8B3F01-69FD-04CE-A97B-6CF05E20AF08}"/>
              </a:ext>
            </a:extLst>
          </p:cNvPr>
          <p:cNvSpPr/>
          <p:nvPr/>
        </p:nvSpPr>
        <p:spPr>
          <a:xfrm>
            <a:off x="4026196" y="860046"/>
            <a:ext cx="1091608" cy="1091604"/>
          </a:xfrm>
          <a:custGeom>
            <a:avLst/>
            <a:gdLst>
              <a:gd name="csX0" fmla="*/ 4551283 w 4876918"/>
              <a:gd name="csY0" fmla="*/ 3309128 h 4876895"/>
              <a:gd name="csX1" fmla="*/ 4054078 w 4876918"/>
              <a:gd name="csY1" fmla="*/ 3309128 h 4876895"/>
              <a:gd name="csX2" fmla="*/ 3812715 w 4876918"/>
              <a:gd name="csY2" fmla="*/ 3550491 h 4876895"/>
              <a:gd name="csX3" fmla="*/ 3564112 w 4876918"/>
              <a:gd name="csY3" fmla="*/ 3550491 h 4876895"/>
              <a:gd name="csX4" fmla="*/ 3564112 w 4876918"/>
              <a:gd name="csY4" fmla="*/ 3301889 h 4876895"/>
              <a:gd name="csX5" fmla="*/ 4773978 w 4876918"/>
              <a:gd name="csY5" fmla="*/ 2091928 h 4876895"/>
              <a:gd name="csX6" fmla="*/ 4773978 w 4876918"/>
              <a:gd name="csY6" fmla="*/ 1594723 h 4876895"/>
              <a:gd name="csX7" fmla="*/ 4276773 w 4876918"/>
              <a:gd name="csY7" fmla="*/ 1594723 h 4876895"/>
              <a:gd name="csX8" fmla="*/ 4273249 w 4876918"/>
              <a:gd name="csY8" fmla="*/ 1598247 h 4876895"/>
              <a:gd name="csX9" fmla="*/ 4024646 w 4876918"/>
              <a:gd name="csY9" fmla="*/ 1598247 h 4876895"/>
              <a:gd name="csX10" fmla="*/ 4024646 w 4876918"/>
              <a:gd name="csY10" fmla="*/ 1349645 h 4876895"/>
              <a:gd name="csX11" fmla="*/ 4224862 w 4876918"/>
              <a:gd name="csY11" fmla="*/ 1149429 h 4876895"/>
              <a:gd name="csX12" fmla="*/ 4224862 w 4876918"/>
              <a:gd name="csY12" fmla="*/ 652224 h 4876895"/>
              <a:gd name="csX13" fmla="*/ 3727466 w 4876918"/>
              <a:gd name="csY13" fmla="*/ 652224 h 4876895"/>
              <a:gd name="csX14" fmla="*/ 1348502 w 4876918"/>
              <a:gd name="csY14" fmla="*/ 3030998 h 4876895"/>
              <a:gd name="csX15" fmla="*/ 1099899 w 4876918"/>
              <a:gd name="csY15" fmla="*/ 3030998 h 4876895"/>
              <a:gd name="csX16" fmla="*/ 1099899 w 4876918"/>
              <a:gd name="csY16" fmla="*/ 2782395 h 4876895"/>
              <a:gd name="csX17" fmla="*/ 3282172 w 4876918"/>
              <a:gd name="csY17" fmla="*/ 600218 h 4876895"/>
              <a:gd name="csX18" fmla="*/ 3282172 w 4876918"/>
              <a:gd name="csY18" fmla="*/ 103013 h 4876895"/>
              <a:gd name="csX19" fmla="*/ 2784967 w 4876918"/>
              <a:gd name="csY19" fmla="*/ 103013 h 4876895"/>
              <a:gd name="csX20" fmla="*/ 1814560 w 4876918"/>
              <a:gd name="csY20" fmla="*/ 1073515 h 4876895"/>
              <a:gd name="csX21" fmla="*/ 1565958 w 4876918"/>
              <a:gd name="csY21" fmla="*/ 1073515 h 4876895"/>
              <a:gd name="csX22" fmla="*/ 1565958 w 4876918"/>
              <a:gd name="csY22" fmla="*/ 824913 h 4876895"/>
              <a:gd name="csX23" fmla="*/ 1567863 w 4876918"/>
              <a:gd name="csY23" fmla="*/ 823008 h 4876895"/>
              <a:gd name="csX24" fmla="*/ 1567863 w 4876918"/>
              <a:gd name="csY24" fmla="*/ 325803 h 4876895"/>
              <a:gd name="csX25" fmla="*/ 1070658 w 4876918"/>
              <a:gd name="csY25" fmla="*/ 325803 h 4876895"/>
              <a:gd name="csX26" fmla="*/ 332470 w 4876918"/>
              <a:gd name="csY26" fmla="*/ 1063704 h 4876895"/>
              <a:gd name="csX27" fmla="*/ 332470 w 4876918"/>
              <a:gd name="csY27" fmla="*/ 1560909 h 4876895"/>
              <a:gd name="csX28" fmla="*/ 829675 w 4876918"/>
              <a:gd name="csY28" fmla="*/ 1560909 h 4876895"/>
              <a:gd name="csX29" fmla="*/ 1068562 w 4876918"/>
              <a:gd name="csY29" fmla="*/ 1322022 h 4876895"/>
              <a:gd name="csX30" fmla="*/ 1317165 w 4876918"/>
              <a:gd name="csY30" fmla="*/ 1322022 h 4876895"/>
              <a:gd name="csX31" fmla="*/ 1317165 w 4876918"/>
              <a:gd name="csY31" fmla="*/ 1570625 h 4876895"/>
              <a:gd name="csX32" fmla="*/ 103013 w 4876918"/>
              <a:gd name="csY32" fmla="*/ 2784872 h 4876895"/>
              <a:gd name="csX33" fmla="*/ 103013 w 4876918"/>
              <a:gd name="csY33" fmla="*/ 3282077 h 4876895"/>
              <a:gd name="csX34" fmla="*/ 600218 w 4876918"/>
              <a:gd name="csY34" fmla="*/ 3282077 h 4876895"/>
              <a:gd name="csX35" fmla="*/ 602694 w 4876918"/>
              <a:gd name="csY35" fmla="*/ 3279600 h 4876895"/>
              <a:gd name="csX36" fmla="*/ 851297 w 4876918"/>
              <a:gd name="csY36" fmla="*/ 3279600 h 4876895"/>
              <a:gd name="csX37" fmla="*/ 851297 w 4876918"/>
              <a:gd name="csY37" fmla="*/ 3528203 h 4876895"/>
              <a:gd name="csX38" fmla="*/ 655463 w 4876918"/>
              <a:gd name="csY38" fmla="*/ 3724037 h 4876895"/>
              <a:gd name="csX39" fmla="*/ 655463 w 4876918"/>
              <a:gd name="csY39" fmla="*/ 4221242 h 4876895"/>
              <a:gd name="csX40" fmla="*/ 1152668 w 4876918"/>
              <a:gd name="csY40" fmla="*/ 4221242 h 4876895"/>
              <a:gd name="csX41" fmla="*/ 3527441 w 4876918"/>
              <a:gd name="csY41" fmla="*/ 1846755 h 4876895"/>
              <a:gd name="csX42" fmla="*/ 3776043 w 4876918"/>
              <a:gd name="csY42" fmla="*/ 1846755 h 4876895"/>
              <a:gd name="csX43" fmla="*/ 3776043 w 4876918"/>
              <a:gd name="csY43" fmla="*/ 2095357 h 4876895"/>
              <a:gd name="csX44" fmla="*/ 1594818 w 4876918"/>
              <a:gd name="csY44" fmla="*/ 4276678 h 4876895"/>
              <a:gd name="csX45" fmla="*/ 1594818 w 4876918"/>
              <a:gd name="csY45" fmla="*/ 4773883 h 4876895"/>
              <a:gd name="csX46" fmla="*/ 2092023 w 4876918"/>
              <a:gd name="csY46" fmla="*/ 4773883 h 4876895"/>
              <a:gd name="csX47" fmla="*/ 3066907 w 4876918"/>
              <a:gd name="csY47" fmla="*/ 3798999 h 4876895"/>
              <a:gd name="csX48" fmla="*/ 3315510 w 4876918"/>
              <a:gd name="csY48" fmla="*/ 3798999 h 4876895"/>
              <a:gd name="csX49" fmla="*/ 3315510 w 4876918"/>
              <a:gd name="csY49" fmla="*/ 4047601 h 4876895"/>
              <a:gd name="csX50" fmla="*/ 3316081 w 4876918"/>
              <a:gd name="csY50" fmla="*/ 4047030 h 4876895"/>
              <a:gd name="csX51" fmla="*/ 3316081 w 4876918"/>
              <a:gd name="csY51" fmla="*/ 4544235 h 4876895"/>
              <a:gd name="csX52" fmla="*/ 3813286 w 4876918"/>
              <a:gd name="csY52" fmla="*/ 4544235 h 4876895"/>
              <a:gd name="csX53" fmla="*/ 4551283 w 4876918"/>
              <a:gd name="csY53" fmla="*/ 3806142 h 4876895"/>
              <a:gd name="csX54" fmla="*/ 4551283 w 4876918"/>
              <a:gd name="csY54" fmla="*/ 3308938 h 4876895"/>
              <a:gd name="csX55" fmla="*/ 4551474 w 4876918"/>
              <a:gd name="csY55" fmla="*/ 3309128 h 4876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4876918" h="4876895">
                <a:moveTo>
                  <a:pt x="4551283" y="3309128"/>
                </a:moveTo>
                <a:cubicBezTo>
                  <a:pt x="4414028" y="3171873"/>
                  <a:pt x="4191429" y="3171873"/>
                  <a:pt x="4054078" y="3309128"/>
                </a:cubicBezTo>
                <a:lnTo>
                  <a:pt x="3812715" y="3550491"/>
                </a:lnTo>
                <a:cubicBezTo>
                  <a:pt x="3744135" y="3619072"/>
                  <a:pt x="3632692" y="3619072"/>
                  <a:pt x="3564112" y="3550491"/>
                </a:cubicBezTo>
                <a:cubicBezTo>
                  <a:pt x="3495532" y="3481911"/>
                  <a:pt x="3495532" y="3370469"/>
                  <a:pt x="3564112" y="3301889"/>
                </a:cubicBezTo>
                <a:lnTo>
                  <a:pt x="4773978" y="2091928"/>
                </a:lnTo>
                <a:cubicBezTo>
                  <a:pt x="4911233" y="1954578"/>
                  <a:pt x="4911233" y="1732074"/>
                  <a:pt x="4773978" y="1594723"/>
                </a:cubicBezTo>
                <a:cubicBezTo>
                  <a:pt x="4636627" y="1457373"/>
                  <a:pt x="4414124" y="1457373"/>
                  <a:pt x="4276773" y="1594723"/>
                </a:cubicBezTo>
                <a:lnTo>
                  <a:pt x="4273249" y="1598247"/>
                </a:lnTo>
                <a:cubicBezTo>
                  <a:pt x="4204669" y="1666827"/>
                  <a:pt x="4093226" y="1666827"/>
                  <a:pt x="4024646" y="1598247"/>
                </a:cubicBezTo>
                <a:cubicBezTo>
                  <a:pt x="3956066" y="1529667"/>
                  <a:pt x="3956066" y="1418225"/>
                  <a:pt x="4024646" y="1349645"/>
                </a:cubicBezTo>
                <a:lnTo>
                  <a:pt x="4224862" y="1149429"/>
                </a:lnTo>
                <a:cubicBezTo>
                  <a:pt x="4362117" y="1012079"/>
                  <a:pt x="4362117" y="789575"/>
                  <a:pt x="4224862" y="652224"/>
                </a:cubicBezTo>
                <a:cubicBezTo>
                  <a:pt x="4087606" y="514874"/>
                  <a:pt x="3865007" y="514874"/>
                  <a:pt x="3727466" y="652224"/>
                </a:cubicBezTo>
                <a:lnTo>
                  <a:pt x="1348502" y="3030998"/>
                </a:lnTo>
                <a:cubicBezTo>
                  <a:pt x="1279922" y="3099578"/>
                  <a:pt x="1168479" y="3099578"/>
                  <a:pt x="1099899" y="3030998"/>
                </a:cubicBezTo>
                <a:cubicBezTo>
                  <a:pt x="1031319" y="2962418"/>
                  <a:pt x="1031319" y="2850975"/>
                  <a:pt x="1099899" y="2782395"/>
                </a:cubicBezTo>
                <a:lnTo>
                  <a:pt x="3282172" y="600218"/>
                </a:lnTo>
                <a:cubicBezTo>
                  <a:pt x="3419427" y="462867"/>
                  <a:pt x="3419427" y="240363"/>
                  <a:pt x="3282172" y="103013"/>
                </a:cubicBezTo>
                <a:cubicBezTo>
                  <a:pt x="3144917" y="-34338"/>
                  <a:pt x="2922318" y="-34338"/>
                  <a:pt x="2784967" y="103013"/>
                </a:cubicBezTo>
                <a:lnTo>
                  <a:pt x="1814560" y="1073515"/>
                </a:lnTo>
                <a:cubicBezTo>
                  <a:pt x="1745980" y="1142095"/>
                  <a:pt x="1634538" y="1142095"/>
                  <a:pt x="1565958" y="1073515"/>
                </a:cubicBezTo>
                <a:cubicBezTo>
                  <a:pt x="1497378" y="1004935"/>
                  <a:pt x="1497378" y="893493"/>
                  <a:pt x="1565958" y="824913"/>
                </a:cubicBezTo>
                <a:lnTo>
                  <a:pt x="1567863" y="823008"/>
                </a:lnTo>
                <a:cubicBezTo>
                  <a:pt x="1705213" y="685657"/>
                  <a:pt x="1705213" y="463153"/>
                  <a:pt x="1567863" y="325803"/>
                </a:cubicBezTo>
                <a:cubicBezTo>
                  <a:pt x="1430512" y="188452"/>
                  <a:pt x="1208008" y="188452"/>
                  <a:pt x="1070658" y="325803"/>
                </a:cubicBezTo>
                <a:lnTo>
                  <a:pt x="332470" y="1063704"/>
                </a:lnTo>
                <a:cubicBezTo>
                  <a:pt x="195120" y="1201055"/>
                  <a:pt x="195120" y="1423559"/>
                  <a:pt x="332470" y="1560909"/>
                </a:cubicBezTo>
                <a:cubicBezTo>
                  <a:pt x="469821" y="1698260"/>
                  <a:pt x="692325" y="1698260"/>
                  <a:pt x="829675" y="1560909"/>
                </a:cubicBezTo>
                <a:lnTo>
                  <a:pt x="1068562" y="1322022"/>
                </a:lnTo>
                <a:cubicBezTo>
                  <a:pt x="1137142" y="1253442"/>
                  <a:pt x="1248585" y="1253442"/>
                  <a:pt x="1317165" y="1322022"/>
                </a:cubicBezTo>
                <a:cubicBezTo>
                  <a:pt x="1385745" y="1390602"/>
                  <a:pt x="1385745" y="1502045"/>
                  <a:pt x="1317165" y="1570625"/>
                </a:cubicBezTo>
                <a:lnTo>
                  <a:pt x="103013" y="2784872"/>
                </a:lnTo>
                <a:cubicBezTo>
                  <a:pt x="-34338" y="2922127"/>
                  <a:pt x="-34338" y="3144726"/>
                  <a:pt x="103013" y="3282077"/>
                </a:cubicBezTo>
                <a:cubicBezTo>
                  <a:pt x="240363" y="3419332"/>
                  <a:pt x="462867" y="3419332"/>
                  <a:pt x="600218" y="3282077"/>
                </a:cubicBezTo>
                <a:lnTo>
                  <a:pt x="602694" y="3279600"/>
                </a:lnTo>
                <a:cubicBezTo>
                  <a:pt x="671274" y="3211020"/>
                  <a:pt x="782717" y="3211020"/>
                  <a:pt x="851297" y="3279600"/>
                </a:cubicBezTo>
                <a:cubicBezTo>
                  <a:pt x="919877" y="3348181"/>
                  <a:pt x="919877" y="3459623"/>
                  <a:pt x="851297" y="3528203"/>
                </a:cubicBezTo>
                <a:lnTo>
                  <a:pt x="655463" y="3724037"/>
                </a:lnTo>
                <a:cubicBezTo>
                  <a:pt x="518112" y="3861388"/>
                  <a:pt x="518112" y="4083891"/>
                  <a:pt x="655463" y="4221242"/>
                </a:cubicBezTo>
                <a:cubicBezTo>
                  <a:pt x="792813" y="4358593"/>
                  <a:pt x="1015317" y="4358593"/>
                  <a:pt x="1152668" y="4221242"/>
                </a:cubicBezTo>
                <a:lnTo>
                  <a:pt x="3527441" y="1846755"/>
                </a:lnTo>
                <a:cubicBezTo>
                  <a:pt x="3596021" y="1778175"/>
                  <a:pt x="3707464" y="1778175"/>
                  <a:pt x="3776043" y="1846755"/>
                </a:cubicBezTo>
                <a:cubicBezTo>
                  <a:pt x="3844624" y="1915335"/>
                  <a:pt x="3844624" y="2026777"/>
                  <a:pt x="3776043" y="2095357"/>
                </a:cubicBezTo>
                <a:lnTo>
                  <a:pt x="1594818" y="4276678"/>
                </a:lnTo>
                <a:cubicBezTo>
                  <a:pt x="1457468" y="4413933"/>
                  <a:pt x="1457468" y="4636532"/>
                  <a:pt x="1594818" y="4773883"/>
                </a:cubicBezTo>
                <a:cubicBezTo>
                  <a:pt x="1732169" y="4911233"/>
                  <a:pt x="1954673" y="4911233"/>
                  <a:pt x="2092023" y="4773883"/>
                </a:cubicBezTo>
                <a:lnTo>
                  <a:pt x="3066907" y="3798999"/>
                </a:lnTo>
                <a:cubicBezTo>
                  <a:pt x="3135487" y="3730419"/>
                  <a:pt x="3246930" y="3730419"/>
                  <a:pt x="3315510" y="3798999"/>
                </a:cubicBezTo>
                <a:cubicBezTo>
                  <a:pt x="3384090" y="3867579"/>
                  <a:pt x="3384090" y="3979021"/>
                  <a:pt x="3315510" y="4047601"/>
                </a:cubicBezTo>
                <a:lnTo>
                  <a:pt x="3316081" y="4047030"/>
                </a:lnTo>
                <a:cubicBezTo>
                  <a:pt x="3178826" y="4184285"/>
                  <a:pt x="3178826" y="4406884"/>
                  <a:pt x="3316081" y="4544235"/>
                </a:cubicBezTo>
                <a:cubicBezTo>
                  <a:pt x="3453336" y="4681585"/>
                  <a:pt x="3675936" y="4681585"/>
                  <a:pt x="3813286" y="4544235"/>
                </a:cubicBezTo>
                <a:lnTo>
                  <a:pt x="4551283" y="3806142"/>
                </a:lnTo>
                <a:cubicBezTo>
                  <a:pt x="4688539" y="3668887"/>
                  <a:pt x="4688539" y="3446288"/>
                  <a:pt x="4551283" y="3308938"/>
                </a:cubicBezTo>
                <a:lnTo>
                  <a:pt x="4551474" y="3309128"/>
                </a:lnTo>
                <a:close/>
              </a:path>
            </a:pathLst>
          </a:custGeom>
          <a:solidFill>
            <a:srgbClr val="FFFFFF">
              <a:alpha val="95000"/>
            </a:srgbClr>
          </a:solidFill>
          <a:ln w="9525" cap="flat">
            <a:noFill/>
            <a:prstDash val="solid"/>
            <a:miter/>
          </a:ln>
        </p:spPr>
        <p:txBody>
          <a:bodyPr/>
          <a:lstStyle/>
          <a:p>
            <a:endParaRPr lang="en-GB"/>
          </a:p>
        </p:txBody>
      </p:sp>
      <p:pic>
        <p:nvPicPr>
          <p:cNvPr id="256" name="_img_company_logo" descr="EPAM"/>
          <p:cNvPicPr>
            <a:picLocks noChangeAspect="1"/>
          </p:cNvPicPr>
          <p:nvPr/>
        </p:nvPicPr>
        <p:blipFill>
          <a:blip r:embed="rId4"/>
          <a:stretch>
            <a:fillRect/>
          </a:stretch>
        </p:blipFill>
        <p:spPr>
          <a:xfrm>
            <a:off x="4247406" y="3277589"/>
            <a:ext cx="649187" cy="228599"/>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63de93b7-8949-4e3d-a08b-0d778f7f5cab}" enabled="1" method="Standard" siteId="{0b3fc178-b730-4e8b-9843-e81259237b77}" contentBits="0" removed="0"/>
</clbl:labelList>
</file>

<file path=docProps/app.xml><?xml version="1.0" encoding="utf-8"?>
<Properties xmlns="http://schemas.openxmlformats.org/officeDocument/2006/extended-properties" xmlns:vt="http://schemas.openxmlformats.org/officeDocument/2006/docPropsVTypes">
  <TotalTime>1311</TotalTime>
  <Words>1665</Words>
  <Application>Microsoft Macintosh PowerPoint</Application>
  <PresentationFormat>On-screen Show (16:9)</PresentationFormat>
  <Paragraphs>183</Paragraphs>
  <Slides>31</Slides>
  <Notes>31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Montserrat</vt:lpstr>
      <vt:lpstr>Lato</vt:lpstr>
      <vt:lpstr>Montserrat Black</vt:lpstr>
      <vt:lpstr>Simple Light</vt:lpstr>
      <vt:lpstr>PowerPoint Presentation</vt:lpstr>
      <vt:lpstr>Kvalitet RAG-a </vt:lpstr>
      <vt:lpstr>Danas</vt:lpstr>
      <vt:lpstr>Od izgradnje ka poboljšanju</vt:lpstr>
      <vt:lpstr>PowerPoint Presentation</vt:lpstr>
      <vt:lpstr>Zašto „radi za moje pitanje“ nije dokaz</vt:lpstr>
      <vt:lpstr>PowerPoint Presentation</vt:lpstr>
      <vt:lpstr>PowerPoint Presentation</vt:lpstr>
      <vt:lpstr>PowerPoint Presentation</vt:lpstr>
      <vt:lpstr>Pauza: 10 minuta</vt:lpstr>
      <vt:lpstr>Gde RAG greši</vt:lpstr>
      <vt:lpstr>PowerPoint Presentation</vt:lpstr>
      <vt:lpstr>PowerPoint Presentation</vt:lpstr>
      <vt:lpstr>Leksički ili embedding retrieval</vt:lpstr>
      <vt:lpstr>PowerPoint Presentation</vt:lpstr>
      <vt:lpstr>PowerPoint Presentation</vt:lpstr>
      <vt:lpstr>Kvalitet citata</vt:lpstr>
      <vt:lpstr>PowerPoint Presentation</vt:lpstr>
      <vt:lpstr>Pauza: 10 minuta</vt:lpstr>
      <vt:lpstr>Kontrolisano poboljšanje</vt:lpstr>
      <vt:lpstr>Pravilo jedne promene</vt:lpstr>
      <vt:lpstr>PowerPoint Presentation</vt:lpstr>
      <vt:lpstr>PowerPoint Presentation</vt:lpstr>
      <vt:lpstr>Primer specifikacije</vt:lpstr>
      <vt:lpstr>Meni mogućih poboljšanja</vt:lpstr>
      <vt:lpstr>Napredne tehnike su stretch</vt:lpstr>
      <vt:lpstr>Aktivnost u grupama: 15 minuta</vt:lpstr>
      <vt:lpstr>Pauza: 5 minuta</vt:lpstr>
      <vt:lpstr>Nedeljni zadatak</vt:lpstr>
      <vt:lpstr>Tok zadatka</vt:lpstr>
      <vt:lpstr>Hvala!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Kvalitet RAG-a i kontrolisano poboljšanje</dc:title>
  <dc:creator>Viktor Nagy</dc:creator>
  <cp:lastModifiedBy>Viktor Nagy - External</cp:lastModifiedBy>
  <cp:revision>71</cp:revision>
  <dcterms:modified xsi:type="dcterms:W3CDTF">2026-10-17T08:49:18Z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1113265-c559-4850-9a4d-5c092dbd21ac_Enabled">
    <vt:lpwstr>true</vt:lpwstr>
  </property>
  <property fmtid="{D5CDD505-2E9C-101B-9397-08002B2CF9AE}" pid="3" name="MSIP_Label_a1113265-c559-4850-9a4d-5c092dbd21ac_SetDate">
    <vt:lpwstr>2026-10-16T11:54:07Z</vt:lpwstr>
  </property>
  <property fmtid="{D5CDD505-2E9C-101B-9397-08002B2CF9AE}" pid="4" name="MSIP_Label_a1113265-c559-4850-9a4d-5c092dbd21ac_Method">
    <vt:lpwstr>Standard</vt:lpwstr>
  </property>
  <property fmtid="{D5CDD505-2E9C-101B-9397-08002B2CF9AE}" pid="5" name="MSIP_Label_a1113265-c559-4850-9a4d-5c092dbd21ac_Name">
    <vt:lpwstr>Internal Use</vt:lpwstr>
  </property>
  <property fmtid="{D5CDD505-2E9C-101B-9397-08002B2CF9AE}" pid="6" name="MSIP_Label_a1113265-c559-4850-9a4d-5c092dbd21ac_SiteId">
    <vt:lpwstr>a6b169f1-592b-4329-8f33-8db8903003c7</vt:lpwstr>
  </property>
  <property fmtid="{D5CDD505-2E9C-101B-9397-08002B2CF9AE}" pid="7" name="MSIP_Label_a1113265-c559-4850-9a4d-5c092dbd21ac_ActionId">
    <vt:lpwstr>f6353685-e513-45d3-9726-e36a79dd015b</vt:lpwstr>
  </property>
  <property fmtid="{D5CDD505-2E9C-101B-9397-08002B2CF9AE}" pid="8" name="MSIP_Label_a1113265-c559-4850-9a4d-5c092dbd21ac_ContentBits">
    <vt:lpwstr>0</vt:lpwstr>
  </property>
  <property fmtid="{D5CDD505-2E9C-101B-9397-08002B2CF9AE}" pid="9" name="MSIP_Label_a1113265-c559-4850-9a4d-5c092dbd21ac_Tag">
    <vt:lpwstr>50, 3, 0, 1</vt:lpwstr>
  </property>
</Properties>
</file>